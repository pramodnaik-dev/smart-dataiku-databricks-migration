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10"/>
  </p:normalViewPr>
  <p:slideViewPr>
    <p:cSldViewPr snapToGrid="0" snapToObjects="1">
      <p:cViewPr>
        <p:scale>
          <a:sx n="121" d="100"/>
          <a:sy n="121" d="100"/>
        </p:scale>
        <p:origin x="283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Dataiku DSS (Current)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Licensing</c:v>
                </c:pt>
                <c:pt idx="1">
                  <c:v>Compute</c:v>
                </c:pt>
                <c:pt idx="2">
                  <c:v>Storage</c:v>
                </c:pt>
                <c:pt idx="3">
                  <c:v>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30900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6F-4DD2-892A-69C346B24C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Databricks (Proposed)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Licensing</c:v>
                </c:pt>
                <c:pt idx="1">
                  <c:v>Compute</c:v>
                </c:pt>
                <c:pt idx="2">
                  <c:v>Storage</c:v>
                </c:pt>
                <c:pt idx="3">
                  <c:v>Support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4009</c:v>
                </c:pt>
                <c:pt idx="2">
                  <c:v>28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6F-4DD2-892A-69C346B24C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4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3B5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1335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92240" y="457200"/>
            <a:ext cx="2377440" cy="237744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040880" y="1005840"/>
            <a:ext cx="1280160" cy="1280160"/>
          </a:xfrm>
          <a:prstGeom prst="ellipse">
            <a:avLst/>
          </a:prstGeom>
          <a:solidFill>
            <a:srgbClr val="00B4D8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2560320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731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PLATFORM MIGRATION PROPOSAL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Dataiku DSS + Snowflake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Databricks Apps + Delta Lake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1"/>
                </a:solidFill>
              </a:rPr>
              <a:t>May 2026  ·  v1.0  ·  Draft for 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Business Owners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19072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719072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Dev Team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72384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072384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Management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25696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425696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Digital/Platform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28016" y="4846320"/>
            <a:ext cx="9015984" cy="29718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686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ATP GPD Expl Workspace  ·  Unity Catalog: gpdip_smart_us_east_1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Case for Change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24912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Cost Reduction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DE6"/>
                </a:solidFill>
              </a:rPr>
              <a:t>$30,900 → ~$4,200/yr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64408" y="960120"/>
            <a:ext cx="2724912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64408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$26.7K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64408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Annual Savings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DE6"/>
                </a:solidFill>
              </a:rPr>
              <a:t>Break-even within year 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08776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08776" y="960120"/>
            <a:ext cx="2724912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08776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wks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08776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Migration Timeline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08776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DE6"/>
                </a:solidFill>
              </a:rPr>
              <a:t>Existing team, phased delivery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WHY MIGRATE NOW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906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090672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4632" y="31455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High Fixed Cost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410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3 DSS Designer licenses @ $10,300 each — fixed regardless of usage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96849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3968496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" y="4023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Platform Dependency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" y="4288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Every deployment needs Platform Support team scheduling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0906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00600" y="3090672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65192" y="31455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Limited AI Ecosystem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65192" y="3410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No native LLMs, MLflow, model serving, or vector search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96849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00600" y="3968496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65192" y="4023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Strategic Misalignment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65192" y="4288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DSS + Snowflake outside GPDIP platform direction — growing technical debt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Current  →  Target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3931920" cy="365760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 (Dataiku DSS + Snowflake)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2608" y="1444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1645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Dataiku DSS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95681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8600" y="1956816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92608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Framework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22128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Python Flask / FastAPI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523744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" y="2523744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2608" y="2578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Database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Snowflake  (14 tables, &lt;100 GB)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090672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" y="3090672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92608" y="31455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Deployment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Manual DSS Bundle — Platform Team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657600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28600" y="3657600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92608" y="3712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" y="3913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3 physically isolated DSS instances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4224528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28600" y="422452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92608" y="42793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AI / 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2608" y="4480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Not available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0" y="2286000"/>
            <a:ext cx="54864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251960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4983480" y="932688"/>
            <a:ext cx="39319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8348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TARGET  (Databricks Apps + Delta Lake)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83480" y="1389888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983480" y="138988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47488" y="1444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47488" y="1645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Databricks Apps  (ATP GPD Expl)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83480" y="195681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983480" y="1956816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47488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Framework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47488" y="22128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Python Flask / FastAPI  (unchanged)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83480" y="2523744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983480" y="2523744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47488" y="2578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Database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47488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Delta Lake  (Unity Catalog, dedicated)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83480" y="3090672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983480" y="3090672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047488" y="31455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Deployment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47488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CI/CD  (GitHub Actions + DAB, automated)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983480" y="3657600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983480" y="3657600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047488" y="3712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47488" y="3913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3 schemas in one catalog  (RBAC isolated)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983480" y="4224528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983480" y="422452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047488" y="42793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AI / ML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47488" y="4480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MLflow · Model Serving · Genie AI  ✓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Cost Analysis &amp; ROI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68680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960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DATABRICKS BREAKDOWN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60720" y="12984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852160" y="1353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Prod App compute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63840" y="1353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~$2,964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17556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852160" y="1810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Dev App compute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863840" y="1810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~$494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2128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852160" y="2267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Stage App compute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863840" y="22677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~$76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26700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852160" y="2724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Dev notebooks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63840" y="2724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~$475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60720" y="31272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852160" y="31821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Delta Lake storage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863840" y="31821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~$28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760720" y="35844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85216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SQL Warehouse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863840" y="3639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~$200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760720" y="4069080"/>
            <a:ext cx="3108960" cy="502920"/>
          </a:xfrm>
          <a:prstGeom prst="rect">
            <a:avLst/>
          </a:prstGeom>
          <a:solidFill>
            <a:srgbClr val="06D6A0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760720" y="4069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TOTAL  ~$4,237 / year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74320" y="4498848"/>
            <a:ext cx="8595360" cy="512064"/>
          </a:xfrm>
          <a:prstGeom prst="rect">
            <a:avLst/>
          </a:prstGeom>
          <a:solidFill>
            <a:srgbClr val="243B55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65760" y="449884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💰  Annual Savings: ~$26,700  (86% reduction)  ·  All 3 environments included  ·  Break-even within Year 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Deployment Model &amp; ADLC Compliance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CI/CD DEPLOYMENT WORKFLOW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91440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499616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49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62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develop branch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645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smart-app-dev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618488"/>
            <a:ext cx="1737360" cy="27432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0" y="1618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Dev self-testing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121408"/>
            <a:ext cx="54864" cy="201168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322576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322576"/>
            <a:ext cx="91440" cy="8229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2523744"/>
            <a:ext cx="420624" cy="420624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3865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stage branch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700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smart-app-stage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642616"/>
            <a:ext cx="1737360" cy="274320"/>
          </a:xfrm>
          <a:prstGeom prst="rect">
            <a:avLst/>
          </a:prstGeom>
          <a:solidFill>
            <a:srgbClr val="FFD16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0" y="26426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QA / UAT (qTest)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145536"/>
            <a:ext cx="54864" cy="201168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3346704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346704"/>
            <a:ext cx="91440" cy="8229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2920" y="3547872"/>
            <a:ext cx="420624" cy="420624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410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main branch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6941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smart-app-prod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666744"/>
            <a:ext cx="1737360" cy="274320"/>
          </a:xfrm>
          <a:prstGeom prst="rect">
            <a:avLst/>
          </a:prstGeom>
          <a:solidFill>
            <a:srgbClr val="06D6A0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00400" y="3666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RFC gate required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932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ADLC COMPLIANCE SATISFIED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03520" y="1298448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303520" y="1298448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376672" y="1453896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376672" y="1453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50992" y="13350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QA vs Prod separation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50992" y="157276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Schema isolation + UC RBAC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03520" y="1883664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303520" y="1883664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376672" y="2039112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376672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50992" y="192024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Validation before prod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50992" y="215798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ServiceNow RFC gates CI/CD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03520" y="2468880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303520" y="2468880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376672" y="2624328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376672" y="2624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50992" y="250545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Test evidence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50992" y="274320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qTest (unchanged)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03520" y="3054096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303520" y="3054096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376672" y="3209544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376672" y="32095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50992" y="309067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Change tracking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650992" y="332841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Jira + RFC + Git history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303520" y="3639312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5303520" y="3639312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5376672" y="3794760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376672" y="3794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650992" y="367588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Prod access control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650992" y="391363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CI/CD service principal only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303520" y="4224528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5303520" y="4224528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5376672" y="4379976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5376672" y="4379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650992" y="426110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Audit trail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650992" y="449884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UC audit log + CI/CD runs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303520" y="4809744"/>
            <a:ext cx="3566160" cy="21945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5303520" y="48097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ServiceNow RFC process fully preserved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 Integration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27432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261872" y="109728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618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Post Migration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3192" y="254203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37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Flask/FastAPI unchanged on Databricks Apps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31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93192" y="309067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937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replaces Snowflake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31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93192" y="363931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 experience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31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93192" y="418795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all future 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278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27832" y="960120"/>
            <a:ext cx="2743200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233672" y="1097280"/>
            <a:ext cx="731520" cy="73152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2336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192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What-If Analysis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649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364992" y="254203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655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MLflow: scenario comparison &amp; tracking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649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364992" y="309067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655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Workflows: parallel runs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649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364992" y="363931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4655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AI: instant enrollment predictions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649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364992" y="418795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4655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Feature Store: shared features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996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199632" y="960120"/>
            <a:ext cx="2743200" cy="73152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205472" y="1097280"/>
            <a:ext cx="731520" cy="731520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2054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3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2910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Future Enhancements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367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336792" y="254203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373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AI: natural language data queries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367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336792" y="309067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4373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site activation ML model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367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336792" y="363931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373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scenario generation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367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336792" y="418795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4373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simulation inputs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solidFill>
            <a:srgbClr val="1A2E4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E0EF"/>
                </a:solidFill>
              </a:rPr>
              <a:t>All AI capabilities available at no additional infrastructure cost on Databricks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Migration Plan  —  20 Weeks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162763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68096" y="107899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68096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</a:rPr>
              <a:t>Foundation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" y="2084832"/>
            <a:ext cx="1335024" cy="256032"/>
          </a:xfrm>
          <a:prstGeom prst="rect">
            <a:avLst/>
          </a:prstGeom>
          <a:solidFill>
            <a:srgbClr val="00B4D8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1–4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Unity Catalog + RBAC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3218688"/>
            <a:ext cx="54864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setup (DAB)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968496"/>
            <a:ext cx="54864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ADLC compliance sign-off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56816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956816" y="960120"/>
            <a:ext cx="1627632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542032" y="1078992"/>
            <a:ext cx="457200" cy="45720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542032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</a:rPr>
              <a:t>Data Migration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03120" y="2084832"/>
            <a:ext cx="1335024" cy="256032"/>
          </a:xfrm>
          <a:prstGeom prst="rect">
            <a:avLst/>
          </a:prstGeom>
          <a:solidFill>
            <a:srgbClr val="FFD166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103120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5–8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48256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048256" y="2468880"/>
            <a:ext cx="54864" cy="6583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139696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14 Snowflake tables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48256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048256" y="3218688"/>
            <a:ext cx="54864" cy="6583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139696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schema validation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48256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048256" y="3968496"/>
            <a:ext cx="54864" cy="6583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139696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connector update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30752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730752" y="960120"/>
            <a:ext cx="1627632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315968" y="1078992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31596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785616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</a:rPr>
              <a:t>App Migration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77056" y="2084832"/>
            <a:ext cx="1335024" cy="256032"/>
          </a:xfrm>
          <a:prstGeom prst="rect">
            <a:avLst/>
          </a:prstGeom>
          <a:solidFill>
            <a:srgbClr val="06D6A0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877056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5–12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22192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3822192" y="2468880"/>
            <a:ext cx="54864" cy="6583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913632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Flask app on Databricks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22192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822192" y="3218688"/>
            <a:ext cx="54864" cy="6583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913632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 config adaptation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22192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3822192" y="3968496"/>
            <a:ext cx="54864" cy="6583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913632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testing iteration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04688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5504688" y="960120"/>
            <a:ext cx="1627632" cy="6400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089904" y="1078992"/>
            <a:ext cx="457200" cy="457200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08990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559552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DE5"/>
                </a:solidFill>
              </a:rPr>
              <a:t>QA &amp; Validation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650992" y="2084832"/>
            <a:ext cx="1335024" cy="256032"/>
          </a:xfrm>
          <a:prstGeom prst="rect">
            <a:avLst/>
          </a:prstGeom>
          <a:solidFill>
            <a:srgbClr val="9B5DE5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650992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13–16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96128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5596128" y="2468880"/>
            <a:ext cx="54864" cy="65836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5687568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QA/UAT in stage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96128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5596128" y="3218688"/>
            <a:ext cx="54864" cy="65836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687568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qTest evidence capture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596128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5596128" y="3968496"/>
            <a:ext cx="54864" cy="65836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5687568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RFC raised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278624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7278624" y="960120"/>
            <a:ext cx="1627632" cy="640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7863840" y="1078992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8638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7333488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76F"/>
                </a:solidFill>
              </a:rPr>
              <a:t>Go-Live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424928" y="2084832"/>
            <a:ext cx="1335024" cy="256032"/>
          </a:xfrm>
          <a:prstGeom prst="rect">
            <a:avLst/>
          </a:prstGeom>
          <a:solidFill>
            <a:srgbClr val="EF476F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7424928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17–20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370064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7370064" y="2468880"/>
            <a:ext cx="54864" cy="65836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7461504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approval → prod deploy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370064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7370064" y="3218688"/>
            <a:ext cx="54864" cy="65836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7461504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parallel run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370064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7370064" y="3968496"/>
            <a:ext cx="54864" cy="65836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7461504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decommission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303520" y="54864"/>
            <a:ext cx="4754880" cy="5029200"/>
          </a:xfrm>
          <a:prstGeom prst="ellipse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35040" y="640080"/>
            <a:ext cx="3291840" cy="329184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896112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💰  86% cost saving — $26.7K/yr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2816352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81635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🔗  Strategic platform alignment (GPDIP)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346704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346704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⚙  Operational independence via CI/CD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77056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877056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🤖  AI-ready without extra infrastructure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4622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IMMEDIATE NEXT STEPS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1.  Confirm workspace with Digital/Platform team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73552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73552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2.  Identify migration lead &amp; confirm team availability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81344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81344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3.  1-week PoC: deploy Flask app as Databricks App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0" y="365760"/>
            <a:ext cx="3017520" cy="3017520"/>
          </a:xfrm>
          <a:prstGeom prst="ellipse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92240" y="914400"/>
            <a:ext cx="1920240" cy="192024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"/>
            <a:ext cx="2743200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CLIENT QUESTIONS  — DAN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to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Dan's Queries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</a:rPr>
              <a:t>Feasibility check completed  ·  Migration app built with live UI, APIs &amp; Delta Lake tables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73152" cy="347472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2064" y="32461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Q1 — Risks &amp; Cons to consider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666744"/>
            <a:ext cx="73152" cy="34747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" y="366674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Q2 — UI, UX &amp; performance impact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87368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4087368"/>
            <a:ext cx="73152" cy="34747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" y="40873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Q3 — Feature work during migration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SMArT Platform Migration  ·  Response to Dan's Review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&amp; Cons to Consider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3840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</a:rPr>
              <a:t>We are transparent about trade-offs. These are manageable risks — none are blockers, and all have defined mitigations.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730752" y="1463040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30752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0624" y="145389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Short-term team upskilling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" y="1719072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needs to learn Databricks Apps, DAB &amp; CI/CD patterns. Mitigated by feasibility spike already completed — team is hands-on from day one.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389888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1389888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38160" y="1463040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138160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28032" y="145389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 physical environment isolation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1719072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schema separation replaces physical DSS instances. UC RBAC enforces access boundaries; reviewed and accepted by compliance approach.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505456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56032" y="2505456"/>
            <a:ext cx="82296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730752" y="2578608"/>
            <a:ext cx="658368" cy="201168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30752" y="2578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MED RISK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0624" y="256946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Migration window carries delivery risk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" y="2834640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20-week project introduces schedule risk. Phased delivery with parallel-run period and rollback path (DSS stays live until RFC sign-off) contains impact.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505456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63440" y="2505456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138160" y="2578608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138160" y="2578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28032" y="256946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Usage-based cost variability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2834640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fixed DSS licenses, Databricks costs scale with usage. Auto-shutdown on dev/stage and cost dashboards keep this well within the $4.2K estimate.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621024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56032" y="3621024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730752" y="3694176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730752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0624" y="36850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 migration validation effort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0624" y="3950208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Snowflake tables must be migrated and verified. Row-count and schema validation scripts are part of Phase 2; feasibility run confirms process works.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621024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663440" y="3621024"/>
            <a:ext cx="82296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138160" y="3694176"/>
            <a:ext cx="658368" cy="201168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138160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MED RISK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28032" y="36850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Dependency on Digital/Platform team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28032" y="3950208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assignment (ATP GPD Expl) needs Digital team confirmation. Already flagged as first action item; planning can proceed in parallel under Option A.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736592"/>
            <a:ext cx="8631936" cy="32918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56032" y="4736592"/>
            <a:ext cx="82296" cy="32918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02336" y="473659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✓  Overall assessment: No identified cons are blockers. Risk profile is LOW–MEDIUM. Feasibility PoC de-risks the highest-uncertainty items.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Q2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UI, End-User Experience &amp; Performance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502920"/>
          </a:xfrm>
          <a:prstGeom prst="rect">
            <a:avLst/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6032" y="896112"/>
            <a:ext cx="82296" cy="5029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02336" y="8961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✅  Feasibility proven: Migration app built with exact UI, live backend APIs &amp; Delta Lake tables — user experience validated end-to-end.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6032" y="1517904"/>
            <a:ext cx="281635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  UI &amp; Frontend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Redesign needed?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74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Flask/FastAPI frontend deployed as Databricks App — same screens, same navigation, same URLs.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Functionality loss?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273552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confirmed working in the PoC migration. No capability is removed or degraded.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Look &amp; feel change?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74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 is a thin hosting wrapper — users will not see any platform change.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27832" y="1517904"/>
            <a:ext cx="2816352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278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Performance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278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3192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Calculation speed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192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3192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Same / Faster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92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Python simulation engine. Databricks serverless compute removes DSS scheduler overhead.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278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3192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Page load times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19272" y="3273552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3192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 change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192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is unchanged. Delta Lake SQL connector benchmarks comparably to Snowflake at this data volume (&lt;100 GB).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278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3192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Peak load (50 users)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192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3192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Handled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192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instance (2 vCPU / 6 GB) sized for &lt;100 concurrent. Scale-up to Large available on demand.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996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199632" y="1517904"/>
            <a:ext cx="2816352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1996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User Impact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1996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2910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Training required?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910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2910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910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interact with the same web application. No Databricks knowledge needed by users.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996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2910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URL / access change?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91072" y="3273552"/>
            <a:ext cx="2633472" cy="219456"/>
          </a:xfrm>
          <a:prstGeom prst="rect">
            <a:avLst/>
          </a:prstGeom>
          <a:solidFill>
            <a:srgbClr val="FFD166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2910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New URL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910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environment gets a dedicated Databricks App URL. A bookmark update is the only visible change for users.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996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2910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Downtime at cutover?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910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2910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planned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2910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parallel run means DSS and Databricks run simultaneously. Cutover is a DNS/redirect flip.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Q3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Work During the Migration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475488"/>
          </a:xfrm>
          <a:prstGeom prst="rect">
            <a:avLst/>
          </a:prstGeom>
          <a:solidFill>
            <a:srgbClr val="0A2A0A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6032" y="896112"/>
            <a:ext cx="82296" cy="47548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02336" y="8961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✅  Short answer: Feature work does NOT need to be paused. Migration and new features can run in parallel.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" y="14996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HOW THIS WORKS IN PRACTICE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847088"/>
            <a:ext cx="1417320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184708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MIGRATION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TRACK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19072" y="1847088"/>
            <a:ext cx="118872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755648" y="1865376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Foundation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1–4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07792" y="1847088"/>
            <a:ext cx="914400" cy="475488"/>
          </a:xfrm>
          <a:prstGeom prst="rect">
            <a:avLst/>
          </a:prstGeom>
          <a:solidFill>
            <a:srgbClr val="0096B7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944368" y="1865376"/>
            <a:ext cx="841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Data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5–8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22192" y="1847088"/>
            <a:ext cx="1554480" cy="475488"/>
          </a:xfrm>
          <a:prstGeom prst="rect">
            <a:avLst/>
          </a:prstGeom>
          <a:solidFill>
            <a:srgbClr val="007A96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58768" y="1865376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App Migration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5–12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76672" y="1847088"/>
            <a:ext cx="1005840" cy="475488"/>
          </a:xfrm>
          <a:prstGeom prst="rect">
            <a:avLst/>
          </a:prstGeom>
          <a:solidFill>
            <a:srgbClr val="005F75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13248" y="1865376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QA / UAT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13–16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382512" y="1847088"/>
            <a:ext cx="868680" cy="475488"/>
          </a:xfrm>
          <a:prstGeom prst="rect">
            <a:avLst/>
          </a:prstGeom>
          <a:solidFill>
            <a:srgbClr val="004558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19088" y="1865376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Go-Live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17–20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6032" y="2432304"/>
            <a:ext cx="1417320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56032" y="2432304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TRACK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19072" y="2432304"/>
            <a:ext cx="1188720" cy="475488"/>
          </a:xfrm>
          <a:prstGeom prst="rect">
            <a:avLst/>
          </a:prstGeom>
          <a:solidFill>
            <a:srgbClr val="024A1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755648" y="245059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Bug fixes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maintenance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07792" y="2432304"/>
            <a:ext cx="1828800" cy="475488"/>
          </a:xfrm>
          <a:prstGeom prst="rect">
            <a:avLst/>
          </a:prstGeom>
          <a:solidFill>
            <a:srgbClr val="036028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944368" y="2450592"/>
            <a:ext cx="1755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New Feature 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(on DSS)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36592" y="2432304"/>
            <a:ext cx="1645920" cy="475488"/>
          </a:xfrm>
          <a:prstGeom prst="rect">
            <a:avLst/>
          </a:prstGeom>
          <a:solidFill>
            <a:srgbClr val="047A34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73168" y="245059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New Feature 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(on DSS)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82512" y="2432304"/>
            <a:ext cx="1828800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19088" y="2450592"/>
            <a:ext cx="1755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Feature C → DBX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(new home)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51192" y="1709928"/>
            <a:ext cx="36576" cy="129844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903720" y="149961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D166"/>
                </a:solidFill>
              </a:rPr>
              <a:t>Cutover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6032" y="3090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THE GUARDRAILS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429000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56032" y="3429000"/>
            <a:ext cx="82296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02336" y="352044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02336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" y="34655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New features built on DSS as normal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7240" y="366674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During migration, feature development continues on the current DSS platform. No change to today's dev/QA/release workflow for new features.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3941064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256032" y="3941064"/>
            <a:ext cx="82296" cy="4572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02336" y="4032504"/>
            <a:ext cx="274320" cy="27432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02336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" y="39776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Migration team is a dedicated workstream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77240" y="417880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Migration is run as a parallel project track — it does not consume the full team. Feature sprints and migration sprints are planned independently.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4453128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56032" y="4453128"/>
            <a:ext cx="82296" cy="4572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02336" y="4544568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02336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7240" y="44897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Features completed before cutover ship on DSS; after cutover on Databricks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77240" y="469087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Any feature in flight at Go-Live week is evaluated: if complete → ship on DSS, if not → brief hold during 2-week parallel run, then deliver on Databricks.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" y="91440"/>
            <a:ext cx="566928" cy="566928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01168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Genie AI  —  Natural Language Querying for SMArT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3840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</a:rPr>
              <a:t>Users ask plain-English questions against SMArT's Delta Lake tables — no SQL, no dashboards. Three implementation paths, increasing in capability.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2816352" cy="3611880"/>
          </a:xfrm>
          <a:prstGeom prst="rect">
            <a:avLst/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2816352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02336" cy="40233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1536192"/>
            <a:ext cx="2139696" cy="320040"/>
          </a:xfrm>
          <a:prstGeom prst="rect">
            <a:avLst/>
          </a:prstGeom>
          <a:solidFill>
            <a:srgbClr val="06D6A0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</a:rPr>
              <a:t>✅  READY NOW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</a:rPr>
              <a:t>Genie Space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Standalone — zero code changes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Genie Space in Databricks pointing to smart_poc.smart.* Delta tables. Users ask questions directly in the Databricks workspace UI.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236976"/>
            <a:ext cx="2633472" cy="182880"/>
          </a:xfrm>
          <a:prstGeom prst="rect">
            <a:avLst/>
          </a:prstGeom>
          <a:solidFill>
            <a:srgbClr val="06D6A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6D6A0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74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"Which country has the highest P90 days?"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840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"Show activation timelines for Argentina"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840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"Avg site activation rate across countries?"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40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Separate UI — users leave the SMArT app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1389888"/>
            <a:ext cx="2816352" cy="3611880"/>
          </a:xfrm>
          <a:prstGeom prst="rect">
            <a:avLst/>
          </a:prstGeom>
          <a:solidFill>
            <a:srgbClr val="1A1500"/>
          </a:solidFill>
          <a:ln w="12700">
            <a:solidFill>
              <a:srgbClr val="FFD166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27832" y="1389888"/>
            <a:ext cx="2816352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337560" y="1508760"/>
            <a:ext cx="402336" cy="40233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375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13048" y="1536192"/>
            <a:ext cx="2139696" cy="320040"/>
          </a:xfrm>
          <a:prstGeom prst="rect">
            <a:avLst/>
          </a:prstGeom>
          <a:solidFill>
            <a:srgbClr val="FFD166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8130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</a:rPr>
              <a:t>⚠  REQUIRES WORK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192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Embed Genie in App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192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Chat widget inside SMArT webapp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192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chat widget in the React frontend. Flask backend proxies calls to the Genie Conversation API. Results rendered inline in the app.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19272" y="3236976"/>
            <a:ext cx="2633472" cy="182880"/>
          </a:xfrm>
          <a:prstGeom prst="rect">
            <a:avLst/>
          </a:prstGeom>
          <a:solidFill>
            <a:srgbClr val="FFD16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3192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D166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192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3558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Genie Conversation API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192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3558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Flask → Genie API proxy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192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3558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SQL results inline in app UI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192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3558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Cannot answer questions about live in-memory API results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99632" y="1389888"/>
            <a:ext cx="2816352" cy="3611880"/>
          </a:xfrm>
          <a:prstGeom prst="rect">
            <a:avLst/>
          </a:prstGeom>
          <a:solidFill>
            <a:srgbClr val="001A20"/>
          </a:solidFill>
          <a:ln w="1270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199632" y="1389888"/>
            <a:ext cx="281635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309360" y="1508760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3093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784848" y="1536192"/>
            <a:ext cx="2139696" cy="32004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7848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🔄  BEST OF BOTH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Write Results → Genie Queries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2910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Most powerful approach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910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results are saved back to Delta tables (site_activation_details_results etc.). Genie queries saved results — combines live app + historical analysis.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91072" y="3236976"/>
            <a:ext cx="2633472" cy="18288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2910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0B4D8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910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3276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"Show all plans created this week"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910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3276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"Compare P90 dates across my last 3 runs"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910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3276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"Which analysis had the fastest activation?"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910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3276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Requires result-persistence logic in app layer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56032" y="4956048"/>
            <a:ext cx="8631936" cy="128016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" y="91440"/>
            <a:ext cx="566928" cy="566928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01168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Genie  —  Recommended Path &amp;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069080" cy="34747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6032" y="8961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★  RECOMMENDED FOR PoC DEMO  —  OPTION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02336" y="1463040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0233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133502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Open ATP GPD Expl workspace → Genie (sidebar)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1956816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56032" y="1956816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02336" y="2084832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02336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" y="195681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Create a Genie Space → connect to smart_poc.smart.*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578608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56032" y="2578608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02336" y="2706624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02336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" y="257860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Point at smart_category_activation_timelines table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3200400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56032" y="3200400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02336" y="3328416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02336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Demo alongside app — zero code changes required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3840480"/>
            <a:ext cx="1920240" cy="274320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56032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  CAN answer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416052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92608" y="416052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✓  Questions about Delta Lake tables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443484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92608" y="443484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✓  Raw data, saved plans, timelines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470916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92608" y="470916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✓  Historical result comparisons (Opt 3)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304288" y="3840480"/>
            <a:ext cx="2011680" cy="274320"/>
          </a:xfrm>
          <a:prstGeom prst="rect">
            <a:avLst/>
          </a:prstGeom>
          <a:solidFill>
            <a:srgbClr val="EF476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304288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✗  CANNOT answer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04288" y="416052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340864" y="416052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✗  Live API/in-memory computation results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304288" y="443484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340864" y="443484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✗  Runtime simulation state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304288" y="470916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340864" y="470916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✗  Unless Option 3 (write back) is implemented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896112"/>
            <a:ext cx="4315968" cy="34747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572000" y="896112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OPTION 3  —  TARGET ARCHITECTURE  (Best of Both)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1335024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937760" y="13807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SMArT Web App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37760" y="1627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React + Flask/FastAPI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75120" y="1883664"/>
            <a:ext cx="54864" cy="2377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846320" y="2029968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0E0EF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37760" y="20756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Flask Backend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937760" y="23225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Proxy → Genie Conversation API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675120" y="2578608"/>
            <a:ext cx="54864" cy="2377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846320" y="2724912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937760" y="2770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DE5"/>
                </a:solidFill>
              </a:rPr>
              <a:t>Delta Lake Tables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937760" y="3017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smart_poc.smart.*  +  results tables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675120" y="3273552"/>
            <a:ext cx="54864" cy="2377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846320" y="3419856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937760" y="34655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DE5"/>
                </a:solidFill>
              </a:rPr>
              <a:t>Genie Space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937760" y="37124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Natural language → SQL → Delta Lake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46320" y="4114800"/>
            <a:ext cx="3749040" cy="566928"/>
          </a:xfrm>
          <a:prstGeom prst="rect">
            <a:avLst/>
          </a:prstGeom>
          <a:solidFill>
            <a:srgbClr val="001A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846320" y="4114800"/>
            <a:ext cx="73152" cy="56692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92624" y="415137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Result write-back: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992624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DDE6"/>
                </a:solidFill>
              </a:rPr>
              <a:t>site_activation_details_results  ·  summary_results  →  queryable by Genie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669280" y="182880"/>
            <a:ext cx="3840480" cy="3840480"/>
          </a:xfrm>
          <a:prstGeom prst="ellipse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309360" y="822960"/>
            <a:ext cx="2560320" cy="256032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0" y="18288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"/>
            <a:ext cx="2926080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DETAILED COST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Pricing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Cost Strategies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</a:rPr>
              <a:t>AWS Premium Tier  ·  All 3 Environments  ·  Pay-as-you-go → Committed pricing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73152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2064" y="315468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Per-environment breakdown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557016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557016"/>
            <a:ext cx="73152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" y="355701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3 cost scenarios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959352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959352"/>
            <a:ext cx="73152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" y="395935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Optimization strategies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361688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4361688"/>
            <a:ext cx="73152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2064" y="436168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Current stack comparison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SMArT Platform Migration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DBU Rates &amp; Per-Environment Cost Breakdown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8631936" cy="82296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9144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B4D8"/>
                </a:solidFill>
              </a:rPr>
              <a:t>DBU RATES  — AWS Premium Tier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Databricks App (Medium)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$0.275/hr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0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SQL Serverless Warehouse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0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$1.10/hr active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36592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36592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1-yr commit discount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36592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25–45% saving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12864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12864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3-yr commit discount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12864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40–55% saving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1810512"/>
            <a:ext cx="2798064" cy="3200400"/>
          </a:xfrm>
          <a:prstGeom prst="rect">
            <a:avLst/>
          </a:prstGeom>
          <a:solidFill>
            <a:srgbClr val="EEF5FB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56032" y="1810512"/>
            <a:ext cx="2798064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56032" y="1883664"/>
            <a:ext cx="2798064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7472" y="18836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🛠  DEV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01752" y="2395728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App (10 hrs/day × 22 days)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24323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$60–$80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1752" y="2871216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5760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SQL Warehouse (~2 hrs/day)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94560" y="29077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$48–$60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1752" y="3346704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Delta Lake Storage (~10 GB)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94560" y="3383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$2–$5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01752" y="3822192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65760" y="3858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Unity Catalog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94560" y="38587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Included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" y="4297680"/>
            <a:ext cx="2798064" cy="40233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56032" y="429768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TOTAL  ~$110–$145/mo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27832" y="1810512"/>
            <a:ext cx="2798064" cy="3200400"/>
          </a:xfrm>
          <a:prstGeom prst="rect">
            <a:avLst/>
          </a:prstGeom>
          <a:solidFill>
            <a:srgbClr val="EEF5FB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227832" y="1810512"/>
            <a:ext cx="2798064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227832" y="1883664"/>
            <a:ext cx="2798064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319272" y="18836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🧪  STAGE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273552" y="2395728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337560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App (8 hrs/day × 22 days)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66360" y="24323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$48–$65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73552" y="2871216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337560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SQL Warehouse (~1 hr/day)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66360" y="29077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$24–$30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73552" y="3346704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3375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Delta Lake Storage (~10 GB)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66360" y="3383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$2–$5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73552" y="3822192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337560" y="3858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Unity Catalog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66360" y="38587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Included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27832" y="4297680"/>
            <a:ext cx="2798064" cy="402336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27832" y="429768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TOTAL  ~$75–$100/mo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99632" y="1810512"/>
            <a:ext cx="2798064" cy="3200400"/>
          </a:xfrm>
          <a:prstGeom prst="rect">
            <a:avLst/>
          </a:prstGeom>
          <a:solidFill>
            <a:srgbClr val="EEF5FB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199632" y="1810512"/>
            <a:ext cx="2798064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199632" y="1883664"/>
            <a:ext cx="2798064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291072" y="18836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D6A0"/>
                </a:solidFill>
              </a:rPr>
              <a:t>🚀  PROD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245352" y="2395728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309360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App (24/7 always-on)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138160" y="24323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$200–$270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245352" y="2871216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309360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SQL Warehouse (~4 hrs/day)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138160" y="29077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$96–$120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45352" y="3346704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3093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Delta Lake Storage (50–100 GB)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138160" y="3383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$10–$25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245352" y="3822192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309360" y="3858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Unity Catalog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138160" y="38587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Included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199632" y="4297680"/>
            <a:ext cx="2798064" cy="402336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6199632" y="429768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TOTAL  ~$305–$415/mo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256032" y="4773168"/>
            <a:ext cx="8631936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FA3B1"/>
                </a:solidFill>
              </a:rPr>
              <a:t>ℹ  App size: Medium (0.5 DBU/hr)  ·  DBU rate: $0.55 pay-as-you-go  ·  Region: AWS us-east-1  ·  Unity Catalog included at Premium tier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Cost Optimization Strategies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91440" cy="1207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38912" y="1005840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005840"/>
            <a:ext cx="932688" cy="274320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66160" y="10058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40–60% on Dev/Stage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9536" y="1005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Stop Dev/Stage outside business hours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" y="1353312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Auto-shutdown after 30-min idle. Dev/Stage only run ~10 hrs/day instead of 24/7. Biggest single lever for non-prod environments.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249424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56032" y="2249424"/>
            <a:ext cx="91440" cy="1207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38912" y="2340864"/>
            <a:ext cx="329184" cy="329184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38912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2340864"/>
            <a:ext cx="932688" cy="274320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566160" y="234086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25–45% across all envs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9536" y="23408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Committed DBU pricing (1yr or 3yr)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" y="2688336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commit: ~$0.40–0.50/DBU vs $0.55 pay-as-you-go. 3-year commit: ~$0.30–0.40/DBU. Significant reduction once usage is proven stable.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584448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56032" y="3584448"/>
            <a:ext cx="91440" cy="1207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8912" y="3675888"/>
            <a:ext cx="329184" cy="329184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38912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3675888"/>
            <a:ext cx="932688" cy="274320"/>
          </a:xfrm>
          <a:prstGeom prst="rect">
            <a:avLst/>
          </a:prstGeom>
          <a:solidFill>
            <a:srgbClr val="06D6A0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566160" y="3675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50% on App compute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9536" y="3675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Small app size instead of Medium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" y="4023360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Downsize from Medium (0.5 DBU/hr) to Small (0.25 DBU/hr) for Dev/Stage. Halves App compute cost if performance is sufficient for non-prod workloads.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28032" y="914400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28032" y="914400"/>
            <a:ext cx="91440" cy="120700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010912" y="1005840"/>
            <a:ext cx="329184" cy="329184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10912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38160" y="1005840"/>
            <a:ext cx="932688" cy="274320"/>
          </a:xfrm>
          <a:prstGeom prst="rect">
            <a:avLst/>
          </a:prstGeom>
          <a:solidFill>
            <a:srgbClr val="9B5DE5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138160" y="10058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Pay only for queries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31536" y="1005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Serverless SQL auto-suspend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92624" y="1353312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Serverless Warehouse behaviour — billing stops immediately when idle. No minimum charge. Combine with query result caching to reduce active hours.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28032" y="2249424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828032" y="2249424"/>
            <a:ext cx="91440" cy="120700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010912" y="2340864"/>
            <a:ext cx="329184" cy="32918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010912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38160" y="2340864"/>
            <a:ext cx="932688" cy="274320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138160" y="234086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Reduce workspace overhead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31536" y="23408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Dev/Stage share a single workspace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92624" y="2688336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Schema-based isolation within one workspace eliminates duplicate workspace overhead. Unity Catalog RBAC enforces access control between schemas.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663440"/>
            <a:ext cx="8631936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56032" y="4663440"/>
            <a:ext cx="91440" cy="38404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20624" y="46634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Optimised (off-hours + 1yr commit): </a:t>
            </a:r>
            <a:r>
              <a:rPr lang="en-US" sz="1100" b="1" dirty="0">
                <a:solidFill>
                  <a:srgbClr val="06D6A0"/>
                </a:solidFill>
              </a:rPr>
              <a:t>~$350/mo  (~$4,200/yr)  </a:t>
            </a:r>
            <a:r>
              <a:rPr lang="en-US" sz="1100" dirty="0">
                <a:solidFill>
                  <a:srgbClr val="8FA3B1"/>
                </a:solidFill>
              </a:rPr>
              <a:t>   |   Off-hours + 3yr commit: </a:t>
            </a:r>
            <a:r>
              <a:rPr lang="en-US" sz="1100" b="1" dirty="0">
                <a:solidFill>
                  <a:srgbClr val="00B4D8"/>
                </a:solidFill>
              </a:rPr>
              <a:t>~$280/mo  (~$3,360/yr)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Stack Comparison: Current vs Databricks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0" y="896112"/>
            <a:ext cx="3017520" cy="347472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468880" y="8961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 — Dataiku + Snowflake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23560" y="896112"/>
            <a:ext cx="3264408" cy="34747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23560" y="896112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PROPOSED  — Databricks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3350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Platform License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3350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Dataiku license (significant fixed cost)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68112" y="13350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87568" y="13350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Included in DBU consumption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17922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56032" y="17922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17922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Compute Model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17922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Dataiku infrastructure (fixed)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68112" y="17922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87568" y="17922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Serverless — pay-per-use only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2494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56032" y="22494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22494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Database Cost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14600" y="22494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Snowflake — separate license + compute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68112" y="22494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87568" y="22494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Delta Lake — S3 storage at $0.023/GB/mo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27066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56032" y="27066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20040" y="27066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App Hosting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14600" y="27066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Dataiku webapp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68112" y="27066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87568" y="27066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Databricks Apps (0.5 DBU/hr)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1638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56032" y="31638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31638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Data Governance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14600" y="31638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Manual / limited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68112" y="31638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87568" y="31638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Unity Catalog — included with Premium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36210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256032" y="36210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20040" y="36210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CI/CD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14600" y="36210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Custom setup required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68112" y="36210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87568" y="36210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Databricks Asset Bundles (DABs) native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0782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56032" y="40782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0040" y="40782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Dev/Stage Cost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514600" y="40782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Fixed (same as prod license cost)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68112" y="40782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687568" y="40782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Usage-based — auto-shutdown saves 40–60%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56032" y="45354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256032" y="45354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20040" y="45354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Annual Total (est.)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14600" y="45354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$30,900/yr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68112" y="45354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687568" y="45354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</a:rPr>
              <a:t>$4,200–$5,880/yr (optimised–conservative)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56032" y="5010912"/>
            <a:ext cx="8631936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Recommended Cost Strategy &amp; Savings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2084832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92608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92608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Day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Go-Live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Pay-as-you-go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+ Auto-shutdown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~$350/mo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~$4,200/yr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" y="2798064"/>
            <a:ext cx="1444752" cy="237744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1208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86% vs DSS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3127248"/>
            <a:ext cx="54864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Medium app (0.5 DBU/hr) all envs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3547872"/>
            <a:ext cx="54864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Dev/Stage off-hours auto-shutdown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3968496"/>
            <a:ext cx="54864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Serverless SQL, no idle cost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4389120"/>
            <a:ext cx="54864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Unity Catalog included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0" y="2231136"/>
            <a:ext cx="146304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432304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432304" y="960120"/>
            <a:ext cx="2084832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523744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523744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</a:rPr>
              <a:t>Year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</a:rPr>
              <a:t>Review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23744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1-Year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Commit (CUD)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05456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~$230/mo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505456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~$2,760/yr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52344" y="2798064"/>
            <a:ext cx="1444752" cy="237744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752344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91% vs DSS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05456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505456" y="3127248"/>
            <a:ext cx="54864" cy="365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596896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Apply 1yr commit after usage proven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05456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2505456" y="3547872"/>
            <a:ext cx="54864" cy="365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596896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Rate drops to ~$0.40–0.50/DBU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05456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2505456" y="3968496"/>
            <a:ext cx="54864" cy="365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596896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Review app sizing (Small vs Medium)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505456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505456" y="4389120"/>
            <a:ext cx="54864" cy="365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596896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~25–45% further reduction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17136" y="2231136"/>
            <a:ext cx="146304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663440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663440" y="960120"/>
            <a:ext cx="2084832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754880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754880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Year 2+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Optimised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54880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Small App Size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+ 1yr CUD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36592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~$180/mo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4736592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~$2,160/yr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983480" y="2798064"/>
            <a:ext cx="1444752" cy="237744"/>
          </a:xfrm>
          <a:prstGeom prst="rect">
            <a:avLst/>
          </a:prstGeom>
          <a:solidFill>
            <a:srgbClr val="06D6A0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983480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93% vs DSS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36592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736592" y="3127248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828032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Downsize Dev/Stage to Small (0.25 DBU)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36592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736592" y="3547872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828032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Prod stays Medium if load requires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36592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736592" y="3968496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828032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Further 50% App compute reduction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36592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736592" y="4389120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4828032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Dev/Stage share single workspace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748272" y="2231136"/>
            <a:ext cx="146304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6894576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6894576" y="960120"/>
            <a:ext cx="2084832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6986016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986016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Year 3+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Full Optimised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986016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3-Year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Commit (CUD)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967728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~$140/mo</a:t>
            </a:r>
            <a:endParaRPr lang="en-US" sz="2000" dirty="0"/>
          </a:p>
        </p:txBody>
      </p:sp>
      <p:sp>
        <p:nvSpPr>
          <p:cNvPr id="77" name="Text 75"/>
          <p:cNvSpPr/>
          <p:nvPr/>
        </p:nvSpPr>
        <p:spPr>
          <a:xfrm>
            <a:off x="6967728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~$1,680/yr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214616" y="2798064"/>
            <a:ext cx="1444752" cy="237744"/>
          </a:xfrm>
          <a:prstGeom prst="rect">
            <a:avLst/>
          </a:prstGeom>
          <a:solidFill>
            <a:srgbClr val="06D6A0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7214616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95% vs DSS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967728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6967728" y="3127248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7059168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3yr commit: ~$0.30–0.40/DBU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967728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6967728" y="3547872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7059168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Lowest possible unit cost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967728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6967728" y="3968496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7059168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Full AI stack (Genie, MLflow) included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967728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6967728" y="4389120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7059168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Cost well below any alternative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01168" y="5074920"/>
            <a:ext cx="8741664" cy="5943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2659</Words>
  <Application>Microsoft Office PowerPoint</Application>
  <PresentationFormat>On-screen Show (16:9)</PresentationFormat>
  <Paragraphs>494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Platform Migration – Dataiku to Databricks</dc:title>
  <dc:subject>PptxGenJS Presentation</dc:subject>
  <dc:creator>PptxGenJS</dc:creator>
  <cp:lastModifiedBy>Pramod Naik</cp:lastModifiedBy>
  <cp:revision>2</cp:revision>
  <dcterms:created xsi:type="dcterms:W3CDTF">2026-06-02T20:27:30Z</dcterms:created>
  <dcterms:modified xsi:type="dcterms:W3CDTF">2026-06-03T07:53:00Z</dcterms:modified>
</cp:coreProperties>
</file>