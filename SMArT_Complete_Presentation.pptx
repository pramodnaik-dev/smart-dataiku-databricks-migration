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Dataiku DSS (Current)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Licensing</c:v>
                  </c:pt>
                  <c:pt idx="1">
                    <c:v>Compute</c:v>
                  </c:pt>
                  <c:pt idx="2">
                    <c:v>Storage</c:v>
                  </c:pt>
                  <c:pt idx="3">
                    <c:v>Support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30900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Databricks (Proposed)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Licensing</c:v>
                  </c:pt>
                  <c:pt idx="1">
                    <c:v>Compute</c:v>
                  </c:pt>
                  <c:pt idx="2">
                    <c:v>Storage</c:v>
                  </c:pt>
                  <c:pt idx="3">
                    <c:v>Support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4009</c:v>
                </c:pt>
                <c:pt idx="2">
                  <c:v>28</c:v>
                </c:pt>
                <c:pt idx="3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3B5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457200"/>
            <a:ext cx="2377440" cy="237744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40880" y="1005840"/>
            <a:ext cx="1280160" cy="128016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PLATFORM MIGRATION PROPOSAL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DSS + Snowflake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Databricks Apps + Delta Lake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1"/>
                </a:solidFill>
              </a:rPr>
              <a:t>May 2026  ·  v1.0  ·  Draft for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Business Owners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6" name="Text 14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Dev Team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8" name="Text 16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Management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0" name="Text 18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Digital/Platform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8016" y="4846320"/>
            <a:ext cx="9015984" cy="29718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ATP GPD Expl Workspace  ·  Unity Catalog: gpdip_smart_us_east_1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Case for Change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24912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$30,900 → ~$4,200/yr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960120"/>
            <a:ext cx="272491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$26.7K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64408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Savings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Break-even within year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960120"/>
            <a:ext cx="2724912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wks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08776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Migration Timeline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Existing team, phased delivery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WHY MIGRATE NOW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Fixed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</a:rPr>
              <a:t>3 DSS Designer licenses @ $10,300 each — fixed regardless of usage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Platform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</a:rPr>
              <a:t>Every deployment needs Platform Support team scheduling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1" name="Text 29"/>
          <p:cNvSpPr/>
          <p:nvPr/>
        </p:nvSpPr>
        <p:spPr>
          <a:xfrm>
            <a:off x="496519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Limited AI Ecosystem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</a:rPr>
              <a:t>No native LLMs, MLflow, model serving, or vector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5" name="Text 33"/>
          <p:cNvSpPr/>
          <p:nvPr/>
        </p:nvSpPr>
        <p:spPr>
          <a:xfrm>
            <a:off x="496519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Strategic Misalignment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</a:rPr>
              <a:t>DSS + Snowflake outside GPDIP platform direction — growing technical debt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 →  Target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(Dataiku DSS + Snowflake)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Dataiku DSS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23744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Snowflake  (14 tables, &lt;100 GB)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Manual DSS Bundle — Platform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3 physically isolated DSS instances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2286000"/>
            <a:ext cx="5486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25196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TARGET  (Databricks Apps + Delta Lake)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1389888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36" name="Shape 34"/>
          <p:cNvSpPr/>
          <p:nvPr/>
        </p:nvSpPr>
        <p:spPr>
          <a:xfrm>
            <a:off x="498348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7" name="Text 35"/>
          <p:cNvSpPr/>
          <p:nvPr/>
        </p:nvSpPr>
        <p:spPr>
          <a:xfrm>
            <a:off x="504748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Databricks Apps  (ATP GPD Expl)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98348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1" name="Text 39"/>
          <p:cNvSpPr/>
          <p:nvPr/>
        </p:nvSpPr>
        <p:spPr>
          <a:xfrm>
            <a:off x="504748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  (unchanged)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2523744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44" name="Shape 42"/>
          <p:cNvSpPr/>
          <p:nvPr/>
        </p:nvSpPr>
        <p:spPr>
          <a:xfrm>
            <a:off x="498348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5" name="Text 43"/>
          <p:cNvSpPr/>
          <p:nvPr/>
        </p:nvSpPr>
        <p:spPr>
          <a:xfrm>
            <a:off x="504748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4748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Delta Lake  (Unity Catalog, dedicated)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8348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98348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9" name="Text 47"/>
          <p:cNvSpPr/>
          <p:nvPr/>
        </p:nvSpPr>
        <p:spPr>
          <a:xfrm>
            <a:off x="504748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CI/CD  (GitHub Actions + DAB, automated)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83480" y="3657600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52" name="Shape 50"/>
          <p:cNvSpPr/>
          <p:nvPr/>
        </p:nvSpPr>
        <p:spPr>
          <a:xfrm>
            <a:off x="498348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3" name="Text 51"/>
          <p:cNvSpPr/>
          <p:nvPr/>
        </p:nvSpPr>
        <p:spPr>
          <a:xfrm>
            <a:off x="504748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3 schemas in one catalog  (RBAC isolated)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8348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98348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7" name="Text 55"/>
          <p:cNvSpPr/>
          <p:nvPr/>
        </p:nvSpPr>
        <p:spPr>
          <a:xfrm>
            <a:off x="504748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748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MLflow · Model Serving · Genie AI  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Cost Analysis &amp; ROI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60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DATABRICKS BREAKDOWN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2984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353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DE6"/>
                </a:solidFill>
              </a:rPr>
              <a:t>Prod App compute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1353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~$2,964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7556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DE6"/>
                </a:solidFill>
              </a:rPr>
              <a:t>Dev App compute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6384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~$494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2128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0" y="2267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DE6"/>
                </a:solidFill>
              </a:rPr>
              <a:t>Stage App compute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63840" y="22677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~$76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6700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DE6"/>
                </a:solidFill>
              </a:rPr>
              <a:t>Dev notebooks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~$475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1272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DE6"/>
                </a:solidFill>
              </a:rPr>
              <a:t>Delta Lake storage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63840" y="3182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~$28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35844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3" name="Text 20"/>
          <p:cNvSpPr/>
          <p:nvPr/>
        </p:nvSpPr>
        <p:spPr>
          <a:xfrm>
            <a:off x="585216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DE6"/>
                </a:solidFill>
              </a:rPr>
              <a:t>SQL Warehouse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63840" y="3639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~$200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60720" y="4069080"/>
            <a:ext cx="3108960" cy="50292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76072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TOTAL  ~$4,237 / year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74320" y="4498848"/>
            <a:ext cx="8595360" cy="512064"/>
          </a:xfrm>
          <a:prstGeom prst="rect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49884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💰  Annual Savings: ~$26,700  (86% reduction)  ·  All 3 environments included  ·  Break-even within Year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Model &amp; ADLC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CI/CD DEPLOYMENT 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9144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9961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62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develop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 self-testing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121408"/>
            <a:ext cx="54864" cy="201168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322576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22576"/>
            <a:ext cx="91440" cy="8229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523744"/>
            <a:ext cx="420624" cy="42062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stage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smart-app-stage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QA / UAT (qTest)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45536"/>
            <a:ext cx="54864" cy="201168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346704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46704"/>
            <a:ext cx="91440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547872"/>
            <a:ext cx="420624" cy="42062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main branch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941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smart-app-prod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solidFill>
            <a:srgbClr val="06D6A0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RFC gate required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ADLC COMPLIANCE SATISFIED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1298448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303520" y="129844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5" name="Shape 33"/>
          <p:cNvSpPr/>
          <p:nvPr/>
        </p:nvSpPr>
        <p:spPr>
          <a:xfrm>
            <a:off x="5376672" y="145389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50992" y="13350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QA vs Prod separation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0992" y="157276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Schema isolation + UC RBAC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1883664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40" name="Shape 38"/>
          <p:cNvSpPr/>
          <p:nvPr/>
        </p:nvSpPr>
        <p:spPr>
          <a:xfrm>
            <a:off x="5303520" y="1883664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1" name="Shape 39"/>
          <p:cNvSpPr/>
          <p:nvPr/>
        </p:nvSpPr>
        <p:spPr>
          <a:xfrm>
            <a:off x="5376672" y="2039112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2" name="Text 40"/>
          <p:cNvSpPr/>
          <p:nvPr/>
        </p:nvSpPr>
        <p:spPr>
          <a:xfrm>
            <a:off x="5376672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50992" y="19202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Validation before prod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1579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ServiceNow RFC gates CI/CD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0" y="246888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303520" y="2468880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7" name="Shape 45"/>
          <p:cNvSpPr/>
          <p:nvPr/>
        </p:nvSpPr>
        <p:spPr>
          <a:xfrm>
            <a:off x="5376672" y="2624328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8" name="Text 46"/>
          <p:cNvSpPr/>
          <p:nvPr/>
        </p:nvSpPr>
        <p:spPr>
          <a:xfrm>
            <a:off x="537667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0992" y="25054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evidence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274320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qTest (unchanged)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3054096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3054096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3" name="Shape 51"/>
          <p:cNvSpPr/>
          <p:nvPr/>
        </p:nvSpPr>
        <p:spPr>
          <a:xfrm>
            <a:off x="5376672" y="3209544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4" name="Text 52"/>
          <p:cNvSpPr/>
          <p:nvPr/>
        </p:nvSpPr>
        <p:spPr>
          <a:xfrm>
            <a:off x="5376672" y="3209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50992" y="30906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Change tracking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50992" y="332841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Jira + RFC + Git history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03520" y="3639312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303520" y="3639312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9" name="Shape 57"/>
          <p:cNvSpPr/>
          <p:nvPr/>
        </p:nvSpPr>
        <p:spPr>
          <a:xfrm>
            <a:off x="5376672" y="3794760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0" name="Text 58"/>
          <p:cNvSpPr/>
          <p:nvPr/>
        </p:nvSpPr>
        <p:spPr>
          <a:xfrm>
            <a:off x="5376672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50992" y="367588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Prod access control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50992" y="39136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CI/CD service principal only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03520" y="4224528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64" name="Shape 62"/>
          <p:cNvSpPr/>
          <p:nvPr/>
        </p:nvSpPr>
        <p:spPr>
          <a:xfrm>
            <a:off x="5303520" y="422452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65" name="Shape 63"/>
          <p:cNvSpPr/>
          <p:nvPr/>
        </p:nvSpPr>
        <p:spPr>
          <a:xfrm>
            <a:off x="5376672" y="437997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6" name="Text 64"/>
          <p:cNvSpPr/>
          <p:nvPr/>
        </p:nvSpPr>
        <p:spPr>
          <a:xfrm>
            <a:off x="5376672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50992" y="426110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50992" y="449884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UC audit log + CI/CD runs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0" name="Text 68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ServiceNow RFC process fully preserved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Integration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0972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Post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" y="254203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unchanged on Databricks Apps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" y="309067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replaces Snowflake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" y="363931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experience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" y="418795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future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Shape 22"/>
          <p:cNvSpPr/>
          <p:nvPr/>
        </p:nvSpPr>
        <p:spPr>
          <a:xfrm>
            <a:off x="4233672" y="109728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42336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92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What-If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254203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9" name="Text 27"/>
          <p:cNvSpPr/>
          <p:nvPr/>
        </p:nvSpPr>
        <p:spPr>
          <a:xfrm>
            <a:off x="34655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scenario comparison &amp; tracking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309067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34655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Workflows: parallel runs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Shape 32"/>
          <p:cNvSpPr/>
          <p:nvPr/>
        </p:nvSpPr>
        <p:spPr>
          <a:xfrm>
            <a:off x="3364992" y="363931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5" name="Text 33"/>
          <p:cNvSpPr/>
          <p:nvPr/>
        </p:nvSpPr>
        <p:spPr>
          <a:xfrm>
            <a:off x="34655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AI: instant enrollment predictions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Shape 35"/>
          <p:cNvSpPr/>
          <p:nvPr/>
        </p:nvSpPr>
        <p:spPr>
          <a:xfrm>
            <a:off x="3364992" y="418795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34655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Feature Store: shared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1" name="Shape 39"/>
          <p:cNvSpPr/>
          <p:nvPr/>
        </p:nvSpPr>
        <p:spPr>
          <a:xfrm>
            <a:off x="7205472" y="1097280"/>
            <a:ext cx="731520" cy="73152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42" name="Text 40"/>
          <p:cNvSpPr/>
          <p:nvPr/>
        </p:nvSpPr>
        <p:spPr>
          <a:xfrm>
            <a:off x="72054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910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Future Enhancements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" name="Shape 43"/>
          <p:cNvSpPr/>
          <p:nvPr/>
        </p:nvSpPr>
        <p:spPr>
          <a:xfrm>
            <a:off x="6336792" y="254203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6" name="Text 44"/>
          <p:cNvSpPr/>
          <p:nvPr/>
        </p:nvSpPr>
        <p:spPr>
          <a:xfrm>
            <a:off x="64373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AI: natural language data queries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8" name="Shape 46"/>
          <p:cNvSpPr/>
          <p:nvPr/>
        </p:nvSpPr>
        <p:spPr>
          <a:xfrm>
            <a:off x="6336792" y="309067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9" name="Text 47"/>
          <p:cNvSpPr/>
          <p:nvPr/>
        </p:nvSpPr>
        <p:spPr>
          <a:xfrm>
            <a:off x="64373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site activation ML model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1" name="Shape 49"/>
          <p:cNvSpPr/>
          <p:nvPr/>
        </p:nvSpPr>
        <p:spPr>
          <a:xfrm>
            <a:off x="6336792" y="363931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52" name="Text 50"/>
          <p:cNvSpPr/>
          <p:nvPr/>
        </p:nvSpPr>
        <p:spPr>
          <a:xfrm>
            <a:off x="64373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367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4" name="Shape 52"/>
          <p:cNvSpPr/>
          <p:nvPr/>
        </p:nvSpPr>
        <p:spPr>
          <a:xfrm>
            <a:off x="6336792" y="418795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55" name="Text 53"/>
          <p:cNvSpPr/>
          <p:nvPr/>
        </p:nvSpPr>
        <p:spPr>
          <a:xfrm>
            <a:off x="64373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simulation inputs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E0EF"/>
                </a:solidFill>
              </a:rPr>
              <a:t>All AI capabilities available at no additional infrastructure cost on Databricks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Migration Plan  —  20 Weeks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162763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07899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Foundation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solidFill>
            <a:srgbClr val="00B4D8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1–4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46888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Unity Catalog + RBAC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218688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 (DAB)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968496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 compliance sign-off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6816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56816" y="960120"/>
            <a:ext cx="162763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1078992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254203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Data Migration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solidFill>
            <a:srgbClr val="FFD166">
              <a:alpha val="2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48256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9" name="Shape 27"/>
          <p:cNvSpPr/>
          <p:nvPr/>
        </p:nvSpPr>
        <p:spPr>
          <a:xfrm>
            <a:off x="2048256" y="2468880"/>
            <a:ext cx="54864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2139696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14 Snowflake tables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48256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2" name="Shape 30"/>
          <p:cNvSpPr/>
          <p:nvPr/>
        </p:nvSpPr>
        <p:spPr>
          <a:xfrm>
            <a:off x="2048256" y="3218688"/>
            <a:ext cx="54864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2139696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schema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48256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5" name="Shape 33"/>
          <p:cNvSpPr/>
          <p:nvPr/>
        </p:nvSpPr>
        <p:spPr>
          <a:xfrm>
            <a:off x="2048256" y="3968496"/>
            <a:ext cx="54864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6" name="Text 34"/>
          <p:cNvSpPr/>
          <p:nvPr/>
        </p:nvSpPr>
        <p:spPr>
          <a:xfrm>
            <a:off x="2139696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 update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30752" y="960120"/>
            <a:ext cx="1627632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9" name="Shape 37"/>
          <p:cNvSpPr/>
          <p:nvPr/>
        </p:nvSpPr>
        <p:spPr>
          <a:xfrm>
            <a:off x="4315968" y="1078992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0" name="Text 38"/>
          <p:cNvSpPr/>
          <p:nvPr/>
        </p:nvSpPr>
        <p:spPr>
          <a:xfrm>
            <a:off x="43159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85616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App Migration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solidFill>
            <a:srgbClr val="06D6A0">
              <a:alpha val="2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45" name="Shape 43"/>
          <p:cNvSpPr/>
          <p:nvPr/>
        </p:nvSpPr>
        <p:spPr>
          <a:xfrm>
            <a:off x="3822192" y="246888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6" name="Text 44"/>
          <p:cNvSpPr/>
          <p:nvPr/>
        </p:nvSpPr>
        <p:spPr>
          <a:xfrm>
            <a:off x="3913632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Flask app on Databricks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48" name="Shape 46"/>
          <p:cNvSpPr/>
          <p:nvPr/>
        </p:nvSpPr>
        <p:spPr>
          <a:xfrm>
            <a:off x="3822192" y="3218688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9" name="Text 47"/>
          <p:cNvSpPr/>
          <p:nvPr/>
        </p:nvSpPr>
        <p:spPr>
          <a:xfrm>
            <a:off x="3913632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 config adaptation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51" name="Shape 49"/>
          <p:cNvSpPr/>
          <p:nvPr/>
        </p:nvSpPr>
        <p:spPr>
          <a:xfrm>
            <a:off x="3822192" y="3968496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2" name="Text 50"/>
          <p:cNvSpPr/>
          <p:nvPr/>
        </p:nvSpPr>
        <p:spPr>
          <a:xfrm>
            <a:off x="3913632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testing iteration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04688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504688" y="960120"/>
            <a:ext cx="1627632" cy="6400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55" name="Shape 53"/>
          <p:cNvSpPr/>
          <p:nvPr/>
        </p:nvSpPr>
        <p:spPr>
          <a:xfrm>
            <a:off x="6089904" y="1078992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56" name="Text 54"/>
          <p:cNvSpPr/>
          <p:nvPr/>
        </p:nvSpPr>
        <p:spPr>
          <a:xfrm>
            <a:off x="608990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559552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QA &amp; Validation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solidFill>
            <a:srgbClr val="9B5DE5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13–16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96128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61" name="Shape 59"/>
          <p:cNvSpPr/>
          <p:nvPr/>
        </p:nvSpPr>
        <p:spPr>
          <a:xfrm>
            <a:off x="5596128" y="2468880"/>
            <a:ext cx="54864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62" name="Text 60"/>
          <p:cNvSpPr/>
          <p:nvPr/>
        </p:nvSpPr>
        <p:spPr>
          <a:xfrm>
            <a:off x="5687568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QA/UAT in stage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96128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64" name="Shape 62"/>
          <p:cNvSpPr/>
          <p:nvPr/>
        </p:nvSpPr>
        <p:spPr>
          <a:xfrm>
            <a:off x="5596128" y="3218688"/>
            <a:ext cx="54864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65" name="Text 63"/>
          <p:cNvSpPr/>
          <p:nvPr/>
        </p:nvSpPr>
        <p:spPr>
          <a:xfrm>
            <a:off x="5687568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qTest evidence capture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96128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67" name="Shape 65"/>
          <p:cNvSpPr/>
          <p:nvPr/>
        </p:nvSpPr>
        <p:spPr>
          <a:xfrm>
            <a:off x="5596128" y="3968496"/>
            <a:ext cx="54864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68" name="Text 66"/>
          <p:cNvSpPr/>
          <p:nvPr/>
        </p:nvSpPr>
        <p:spPr>
          <a:xfrm>
            <a:off x="5687568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RFC raised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78624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278624" y="960120"/>
            <a:ext cx="1627632" cy="640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1" name="Shape 69"/>
          <p:cNvSpPr/>
          <p:nvPr/>
        </p:nvSpPr>
        <p:spPr>
          <a:xfrm>
            <a:off x="7863840" y="1078992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72" name="Text 70"/>
          <p:cNvSpPr/>
          <p:nvPr/>
        </p:nvSpPr>
        <p:spPr>
          <a:xfrm>
            <a:off x="78638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333488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76F"/>
                </a:solidFill>
              </a:rPr>
              <a:t>Go-Live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solidFill>
            <a:srgbClr val="EF476F">
              <a:alpha val="28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17–20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70064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77" name="Shape 75"/>
          <p:cNvSpPr/>
          <p:nvPr/>
        </p:nvSpPr>
        <p:spPr>
          <a:xfrm>
            <a:off x="7370064" y="246888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8" name="Text 76"/>
          <p:cNvSpPr/>
          <p:nvPr/>
        </p:nvSpPr>
        <p:spPr>
          <a:xfrm>
            <a:off x="7461504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approval → prod deploy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370064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0" name="Shape 78"/>
          <p:cNvSpPr/>
          <p:nvPr/>
        </p:nvSpPr>
        <p:spPr>
          <a:xfrm>
            <a:off x="7370064" y="3218688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1" name="Text 79"/>
          <p:cNvSpPr/>
          <p:nvPr/>
        </p:nvSpPr>
        <p:spPr>
          <a:xfrm>
            <a:off x="7461504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370064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3" name="Shape 81"/>
          <p:cNvSpPr/>
          <p:nvPr/>
        </p:nvSpPr>
        <p:spPr>
          <a:xfrm>
            <a:off x="7370064" y="3968496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4" name="Text 82"/>
          <p:cNvSpPr/>
          <p:nvPr/>
        </p:nvSpPr>
        <p:spPr>
          <a:xfrm>
            <a:off x="7461504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decommission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54864"/>
            <a:ext cx="4754880" cy="5029200"/>
          </a:xfrm>
          <a:prstGeom prst="ellipse">
            <a:avLst/>
          </a:prstGeom>
          <a:solidFill>
            <a:srgbClr val="1A2E45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640080"/>
            <a:ext cx="3291840" cy="32918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7315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86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💰  86% cost saving — $26.7K/yr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16352"/>
            <a:ext cx="7315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163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🔗  Strategic platform alignment (GPDIP)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46704"/>
            <a:ext cx="7315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4670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⚙  Operational independence via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77056"/>
            <a:ext cx="7315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7705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🤖  AI-ready without extra 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IMMEDIATE NEXT STEPS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1.  Confirm workspace with Digital/Platform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2.  Identify migration lead &amp; confirm team availability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3.  1-week PoC: deploy Flask app as Databricks 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365760"/>
            <a:ext cx="3017520" cy="3017520"/>
          </a:xfrm>
          <a:prstGeom prst="ellipse">
            <a:avLst/>
          </a:prstGeom>
          <a:solidFill>
            <a:srgbClr val="1A2E45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914400"/>
            <a:ext cx="1920240" cy="1920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3657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CLIENT QUESTIONS  — DAN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Dan's Queries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</a:rPr>
              <a:t>Feasibility check completed  ·  Migration app built with live UI, APIs &amp; Delta Lake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3246120"/>
            <a:ext cx="73152" cy="34747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3246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Q1 — Risks &amp; Cons to consider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666744"/>
            <a:ext cx="73152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6667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Q2 — UI, UX &amp; performance impact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4087368"/>
            <a:ext cx="73152" cy="3474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4087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Q3 — Feature work during migration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Response to Dan's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&amp; Cons to Consider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We are transparent about trade-offs. These are manageable risks — none are blockers, and all have defined mitigations.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Shape 9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624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Short-term team upskilling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to learn Databricks Apps, DAB &amp; CI/CD patterns. Mitigated by feasibility spike already completed — team is hands-on from day 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8032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physical environment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separation replaces physical DSS instances. UC RBAC enforces access boundaries; reviewed and accepted by compliance approach.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505456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0624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Migration window carries delivery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project introduces schedule risk. Phased delivery with parallel-run period and rollback path (DSS stays live until RFC sign-off) contains impact.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505456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Usage-based cost variability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fixed DSS licenses, Databricks costs scale with usage. Auto-shutdown on dev/stage and cost dashboards keep this well within the $4.2K estimate.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621024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5" name="Shape 33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0624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migration validation effort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Snowflake tables must be migrated and verified. Row-count and schema validation scripts are part of Phase 2; feasibility run confirms process works.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621024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1" name="Shape 39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28032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Dependency on Digital/Platform team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28032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assignment (ATP GPD Expl) needs Digital team confirmation. Already flagged as first action item; planning can proceed in parallel under Option 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736592"/>
            <a:ext cx="8631936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Shape 44"/>
          <p:cNvSpPr/>
          <p:nvPr/>
        </p:nvSpPr>
        <p:spPr>
          <a:xfrm>
            <a:off x="256032" y="4736592"/>
            <a:ext cx="82296" cy="32918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7" name="Text 45"/>
          <p:cNvSpPr/>
          <p:nvPr/>
        </p:nvSpPr>
        <p:spPr>
          <a:xfrm>
            <a:off x="402336" y="47365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✓  Overall assessment: No identified cons are blockers. Risk profile is LOW–MEDIUM. Feasibility PoC de-risks the highest-uncertainty items.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UI, End-User Experience &amp;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896112"/>
            <a:ext cx="82296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896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Feasibility proven: Migration app built with exact UI, live backend APIs &amp; Delta Lake tables — user experience validated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" y="1517904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UI &amp; Frontend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Redesign needed?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Flask/FastAPI frontend deployed as Databricks App — same screens, same navigation, same URLs.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Functionality loss?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confirmed working in the PoC migration. No capability is removed or degraded.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Look &amp; feel change?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is a thin hosting wrapper — users will not see any platform change.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Shape 27"/>
          <p:cNvSpPr/>
          <p:nvPr/>
        </p:nvSpPr>
        <p:spPr>
          <a:xfrm>
            <a:off x="3227832" y="1517904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32278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Performance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278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Calculation speed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/ Faster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simulation engine. Databricks serverless compute removes DSS scheduler overhead.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278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Page load times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change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92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is unchanged. Delta Lake SQL connector benchmarks comparably to Snowflake at this data volume (&lt;100 GB).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278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92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Peak load (50 users)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Handled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192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instance (2 vCPU / 6 GB) sized for &lt;100 concurrent. Scale-up to Large available on demand.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996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Shape 45"/>
          <p:cNvSpPr/>
          <p:nvPr/>
        </p:nvSpPr>
        <p:spPr>
          <a:xfrm>
            <a:off x="6199632" y="1517904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8" name="Text 46"/>
          <p:cNvSpPr/>
          <p:nvPr/>
        </p:nvSpPr>
        <p:spPr>
          <a:xfrm>
            <a:off x="61996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User Impact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996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Training required?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interact with the same web application. No Databricks knowledge needed by users.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URL / access change?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New URL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910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gets a dedicated Databricks App URL. A bookmark update is the only visible change for users.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996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910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Downtime at cutover?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planned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910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 means DSS and Databricks run simultaneously. Cutover is a DNS/redirect flip.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Work During the Migration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475488"/>
          </a:xfrm>
          <a:prstGeom prst="rect">
            <a:avLst/>
          </a:prstGeom>
          <a:solidFill>
            <a:srgbClr val="0A2A0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896112"/>
            <a:ext cx="82296" cy="47548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8961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Short answer: Feature work does NOT need to be paused. Migration and new features can run in parallel.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499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HOW THIS WORKS IN PRACTICE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MIGRATION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TRACK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1847088"/>
            <a:ext cx="11887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5648" y="186537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Foundation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1–4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7792" y="1847088"/>
            <a:ext cx="914400" cy="475488"/>
          </a:xfrm>
          <a:prstGeom prst="rect">
            <a:avLst/>
          </a:prstGeom>
          <a:solidFill>
            <a:srgbClr val="0096B7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1865376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5–8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22192" y="1847088"/>
            <a:ext cx="1554480" cy="475488"/>
          </a:xfrm>
          <a:prstGeom prst="rect">
            <a:avLst/>
          </a:prstGeom>
          <a:solidFill>
            <a:srgbClr val="007A9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186537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App Migration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5–12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76672" y="1847088"/>
            <a:ext cx="1005840" cy="475488"/>
          </a:xfrm>
          <a:prstGeom prst="rect">
            <a:avLst/>
          </a:prstGeom>
          <a:solidFill>
            <a:srgbClr val="005F75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186537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QA / UAT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13–16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82512" y="1847088"/>
            <a:ext cx="868680" cy="475488"/>
          </a:xfrm>
          <a:prstGeom prst="rect">
            <a:avLst/>
          </a:prstGeom>
          <a:solidFill>
            <a:srgbClr val="00455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86537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Go-Live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17–20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TRACK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19072" y="2432304"/>
            <a:ext cx="1188720" cy="475488"/>
          </a:xfrm>
          <a:prstGeom prst="rect">
            <a:avLst/>
          </a:prstGeom>
          <a:solidFill>
            <a:srgbClr val="024A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55648" y="245059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Bug fixes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07792" y="2432304"/>
            <a:ext cx="1828800" cy="475488"/>
          </a:xfrm>
          <a:prstGeom prst="rect">
            <a:avLst/>
          </a:prstGeom>
          <a:solidFill>
            <a:srgbClr val="0360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2432304"/>
            <a:ext cx="1645920" cy="475488"/>
          </a:xfrm>
          <a:prstGeom prst="rect">
            <a:avLst/>
          </a:prstGeom>
          <a:solidFill>
            <a:srgbClr val="047A3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4505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82512" y="2432304"/>
            <a:ext cx="182880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Feature C → DBX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(new home)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51192" y="1709928"/>
            <a:ext cx="36576" cy="129844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14996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Cutover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THE GUARDRAILS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429000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429000"/>
            <a:ext cx="82296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Shape 36"/>
          <p:cNvSpPr/>
          <p:nvPr/>
        </p:nvSpPr>
        <p:spPr>
          <a:xfrm>
            <a:off x="402336" y="35204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3465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New features built on DSS as normal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" y="36667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During migration, feature development continues on the current DSS platform. No change to today's dev/QA/release workflow for new features.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941064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3941064"/>
            <a:ext cx="82296" cy="457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4" name="Shape 42"/>
          <p:cNvSpPr/>
          <p:nvPr/>
        </p:nvSpPr>
        <p:spPr>
          <a:xfrm>
            <a:off x="402336" y="4032504"/>
            <a:ext cx="274320" cy="2743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3977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Migration team is a dedicated workstream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" y="41788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Migration is run as a parallel project track — it does not consume the full team. Feature sprints and migration sprints are planned independently.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453128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" y="4453128"/>
            <a:ext cx="82296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0" name="Shape 48"/>
          <p:cNvSpPr/>
          <p:nvPr/>
        </p:nvSpPr>
        <p:spPr>
          <a:xfrm>
            <a:off x="402336" y="4544568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1" name="Text 49"/>
          <p:cNvSpPr/>
          <p:nvPr/>
        </p:nvSpPr>
        <p:spPr>
          <a:xfrm>
            <a:off x="402336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" y="4489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Features completed before cutover ship on DSS; after cutover on Databricks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" y="46908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Any feature in flight at Go-Live week is evaluated: if complete → ship on DSS, if not → brief hold during 2-week parallel run, then deliver on Databricks.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AI  —  Natural Language Querying for SMArT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Users ask plain-English questions against SMArT's Delta Lake tables — no SQL, no dashboards. Three implementation paths, increasing in capability.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816352" cy="361188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89888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508760"/>
            <a:ext cx="402336" cy="40233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 READY NOW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Genie 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Standalone — zero code changes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Genie Space in Databricks pointing to smart_poc.smart.* Delta tables. Users ask questions directly in the Databricks workspace UI.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6D6A0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country has the highest P90 days?"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activation timelines for Argentina"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"Avg site activation rate across countries?"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Separate UI — users leave the SMArT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389888"/>
            <a:ext cx="2816352" cy="361188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1389888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Shape 28"/>
          <p:cNvSpPr/>
          <p:nvPr/>
        </p:nvSpPr>
        <p:spPr>
          <a:xfrm>
            <a:off x="3337560" y="1508760"/>
            <a:ext cx="402336" cy="40233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⚠  REQUIRES 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Embed Genie in App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Chat widget inside SMArT webapp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chat widget in the React frontend. Flask backend proxies calls to the Genie Conversation API. Results rendered inline in the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D166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92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0" name="Text 38"/>
          <p:cNvSpPr/>
          <p:nvPr/>
        </p:nvSpPr>
        <p:spPr>
          <a:xfrm>
            <a:off x="33558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Genie Conversation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92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2" name="Text 40"/>
          <p:cNvSpPr/>
          <p:nvPr/>
        </p:nvSpPr>
        <p:spPr>
          <a:xfrm>
            <a:off x="33558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Flask → Genie API proxy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92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4" name="Text 42"/>
          <p:cNvSpPr/>
          <p:nvPr/>
        </p:nvSpPr>
        <p:spPr>
          <a:xfrm>
            <a:off x="33558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SQL results inline in app UI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192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58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Cannot answer questions about live in-memory API results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9632" y="1389888"/>
            <a:ext cx="2816352" cy="3611880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99632" y="1389888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9360" y="150876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🔄  BEST OF BOTH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Write Results → Genie Queries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910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Most powerful approach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910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are saved back to Delta tables (site_activation_details_results etc.). Genie queries saved results — combines live app + historical analysis.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910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59" name="Text 57"/>
          <p:cNvSpPr/>
          <p:nvPr/>
        </p:nvSpPr>
        <p:spPr>
          <a:xfrm>
            <a:off x="63276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all plans created this week"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910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1" name="Text 59"/>
          <p:cNvSpPr/>
          <p:nvPr/>
        </p:nvSpPr>
        <p:spPr>
          <a:xfrm>
            <a:off x="63276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"Compare P90 dates across my last 3 runs"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3" name="Text 61"/>
          <p:cNvSpPr/>
          <p:nvPr/>
        </p:nvSpPr>
        <p:spPr>
          <a:xfrm>
            <a:off x="63276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analysis had the fastest activation?"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910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276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Requires result-persistence logic in app layer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956048"/>
            <a:ext cx="8631936" cy="128016"/>
          </a:xfrm>
          <a:prstGeom prst="rect">
            <a:avLst/>
          </a:prstGeom>
          <a:solidFill>
            <a:srgbClr val="9B5DE5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 —  Recommended Path &amp;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★  RECOMMENDED FOR PoC DEMO  —  OPTION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35024"/>
            <a:ext cx="73152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" y="1463040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3350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Open ATP GPD Expl workspace → Genie (sidebar)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956816"/>
            <a:ext cx="73152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" y="2084832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Create a Genie Space → connect to smart_poc.smart.*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578608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578608"/>
            <a:ext cx="73152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336" y="2706624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25786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Point at smart_category_activation_timelines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200400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200400"/>
            <a:ext cx="73152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" y="3328416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Demo alongside app — zero code changes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  CAN answer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16052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" y="416052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✓  Questions about Delta Lake tables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43484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</p:sp>
      <p:sp>
        <p:nvSpPr>
          <p:cNvPr id="34" name="Text 32"/>
          <p:cNvSpPr/>
          <p:nvPr/>
        </p:nvSpPr>
        <p:spPr>
          <a:xfrm>
            <a:off x="292608" y="443484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✓  Raw data, saved plans, timelines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70916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" y="470916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✓  Historical result comparisons (Opt 3)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✗  CANNOT answer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416052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0" name="Text 38"/>
          <p:cNvSpPr/>
          <p:nvPr/>
        </p:nvSpPr>
        <p:spPr>
          <a:xfrm>
            <a:off x="2340864" y="41605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</a:rPr>
              <a:t>✗  Live API/in-memory computation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04288" y="443484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2" name="Text 40"/>
          <p:cNvSpPr/>
          <p:nvPr/>
        </p:nvSpPr>
        <p:spPr>
          <a:xfrm>
            <a:off x="2340864" y="44348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</a:rPr>
              <a:t>✗  Runtime simulation state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04288" y="470916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4" name="Text 42"/>
          <p:cNvSpPr/>
          <p:nvPr/>
        </p:nvSpPr>
        <p:spPr>
          <a:xfrm>
            <a:off x="2340864" y="47091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</a:rPr>
              <a:t>✗  Unless Option 3 (write back) is implemented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OPTION 3  —  TARGET ARCHITECTURE  (Best of Both)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335024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37760" y="1380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SMArT Web 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37760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React + Flask/FastAPI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1883664"/>
            <a:ext cx="54864" cy="2377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1" name="Shape 49"/>
          <p:cNvSpPr/>
          <p:nvPr/>
        </p:nvSpPr>
        <p:spPr>
          <a:xfrm>
            <a:off x="4846320" y="2029968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937760" y="20756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Flask Backend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937760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Proxy → Genie Conversation API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578608"/>
            <a:ext cx="54864" cy="2377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5" name="Shape 53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937760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</a:rPr>
              <a:t>Delta Lake Tables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017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smart_poc.smart.*  +  results tables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3273552"/>
            <a:ext cx="54864" cy="2377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9" name="Shape 57"/>
          <p:cNvSpPr/>
          <p:nvPr/>
        </p:nvSpPr>
        <p:spPr>
          <a:xfrm>
            <a:off x="4846320" y="3419856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937760" y="34655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</a:rPr>
              <a:t>Genie Space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937760" y="37124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Natural language → SQL → Delta Lake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46320" y="4114800"/>
            <a:ext cx="3749040" cy="566928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4" name="Text 62"/>
          <p:cNvSpPr/>
          <p:nvPr/>
        </p:nvSpPr>
        <p:spPr>
          <a:xfrm>
            <a:off x="4992624" y="41513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Result write-back: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92624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DDE6"/>
                </a:solidFill>
              </a:rPr>
              <a:t>site_activation_details_results  ·  summary_results  →  queryable by Genie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Platform Migration – Dataiku to Databricks</dc:title>
  <dc:subject>PptxGenJS Presentation</dc:subject>
  <dc:creator>PptxGenJS</dc:creator>
  <cp:lastModifiedBy>PptxGenJS</cp:lastModifiedBy>
  <cp:revision>1</cp:revision>
  <dcterms:created xsi:type="dcterms:W3CDTF">2026-06-02T20:27:30Z</dcterms:created>
  <dcterms:modified xsi:type="dcterms:W3CDTF">2026-06-02T20:27:30Z</dcterms:modified>
</cp:coreProperties>
</file>