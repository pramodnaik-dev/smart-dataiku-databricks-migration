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8" r:id="rId9"/>
    <p:sldId id="262" r:id="rId10"/>
    <p:sldId id="263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334674-AC81-41D8-A1B2-9F47E067B627}" v="2" dt="2026-06-03T07:01:18.3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mod Naik" userId="ceb6df04-ef15-4d9b-a141-998a03559d75" providerId="ADAL" clId="{62E9B5AE-779D-4001-92D3-8FF830A8A9C1}"/>
    <pc:docChg chg="addSld delSld modSld">
      <pc:chgData name="Pramod Naik" userId="ceb6df04-ef15-4d9b-a141-998a03559d75" providerId="ADAL" clId="{62E9B5AE-779D-4001-92D3-8FF830A8A9C1}" dt="2026-06-03T07:01:36.551" v="7" actId="47"/>
      <pc:docMkLst>
        <pc:docMk/>
      </pc:docMkLst>
      <pc:sldChg chg="modSp mod">
        <pc:chgData name="Pramod Naik" userId="ceb6df04-ef15-4d9b-a141-998a03559d75" providerId="ADAL" clId="{62E9B5AE-779D-4001-92D3-8FF830A8A9C1}" dt="2026-06-03T06:59:30.620" v="2" actId="20577"/>
        <pc:sldMkLst>
          <pc:docMk/>
          <pc:sldMk cId="0" sldId="263"/>
        </pc:sldMkLst>
        <pc:spChg chg="mod">
          <ac:chgData name="Pramod Naik" userId="ceb6df04-ef15-4d9b-a141-998a03559d75" providerId="ADAL" clId="{62E9B5AE-779D-4001-92D3-8FF830A8A9C1}" dt="2026-06-03T06:59:22.589" v="0" actId="20577"/>
          <ac:spMkLst>
            <pc:docMk/>
            <pc:sldMk cId="0" sldId="263"/>
            <ac:spMk id="6" creationId="{00000000-0000-0000-0000-000000000000}"/>
          </ac:spMkLst>
        </pc:spChg>
        <pc:spChg chg="mod">
          <ac:chgData name="Pramod Naik" userId="ceb6df04-ef15-4d9b-a141-998a03559d75" providerId="ADAL" clId="{62E9B5AE-779D-4001-92D3-8FF830A8A9C1}" dt="2026-06-03T06:59:30.620" v="2" actId="20577"/>
          <ac:spMkLst>
            <pc:docMk/>
            <pc:sldMk cId="0" sldId="263"/>
            <ac:spMk id="7" creationId="{00000000-0000-0000-0000-000000000000}"/>
          </ac:spMkLst>
        </pc:spChg>
      </pc:sldChg>
      <pc:sldChg chg="add del setBg">
        <pc:chgData name="Pramod Naik" userId="ceb6df04-ef15-4d9b-a141-998a03559d75" providerId="ADAL" clId="{62E9B5AE-779D-4001-92D3-8FF830A8A9C1}" dt="2026-06-03T07:01:24.020" v="5" actId="47"/>
        <pc:sldMkLst>
          <pc:docMk/>
          <pc:sldMk cId="0" sldId="264"/>
        </pc:sldMkLst>
      </pc:sldChg>
      <pc:sldChg chg="add del setBg">
        <pc:chgData name="Pramod Naik" userId="ceb6df04-ef15-4d9b-a141-998a03559d75" providerId="ADAL" clId="{62E9B5AE-779D-4001-92D3-8FF830A8A9C1}" dt="2026-06-03T07:01:34.831" v="6" actId="47"/>
        <pc:sldMkLst>
          <pc:docMk/>
          <pc:sldMk cId="0" sldId="265"/>
        </pc:sldMkLst>
      </pc:sldChg>
      <pc:sldChg chg="add del setBg">
        <pc:chgData name="Pramod Naik" userId="ceb6df04-ef15-4d9b-a141-998a03559d75" providerId="ADAL" clId="{62E9B5AE-779D-4001-92D3-8FF830A8A9C1}" dt="2026-06-03T07:01:36.551" v="7" actId="47"/>
        <pc:sldMkLst>
          <pc:docMk/>
          <pc:sldMk cId="0" sldId="266"/>
        </pc:sldMkLst>
      </pc:sldChg>
      <pc:sldChg chg="add setBg">
        <pc:chgData name="Pramod Naik" userId="ceb6df04-ef15-4d9b-a141-998a03559d75" providerId="ADAL" clId="{62E9B5AE-779D-4001-92D3-8FF830A8A9C1}" dt="2026-06-03T07:01:18.353" v="4"/>
        <pc:sldMkLst>
          <pc:docMk/>
          <pc:sldMk cId="0" sldId="267"/>
        </pc:sldMkLst>
      </pc:sldChg>
      <pc:sldChg chg="add setBg">
        <pc:chgData name="Pramod Naik" userId="ceb6df04-ef15-4d9b-a141-998a03559d75" providerId="ADAL" clId="{62E9B5AE-779D-4001-92D3-8FF830A8A9C1}" dt="2026-06-03T07:01:18.353" v="4"/>
        <pc:sldMkLst>
          <pc:docMk/>
          <pc:sldMk cId="0" sldId="268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Dataiku DSS (Current)</c:v>
                </c:pt>
              </c:strCache>
            </c:strRef>
          </c:tx>
          <c:spPr>
            <a:solidFill>
              <a:srgbClr val="EF476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Licensing</c:v>
                </c:pt>
                <c:pt idx="1">
                  <c:v>Compute</c:v>
                </c:pt>
                <c:pt idx="2">
                  <c:v>Storage</c:v>
                </c:pt>
                <c:pt idx="3">
                  <c:v>Support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30900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F09-451D-B303-8DA701EBFF5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Databricks (Proposed)</c:v>
                </c:pt>
              </c:strCache>
            </c:strRef>
          </c:tx>
          <c:spPr>
            <a:solidFill>
              <a:srgbClr val="06D6A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Licensing</c:v>
                </c:pt>
                <c:pt idx="1">
                  <c:v>Compute</c:v>
                </c:pt>
                <c:pt idx="2">
                  <c:v>Storage</c:v>
                </c:pt>
                <c:pt idx="3">
                  <c:v>Support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4009</c:v>
                </c:pt>
                <c:pt idx="2">
                  <c:v>28</c:v>
                </c:pt>
                <c:pt idx="3">
                  <c:v>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F09-451D-B303-8DA701EBFF5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CCCC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44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CCCC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243B55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A2E45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4392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046720" y="0"/>
            <a:ext cx="1097280" cy="5143500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492240" y="457200"/>
            <a:ext cx="2377440" cy="2377440"/>
          </a:xfrm>
          <a:prstGeom prst="ellipse">
            <a:avLst/>
          </a:prstGeom>
          <a:solidFill>
            <a:srgbClr val="00B4D8">
              <a:alpha val="1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040880" y="1005840"/>
            <a:ext cx="1280160" cy="1280160"/>
          </a:xfrm>
          <a:prstGeom prst="ellipse">
            <a:avLst/>
          </a:prstGeom>
          <a:solidFill>
            <a:srgbClr val="00B4D8">
              <a:alpha val="3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65760" y="731520"/>
            <a:ext cx="2560320" cy="31089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65760" y="73152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PLATFORM MIGRATION PROPOSAL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65760" y="118872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365760" y="1993392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Dataiku DSS + Snowflake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365760" y="242316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Databricks Apps + Delta Lake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30632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FA3B1"/>
                </a:solidFill>
              </a:rPr>
              <a:t>May 2026  ·  v1.0  ·  Draft for Review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547872"/>
            <a:ext cx="1234440" cy="274320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65760" y="354787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0E0EF"/>
                </a:solidFill>
              </a:rPr>
              <a:t>Business Owners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719072" y="3547872"/>
            <a:ext cx="1234440" cy="274320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1719072" y="354787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0E0EF"/>
                </a:solidFill>
              </a:rPr>
              <a:t>Dev Team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072384" y="3547872"/>
            <a:ext cx="1234440" cy="274320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072384" y="354787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0E0EF"/>
                </a:solidFill>
              </a:rPr>
              <a:t>Management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425696" y="3547872"/>
            <a:ext cx="1234440" cy="274320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425696" y="354787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0E0EF"/>
                </a:solidFill>
              </a:rPr>
              <a:t>Digital/Platform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28016" y="4846320"/>
            <a:ext cx="9015984" cy="297180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274320" y="4846320"/>
            <a:ext cx="86868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</a:rPr>
              <a:t>ATP GPD Expl Workspace  ·  Unity Catalog: gpdip_smart_us_east_1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The Case for Change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724912" cy="1600200"/>
          </a:xfrm>
          <a:prstGeom prst="rect">
            <a:avLst/>
          </a:prstGeom>
          <a:solidFill>
            <a:srgbClr val="0D1B2A"/>
          </a:solidFill>
          <a:ln/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2724912" cy="73152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1078992"/>
            <a:ext cx="272491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20040" y="1847088"/>
            <a:ext cx="2724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Cost Reduction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2139696"/>
            <a:ext cx="2724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D0DDE6"/>
                </a:solidFill>
              </a:rPr>
              <a:t>$30,900 → ~$4,200/yr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64408" y="960120"/>
            <a:ext cx="2724912" cy="1600200"/>
          </a:xfrm>
          <a:prstGeom prst="rect">
            <a:avLst/>
          </a:prstGeom>
          <a:solidFill>
            <a:srgbClr val="0D1B2A"/>
          </a:solidFill>
          <a:ln/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264408" y="960120"/>
            <a:ext cx="2724912" cy="7315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64408" y="1078992"/>
            <a:ext cx="272491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$26.7K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3264408" y="1847088"/>
            <a:ext cx="2724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Annual Savings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64408" y="2139696"/>
            <a:ext cx="2724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D0DDE6"/>
                </a:solidFill>
              </a:rPr>
              <a:t>Break-even within year 1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08776" y="960120"/>
            <a:ext cx="2724912" cy="1600200"/>
          </a:xfrm>
          <a:prstGeom prst="rect">
            <a:avLst/>
          </a:prstGeom>
          <a:solidFill>
            <a:srgbClr val="0D1B2A"/>
          </a:solidFill>
          <a:ln/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208776" y="960120"/>
            <a:ext cx="2724912" cy="73152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208776" y="1078992"/>
            <a:ext cx="272491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 wks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6208776" y="1847088"/>
            <a:ext cx="2724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Migration Timeline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08776" y="2139696"/>
            <a:ext cx="2724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D0DDE6"/>
                </a:solidFill>
              </a:rPr>
              <a:t>Existing team, phased delivery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65760" y="27432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00B4D8"/>
                </a:solidFill>
              </a:rPr>
              <a:t>WHY MIGRATE NOW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3090672"/>
            <a:ext cx="420624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20040" y="3090672"/>
            <a:ext cx="73152" cy="749808"/>
          </a:xfrm>
          <a:prstGeom prst="rect">
            <a:avLst/>
          </a:prstGeom>
          <a:solidFill>
            <a:srgbClr val="EF47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84632" y="3145536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High Fixed Cost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" y="341071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44444"/>
                </a:solidFill>
              </a:rPr>
              <a:t>3 DSS Designer licenses @ $10,300 each — fixed regardless of usage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3968496"/>
            <a:ext cx="420624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20040" y="3968496"/>
            <a:ext cx="73152" cy="749808"/>
          </a:xfrm>
          <a:prstGeom prst="rect">
            <a:avLst/>
          </a:prstGeom>
          <a:solidFill>
            <a:srgbClr val="EF47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84632" y="402336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Platform Dependency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4632" y="428853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44444"/>
                </a:solidFill>
              </a:rPr>
              <a:t>Every deployment needs Platform Support team scheduling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00600" y="3090672"/>
            <a:ext cx="420624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800600" y="3090672"/>
            <a:ext cx="73152" cy="749808"/>
          </a:xfrm>
          <a:prstGeom prst="rect">
            <a:avLst/>
          </a:prstGeom>
          <a:solidFill>
            <a:srgbClr val="EF47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965192" y="3145536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Limited AI Ecosystem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65192" y="341071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44444"/>
                </a:solidFill>
              </a:rPr>
              <a:t>No native LLMs, MLflow, model serving, or vector search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800600" y="3968496"/>
            <a:ext cx="420624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4800600" y="3968496"/>
            <a:ext cx="73152" cy="749808"/>
          </a:xfrm>
          <a:prstGeom prst="rect">
            <a:avLst/>
          </a:prstGeom>
          <a:solidFill>
            <a:srgbClr val="EF47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965192" y="402336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Strategic Misalignment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965192" y="428853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44444"/>
                </a:solidFill>
              </a:rPr>
              <a:t>DSS + Snowflake outside GPDIP platform direction — growing technical debt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EF47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Current  →  Target Architecture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932688"/>
            <a:ext cx="3931920" cy="365760"/>
          </a:xfrm>
          <a:prstGeom prst="rect">
            <a:avLst/>
          </a:prstGeom>
          <a:solidFill>
            <a:srgbClr val="EF47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28600" y="93268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CURRENT  (Dataiku DSS + Snowflake)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1389888"/>
            <a:ext cx="3931920" cy="512064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28600" y="1389888"/>
            <a:ext cx="3931920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92608" y="144475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1"/>
                </a:solidFill>
              </a:rPr>
              <a:t>Platform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92608" y="164592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Dataiku DSS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8600" y="1956816"/>
            <a:ext cx="3931920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28600" y="1956816"/>
            <a:ext cx="3931920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92608" y="201168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1"/>
                </a:solidFill>
              </a:rPr>
              <a:t>Framework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92608" y="2212848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Python Flask / FastAPI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28600" y="2523744"/>
            <a:ext cx="3931920" cy="512064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28600" y="2523744"/>
            <a:ext cx="3931920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92608" y="257860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1"/>
                </a:solidFill>
              </a:rPr>
              <a:t>Database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92608" y="2779776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Snowflake  (14 tables, &lt;100 GB)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28600" y="3090672"/>
            <a:ext cx="3931920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228600" y="3090672"/>
            <a:ext cx="3931920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292608" y="3145536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1"/>
                </a:solidFill>
              </a:rPr>
              <a:t>Deployment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92608" y="3346704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Manual DSS Bundle — Platform Team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28600" y="3657600"/>
            <a:ext cx="3931920" cy="512064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228600" y="3657600"/>
            <a:ext cx="3931920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292608" y="3712464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1"/>
                </a:solidFill>
              </a:rPr>
              <a:t>Environments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92608" y="3913632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3 physically isolated DSS instances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28600" y="4224528"/>
            <a:ext cx="3931920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228600" y="4224528"/>
            <a:ext cx="3931920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292608" y="427939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1"/>
                </a:solidFill>
              </a:rPr>
              <a:t>AI / ML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92608" y="448056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Not available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297680" y="2286000"/>
            <a:ext cx="548640" cy="7315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251960" y="21031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</a:rPr>
              <a:t>→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4983480" y="932688"/>
            <a:ext cx="3931920" cy="3657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983480" y="93268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TARGET  (Databricks Apps + Delta Lake)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983480" y="1389888"/>
            <a:ext cx="3931920" cy="512064"/>
          </a:xfrm>
          <a:prstGeom prst="rect">
            <a:avLst/>
          </a:prstGeom>
          <a:solidFill>
            <a:srgbClr val="F0FD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4983480" y="1389888"/>
            <a:ext cx="3931920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047488" y="144475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1"/>
                </a:solidFill>
              </a:rPr>
              <a:t>Platform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047488" y="164592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Databricks Apps  (ATP GPD Expl)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983480" y="1956816"/>
            <a:ext cx="3931920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4983480" y="1956816"/>
            <a:ext cx="3931920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5047488" y="201168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1"/>
                </a:solidFill>
              </a:rPr>
              <a:t>Framework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047488" y="2212848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Python Flask / FastAPI  (unchanged)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983480" y="2523744"/>
            <a:ext cx="3931920" cy="512064"/>
          </a:xfrm>
          <a:prstGeom prst="rect">
            <a:avLst/>
          </a:prstGeom>
          <a:solidFill>
            <a:srgbClr val="F0FD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4983480" y="2523744"/>
            <a:ext cx="3931920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5047488" y="257860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1"/>
                </a:solidFill>
              </a:rPr>
              <a:t>Database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047488" y="2779776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Delta Lake  (Unity Catalog, dedicated)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983480" y="3090672"/>
            <a:ext cx="3931920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4983480" y="3090672"/>
            <a:ext cx="3931920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5047488" y="3145536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1"/>
                </a:solidFill>
              </a:rPr>
              <a:t>Deployment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047488" y="3346704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CI/CD  (GitHub Actions + DAB, automated)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4983480" y="3657600"/>
            <a:ext cx="3931920" cy="512064"/>
          </a:xfrm>
          <a:prstGeom prst="rect">
            <a:avLst/>
          </a:prstGeom>
          <a:solidFill>
            <a:srgbClr val="F0FD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4983480" y="3657600"/>
            <a:ext cx="3931920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5047488" y="3712464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1"/>
                </a:solidFill>
              </a:rPr>
              <a:t>Environments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047488" y="3913632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3 schemas in one catalog  (RBAC isolated)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4983480" y="4224528"/>
            <a:ext cx="3931920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4983480" y="4224528"/>
            <a:ext cx="3931920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5047488" y="427939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1"/>
                </a:solidFill>
              </a:rPr>
              <a:t>AI / ML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047488" y="448056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D6A0"/>
                </a:solidFill>
              </a:rPr>
              <a:t>MLflow · Model Serving · Genie AI  ✓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Cost Analysis &amp; ROI</a:t>
            </a:r>
            <a:endParaRPr lang="en-US" sz="26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868680"/>
          <a:ext cx="530352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5760720" y="96012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B4D8"/>
                </a:solidFill>
              </a:rPr>
              <a:t>DATABRICKS BREAKDOWN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760720" y="1298448"/>
            <a:ext cx="3108960" cy="402336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5852160" y="135331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DDE6"/>
                </a:solidFill>
              </a:rPr>
              <a:t>Prod App compute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863840" y="13533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6D6A0"/>
                </a:solidFill>
              </a:rPr>
              <a:t>~$2,964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760720" y="1755648"/>
            <a:ext cx="3108960" cy="402336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5852160" y="181051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DDE6"/>
                </a:solidFill>
              </a:rPr>
              <a:t>Dev App compute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863840" y="18105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6D6A0"/>
                </a:solidFill>
              </a:rPr>
              <a:t>~$494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760720" y="2212848"/>
            <a:ext cx="3108960" cy="402336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5852160" y="226771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DDE6"/>
                </a:solidFill>
              </a:rPr>
              <a:t>Stage App compute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863840" y="22677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6D6A0"/>
                </a:solidFill>
              </a:rPr>
              <a:t>~$76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760720" y="2670048"/>
            <a:ext cx="3108960" cy="402336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852160" y="272491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DDE6"/>
                </a:solidFill>
              </a:rPr>
              <a:t>Dev notebooks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863840" y="27249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6D6A0"/>
                </a:solidFill>
              </a:rPr>
              <a:t>~$475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760720" y="3127248"/>
            <a:ext cx="3108960" cy="402336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5852160" y="318211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DDE6"/>
                </a:solidFill>
              </a:rPr>
              <a:t>Delta Lake storage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7863840" y="31821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6D6A0"/>
                </a:solidFill>
              </a:rPr>
              <a:t>~$28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760720" y="3584448"/>
            <a:ext cx="3108960" cy="402336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5852160" y="363931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DDE6"/>
                </a:solidFill>
              </a:rPr>
              <a:t>SQL Warehouse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7863840" y="36393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6D6A0"/>
                </a:solidFill>
              </a:rPr>
              <a:t>~$200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760720" y="4069080"/>
            <a:ext cx="3108960" cy="502920"/>
          </a:xfrm>
          <a:prstGeom prst="rect">
            <a:avLst/>
          </a:prstGeom>
          <a:solidFill>
            <a:srgbClr val="06D6A0"/>
          </a:solidFill>
          <a:ln/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5760720" y="40690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TOTAL  ~$4,237 / year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274320" y="4498848"/>
            <a:ext cx="8595360" cy="512064"/>
          </a:xfrm>
          <a:prstGeom prst="rect">
            <a:avLst/>
          </a:prstGeom>
          <a:solidFill>
            <a:srgbClr val="243B55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365760" y="4498848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D6A0"/>
                </a:solidFill>
              </a:rPr>
              <a:t>💰  Annual Savings: ~$26,700  (86% reduction)  ·  All 3 environments included  ·  Break-even within Year 1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Deployment Model &amp; ADLC Compliance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93268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00B4D8"/>
                </a:solidFill>
              </a:rPr>
              <a:t>CI/CD DEPLOYMENT WORKFLOW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74320" y="1298448"/>
            <a:ext cx="4754880" cy="822960"/>
          </a:xfrm>
          <a:prstGeom prst="rect">
            <a:avLst/>
          </a:prstGeom>
          <a:solidFill>
            <a:srgbClr val="0D1B2A"/>
          </a:solidFill>
          <a:ln/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" y="1298448"/>
            <a:ext cx="91440" cy="8229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02920" y="1499616"/>
            <a:ext cx="420624" cy="420624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02920" y="1499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136245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develop branch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16459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CI/CD → smart-app-dev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1618488"/>
            <a:ext cx="1737360" cy="274320"/>
          </a:xfrm>
          <a:prstGeom prst="rect">
            <a:avLst/>
          </a:prstGeom>
          <a:solidFill>
            <a:srgbClr val="00B4D8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200400" y="16184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Dev self-testing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31520" y="2121408"/>
            <a:ext cx="54864" cy="201168"/>
          </a:xfrm>
          <a:prstGeom prst="rect">
            <a:avLst/>
          </a:prstGeom>
          <a:solidFill>
            <a:srgbClr val="8FA3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74320" y="2322576"/>
            <a:ext cx="4754880" cy="822960"/>
          </a:xfrm>
          <a:prstGeom prst="rect">
            <a:avLst/>
          </a:prstGeom>
          <a:solidFill>
            <a:srgbClr val="0D1B2A"/>
          </a:solidFill>
          <a:ln/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74320" y="2322576"/>
            <a:ext cx="91440" cy="822960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02920" y="2523744"/>
            <a:ext cx="420624" cy="420624"/>
          </a:xfrm>
          <a:prstGeom prst="ellipse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02920" y="25237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238658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</a:rPr>
              <a:t>stage branch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267004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CI/CD → smart-app-stage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0" y="2642616"/>
            <a:ext cx="1737360" cy="274320"/>
          </a:xfrm>
          <a:prstGeom prst="rect">
            <a:avLst/>
          </a:prstGeom>
          <a:solidFill>
            <a:srgbClr val="FFD166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200400" y="26426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QA / UAT (qTest)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31520" y="3145536"/>
            <a:ext cx="54864" cy="201168"/>
          </a:xfrm>
          <a:prstGeom prst="rect">
            <a:avLst/>
          </a:prstGeom>
          <a:solidFill>
            <a:srgbClr val="8FA3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274320" y="3346704"/>
            <a:ext cx="4754880" cy="822960"/>
          </a:xfrm>
          <a:prstGeom prst="rect">
            <a:avLst/>
          </a:prstGeom>
          <a:solidFill>
            <a:srgbClr val="0D1B2A"/>
          </a:solidFill>
          <a:ln/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274320" y="3346704"/>
            <a:ext cx="91440" cy="822960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502920" y="3547872"/>
            <a:ext cx="420624" cy="420624"/>
          </a:xfrm>
          <a:prstGeom prst="ellipse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02920" y="35478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05840" y="341071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D6A0"/>
                </a:solidFill>
              </a:rPr>
              <a:t>main branch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05840" y="3694176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CI/CD → smart-app-prod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0" y="3666744"/>
            <a:ext cx="1737360" cy="274320"/>
          </a:xfrm>
          <a:prstGeom prst="rect">
            <a:avLst/>
          </a:prstGeom>
          <a:solidFill>
            <a:srgbClr val="06D6A0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3200400" y="366674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RFC gate required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303520" y="93268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00B4D8"/>
                </a:solidFill>
              </a:rPr>
              <a:t>ADLC COMPLIANCE SATISFIED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303520" y="1298448"/>
            <a:ext cx="3566160" cy="5303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5303520" y="1298448"/>
            <a:ext cx="3566160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5376672" y="1453896"/>
            <a:ext cx="219456" cy="219456"/>
          </a:xfrm>
          <a:prstGeom prst="ellipse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5376672" y="145389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650992" y="1335024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QA vs Prod separation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650992" y="1572768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55555"/>
                </a:solidFill>
              </a:rPr>
              <a:t>Schema isolation + UC RBAC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303520" y="1883664"/>
            <a:ext cx="3566160" cy="530352"/>
          </a:xfrm>
          <a:prstGeom prst="rect">
            <a:avLst/>
          </a:prstGeom>
          <a:solidFill>
            <a:srgbClr val="F0FD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5303520" y="1883664"/>
            <a:ext cx="3566160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5376672" y="2039112"/>
            <a:ext cx="219456" cy="219456"/>
          </a:xfrm>
          <a:prstGeom prst="ellipse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5376672" y="203911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650992" y="1920240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Validation before prod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650992" y="2157984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55555"/>
                </a:solidFill>
              </a:rPr>
              <a:t>ServiceNow RFC gates CI/CD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303520" y="2468880"/>
            <a:ext cx="3566160" cy="5303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5303520" y="2468880"/>
            <a:ext cx="3566160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5376672" y="2624328"/>
            <a:ext cx="219456" cy="219456"/>
          </a:xfrm>
          <a:prstGeom prst="ellipse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5376672" y="262432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650992" y="2505456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Test evidence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650992" y="2743200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55555"/>
                </a:solidFill>
              </a:rPr>
              <a:t>qTest (unchanged)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303520" y="3054096"/>
            <a:ext cx="3566160" cy="530352"/>
          </a:xfrm>
          <a:prstGeom prst="rect">
            <a:avLst/>
          </a:prstGeom>
          <a:solidFill>
            <a:srgbClr val="F0FD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5303520" y="3054096"/>
            <a:ext cx="3566160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5376672" y="3209544"/>
            <a:ext cx="219456" cy="219456"/>
          </a:xfrm>
          <a:prstGeom prst="ellipse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5376672" y="320954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5650992" y="3090672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Change tracking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650992" y="3328416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55555"/>
                </a:solidFill>
              </a:rPr>
              <a:t>Jira + RFC + Git history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5303520" y="3639312"/>
            <a:ext cx="3566160" cy="5303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5303520" y="3639312"/>
            <a:ext cx="3566160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9" name="Shape 57"/>
          <p:cNvSpPr/>
          <p:nvPr/>
        </p:nvSpPr>
        <p:spPr>
          <a:xfrm>
            <a:off x="5376672" y="3794760"/>
            <a:ext cx="219456" cy="219456"/>
          </a:xfrm>
          <a:prstGeom prst="ellipse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5376672" y="37947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5650992" y="3675888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Prod access control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5650992" y="3913632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55555"/>
                </a:solidFill>
              </a:rPr>
              <a:t>CI/CD service principal only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5303520" y="4224528"/>
            <a:ext cx="3566160" cy="530352"/>
          </a:xfrm>
          <a:prstGeom prst="rect">
            <a:avLst/>
          </a:prstGeom>
          <a:solidFill>
            <a:srgbClr val="F0FD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4" name="Shape 62"/>
          <p:cNvSpPr/>
          <p:nvPr/>
        </p:nvSpPr>
        <p:spPr>
          <a:xfrm>
            <a:off x="5303520" y="4224528"/>
            <a:ext cx="3566160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5" name="Shape 63"/>
          <p:cNvSpPr/>
          <p:nvPr/>
        </p:nvSpPr>
        <p:spPr>
          <a:xfrm>
            <a:off x="5376672" y="4379976"/>
            <a:ext cx="219456" cy="219456"/>
          </a:xfrm>
          <a:prstGeom prst="ellipse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5376672" y="437997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5650992" y="4261104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Audit trail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5650992" y="4498848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55555"/>
                </a:solidFill>
              </a:rPr>
              <a:t>UC audit log + CI/CD runs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5303520" y="4809744"/>
            <a:ext cx="3566160" cy="21945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Text 68"/>
          <p:cNvSpPr/>
          <p:nvPr/>
        </p:nvSpPr>
        <p:spPr>
          <a:xfrm>
            <a:off x="5303520" y="480974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</a:rPr>
              <a:t>ServiceNow RFC process fully preserved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AI Integration Roadmap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56032" y="960120"/>
            <a:ext cx="2743200" cy="4005072"/>
          </a:xfrm>
          <a:prstGeom prst="rect">
            <a:avLst/>
          </a:prstGeom>
          <a:solidFill>
            <a:srgbClr val="243B55"/>
          </a:solidFill>
          <a:ln/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56032" y="960120"/>
            <a:ext cx="2743200" cy="7315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261872" y="1097280"/>
            <a:ext cx="731520" cy="73152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261872" y="1097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2A"/>
                </a:solidFill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47472" y="1938528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— Post Migration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93192" y="2542032"/>
            <a:ext cx="2468880" cy="47548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93192" y="2542032"/>
            <a:ext cx="54864" cy="47548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93776" y="2587752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Flask/FastAPI unchanged on Databricks Apps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93192" y="3090672"/>
            <a:ext cx="2468880" cy="47548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93192" y="3090672"/>
            <a:ext cx="54864" cy="47548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93776" y="3136392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Lake replaces Snowflake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93192" y="3639312"/>
            <a:ext cx="2468880" cy="47548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393192" y="3639312"/>
            <a:ext cx="54864" cy="47548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93776" y="3685032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user experience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93192" y="4187952"/>
            <a:ext cx="2468880" cy="47548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393192" y="4187952"/>
            <a:ext cx="54864" cy="47548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93776" y="4233672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for all future AI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27832" y="960120"/>
            <a:ext cx="2743200" cy="4005072"/>
          </a:xfrm>
          <a:prstGeom prst="rect">
            <a:avLst/>
          </a:prstGeom>
          <a:solidFill>
            <a:srgbClr val="243B55"/>
          </a:solidFill>
          <a:ln/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3227832" y="960120"/>
            <a:ext cx="2743200" cy="73152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233672" y="1097280"/>
            <a:ext cx="731520" cy="731520"/>
          </a:xfrm>
          <a:prstGeom prst="ellipse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233672" y="1097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2A"/>
                </a:solidFill>
              </a:rPr>
              <a:t>2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3319272" y="1938528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— What-If Analysis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364992" y="2542032"/>
            <a:ext cx="2468880" cy="47548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3364992" y="2542032"/>
            <a:ext cx="54864" cy="475488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3465576" y="2587752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MLflow: scenario comparison &amp; tracking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364992" y="3090672"/>
            <a:ext cx="2468880" cy="47548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364992" y="3090672"/>
            <a:ext cx="54864" cy="475488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465576" y="3136392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Workflows: parallel runs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364992" y="3639312"/>
            <a:ext cx="2468880" cy="47548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3364992" y="3639312"/>
            <a:ext cx="54864" cy="475488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3465576" y="3685032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Mosaic AI: instant enrollment predictions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364992" y="4187952"/>
            <a:ext cx="2468880" cy="47548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3364992" y="4187952"/>
            <a:ext cx="54864" cy="475488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3465576" y="4233672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 Feature Store: shared features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199632" y="960120"/>
            <a:ext cx="2743200" cy="4005072"/>
          </a:xfrm>
          <a:prstGeom prst="rect">
            <a:avLst/>
          </a:prstGeom>
          <a:solidFill>
            <a:srgbClr val="243B55"/>
          </a:solidFill>
          <a:ln/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6199632" y="960120"/>
            <a:ext cx="2743200" cy="73152"/>
          </a:xfrm>
          <a:prstGeom prst="rect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7205472" y="1097280"/>
            <a:ext cx="731520" cy="731520"/>
          </a:xfrm>
          <a:prstGeom prst="ellipse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7205472" y="1097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2A"/>
                </a:solidFill>
              </a:rPr>
              <a:t>3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6291072" y="1938528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B5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— Future Enhancements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336792" y="2542032"/>
            <a:ext cx="2468880" cy="47548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6336792" y="2542032"/>
            <a:ext cx="54864" cy="475488"/>
          </a:xfrm>
          <a:prstGeom prst="rect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6437376" y="2587752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Genie AI: natural language data queries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336792" y="3090672"/>
            <a:ext cx="2468880" cy="47548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6336792" y="3090672"/>
            <a:ext cx="54864" cy="475488"/>
          </a:xfrm>
          <a:prstGeom prst="rect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6437376" y="3136392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site activation ML model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336792" y="3639312"/>
            <a:ext cx="2468880" cy="47548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6336792" y="3639312"/>
            <a:ext cx="54864" cy="475488"/>
          </a:xfrm>
          <a:prstGeom prst="rect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6437376" y="3685032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LLM-assisted scenario generation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336792" y="4187952"/>
            <a:ext cx="2468880" cy="47548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Shape 52"/>
          <p:cNvSpPr/>
          <p:nvPr/>
        </p:nvSpPr>
        <p:spPr>
          <a:xfrm>
            <a:off x="6336792" y="4187952"/>
            <a:ext cx="54864" cy="475488"/>
          </a:xfrm>
          <a:prstGeom prst="rect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6437376" y="4233672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on simulation inputs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256032" y="4828032"/>
            <a:ext cx="8631936" cy="228600"/>
          </a:xfrm>
          <a:prstGeom prst="rect">
            <a:avLst/>
          </a:prstGeom>
          <a:solidFill>
            <a:srgbClr val="1A2E45"/>
          </a:solidFill>
          <a:ln w="12700">
            <a:solidFill>
              <a:srgbClr val="9B5D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256032" y="4828032"/>
            <a:ext cx="86319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0E0EF"/>
                </a:solidFill>
              </a:rPr>
              <a:t>All AI capabilities available at no additional infrastructure cost on Databricks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01168" y="91440"/>
            <a:ext cx="566928" cy="566928"/>
          </a:xfrm>
          <a:prstGeom prst="ellipse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01168" y="91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✦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0"/>
            <a:ext cx="7955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Genie AI  —  Natural Language Querying for SMArT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56032" y="896112"/>
            <a:ext cx="8631936" cy="384048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65760" y="89611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0E0EF"/>
                </a:solidFill>
              </a:rPr>
              <a:t>Users ask plain-English questions against SMArT's Delta Lake tables — no SQL, no dashboards. Three implementation paths, increasing in capability.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" y="1389888"/>
            <a:ext cx="2816352" cy="3611880"/>
          </a:xfrm>
          <a:prstGeom prst="rect">
            <a:avLst/>
          </a:prstGeom>
          <a:solidFill>
            <a:srgbClr val="0A2A1A"/>
          </a:solidFill>
          <a:ln w="12700">
            <a:solidFill>
              <a:srgbClr val="06D6A0"/>
            </a:solidFill>
            <a:prstDash val="solid"/>
          </a:ln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56032" y="1389888"/>
            <a:ext cx="2816352" cy="64008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65760" y="1508760"/>
            <a:ext cx="402336" cy="402336"/>
          </a:xfrm>
          <a:prstGeom prst="ellipse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65760" y="1508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1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41248" y="1536192"/>
            <a:ext cx="2139696" cy="320040"/>
          </a:xfrm>
          <a:prstGeom prst="rect">
            <a:avLst/>
          </a:prstGeom>
          <a:solidFill>
            <a:srgbClr val="06D6A0">
              <a:alpha val="2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41248" y="1536192"/>
            <a:ext cx="2139696" cy="32004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D6A0"/>
                </a:solidFill>
              </a:rPr>
              <a:t>✅  READY NOW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7472" y="1965960"/>
            <a:ext cx="2633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D6A0"/>
                </a:solidFill>
              </a:rPr>
              <a:t>Genie Space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7472" y="2267712"/>
            <a:ext cx="2633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D0DDE6"/>
                </a:solidFill>
              </a:rPr>
              <a:t>Standalone — zero code changes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47472" y="2560320"/>
            <a:ext cx="26334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Genie Space in Databricks pointing to smart_poc.smart.* Delta tables. Users ask questions directly in the Databricks workspace UI.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47472" y="3236976"/>
            <a:ext cx="2633472" cy="182880"/>
          </a:xfrm>
          <a:prstGeom prst="rect">
            <a:avLst/>
          </a:prstGeom>
          <a:solidFill>
            <a:srgbClr val="06D6A0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47472" y="3236976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06D6A0"/>
                </a:solidFill>
              </a:rPr>
              <a:t>EXAMPLE QUESTIONS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47472" y="3456432"/>
            <a:ext cx="2633472" cy="274320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84048" y="34564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E0EF"/>
                </a:solidFill>
              </a:rPr>
              <a:t>💬  "Which country has the highest P90 days?"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47472" y="3785616"/>
            <a:ext cx="2633472" cy="274320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84048" y="378561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E0EF"/>
                </a:solidFill>
              </a:rPr>
              <a:t>💬  "Show activation timelines for Argentina"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47472" y="4114800"/>
            <a:ext cx="2633472" cy="274320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84048" y="41148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E0EF"/>
                </a:solidFill>
              </a:rPr>
              <a:t>💬  "Avg site activation rate across countries?"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47472" y="4462272"/>
            <a:ext cx="2633472" cy="420624"/>
          </a:xfrm>
          <a:prstGeom prst="rect">
            <a:avLst/>
          </a:prstGeom>
          <a:solidFill>
            <a:srgbClr val="1A2E45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84048" y="4462272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Separate UI — users leave the SMArT app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227832" y="1389888"/>
            <a:ext cx="2816352" cy="3611880"/>
          </a:xfrm>
          <a:prstGeom prst="rect">
            <a:avLst/>
          </a:prstGeom>
          <a:solidFill>
            <a:srgbClr val="1A1500"/>
          </a:solidFill>
          <a:ln w="12700">
            <a:solidFill>
              <a:srgbClr val="FFD166"/>
            </a:solidFill>
            <a:prstDash val="solid"/>
          </a:ln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3227832" y="1389888"/>
            <a:ext cx="2816352" cy="64008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3337560" y="1508760"/>
            <a:ext cx="402336" cy="402336"/>
          </a:xfrm>
          <a:prstGeom prst="ellipse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3337560" y="1508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2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813048" y="1536192"/>
            <a:ext cx="2139696" cy="320040"/>
          </a:xfrm>
          <a:prstGeom prst="rect">
            <a:avLst/>
          </a:prstGeom>
          <a:solidFill>
            <a:srgbClr val="FFD166">
              <a:alpha val="2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3813048" y="1536192"/>
            <a:ext cx="2139696" cy="32004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D166"/>
                </a:solidFill>
              </a:rPr>
              <a:t>⚠  REQUIRES WORK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319272" y="1965960"/>
            <a:ext cx="2633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166"/>
                </a:solidFill>
              </a:rPr>
              <a:t>Embed Genie in App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319272" y="2267712"/>
            <a:ext cx="2633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D0DDE6"/>
                </a:solidFill>
              </a:rPr>
              <a:t>Chat widget inside SMArT webapp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319272" y="2560320"/>
            <a:ext cx="26334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chat widget in the React frontend. Flask backend proxies calls to the Genie Conversation API. Results rendered inline in the app.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319272" y="3236976"/>
            <a:ext cx="2633472" cy="182880"/>
          </a:xfrm>
          <a:prstGeom prst="rect">
            <a:avLst/>
          </a:prstGeom>
          <a:solidFill>
            <a:srgbClr val="FFD166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3319272" y="3236976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D166"/>
                </a:solidFill>
              </a:rPr>
              <a:t>EXAMPLE QUESTIONS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3319272" y="3456432"/>
            <a:ext cx="2633472" cy="274320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3355848" y="34564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E0EF"/>
                </a:solidFill>
              </a:rPr>
              <a:t>💬  Genie Conversation API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319272" y="3785616"/>
            <a:ext cx="2633472" cy="274320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3355848" y="378561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E0EF"/>
                </a:solidFill>
              </a:rPr>
              <a:t>💬  Flask → Genie API proxy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319272" y="4114800"/>
            <a:ext cx="2633472" cy="274320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3355848" y="41148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E0EF"/>
                </a:solidFill>
              </a:rPr>
              <a:t>💬  SQL results inline in app UI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319272" y="4462272"/>
            <a:ext cx="2633472" cy="420624"/>
          </a:xfrm>
          <a:prstGeom prst="rect">
            <a:avLst/>
          </a:prstGeom>
          <a:solidFill>
            <a:srgbClr val="1A2E45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3355848" y="4462272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Cannot answer questions about live in-memory API results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199632" y="1389888"/>
            <a:ext cx="2816352" cy="3611880"/>
          </a:xfrm>
          <a:prstGeom prst="rect">
            <a:avLst/>
          </a:prstGeom>
          <a:solidFill>
            <a:srgbClr val="001A20"/>
          </a:solidFill>
          <a:ln w="12700">
            <a:solidFill>
              <a:srgbClr val="00B4D8"/>
            </a:solidFill>
            <a:prstDash val="solid"/>
          </a:ln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6199632" y="1389888"/>
            <a:ext cx="2816352" cy="6400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6309360" y="1508760"/>
            <a:ext cx="402336" cy="402336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6309360" y="1508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3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6784848" y="1536192"/>
            <a:ext cx="2139696" cy="320040"/>
          </a:xfrm>
          <a:prstGeom prst="rect">
            <a:avLst/>
          </a:prstGeom>
          <a:solidFill>
            <a:srgbClr val="00B4D8">
              <a:alpha val="2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6784848" y="1536192"/>
            <a:ext cx="2139696" cy="32004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D8"/>
                </a:solidFill>
              </a:rPr>
              <a:t>🔄  BEST OF BOTH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291072" y="1965960"/>
            <a:ext cx="2633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</a:rPr>
              <a:t>Write Results → Genie Queries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6291072" y="2267712"/>
            <a:ext cx="2633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D0DDE6"/>
                </a:solidFill>
              </a:rPr>
              <a:t>Most powerful approach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291072" y="2560320"/>
            <a:ext cx="26334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results are saved back to Delta tables (site_activation_details_results etc.). Genie queries saved results — combines live app + historical analysis.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6291072" y="3236976"/>
            <a:ext cx="2633472" cy="182880"/>
          </a:xfrm>
          <a:prstGeom prst="rect">
            <a:avLst/>
          </a:prstGeom>
          <a:solidFill>
            <a:srgbClr val="00B4D8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6291072" y="3236976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00B4D8"/>
                </a:solidFill>
              </a:rPr>
              <a:t>EXAMPLE QUESTIONS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6291072" y="3456432"/>
            <a:ext cx="2633472" cy="274320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6327648" y="34564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E0EF"/>
                </a:solidFill>
              </a:rPr>
              <a:t>💬  "Show all plans created this week"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6291072" y="3785616"/>
            <a:ext cx="2633472" cy="274320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6327648" y="378561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E0EF"/>
                </a:solidFill>
              </a:rPr>
              <a:t>💬  "Compare P90 dates across my last 3 runs"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6291072" y="4114800"/>
            <a:ext cx="2633472" cy="274320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/>
          <p:nvPr/>
        </p:nvSpPr>
        <p:spPr>
          <a:xfrm>
            <a:off x="6327648" y="41148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E0EF"/>
                </a:solidFill>
              </a:rPr>
              <a:t>💬  "Which analysis had the fastest activation?"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6291072" y="4462272"/>
            <a:ext cx="2633472" cy="420624"/>
          </a:xfrm>
          <a:prstGeom prst="rect">
            <a:avLst/>
          </a:prstGeom>
          <a:solidFill>
            <a:srgbClr val="1A2E45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6327648" y="4462272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Requires result-persistence logic in app layer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256032" y="4956048"/>
            <a:ext cx="8631936" cy="128016"/>
          </a:xfrm>
          <a:prstGeom prst="rect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01168" y="91440"/>
            <a:ext cx="566928" cy="566928"/>
          </a:xfrm>
          <a:prstGeom prst="ellipse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01168" y="91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✦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0"/>
            <a:ext cx="7955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Genie  —  Recommended Path &amp; Architecture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56032" y="896112"/>
            <a:ext cx="4069080" cy="347472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56032" y="896112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★  RECOMMENDED FOR PoC DEMO  —  OPTION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" y="1335024"/>
            <a:ext cx="406908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56032" y="1335024"/>
            <a:ext cx="73152" cy="548640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02336" y="1463040"/>
            <a:ext cx="292608" cy="292608"/>
          </a:xfrm>
          <a:prstGeom prst="ellipse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02336" y="1463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86384" y="1335024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Open ATP GPD Expl workspace → Genie (sidebar)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56032" y="1956816"/>
            <a:ext cx="406908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56032" y="1956816"/>
            <a:ext cx="73152" cy="548640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02336" y="2084832"/>
            <a:ext cx="292608" cy="292608"/>
          </a:xfrm>
          <a:prstGeom prst="ellipse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02336" y="20848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86384" y="1956816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Create a Genie Space → connect to smart_poc.smart.*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56032" y="2578608"/>
            <a:ext cx="406908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256032" y="2578608"/>
            <a:ext cx="73152" cy="548640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02336" y="2706624"/>
            <a:ext cx="292608" cy="292608"/>
          </a:xfrm>
          <a:prstGeom prst="ellipse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02336" y="27066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86384" y="2578608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Point at smart_category_activation_timelines table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56032" y="3200400"/>
            <a:ext cx="406908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256032" y="3200400"/>
            <a:ext cx="73152" cy="548640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02336" y="3328416"/>
            <a:ext cx="292608" cy="292608"/>
          </a:xfrm>
          <a:prstGeom prst="ellipse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02336" y="33284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86384" y="32004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Demo alongside app — zero code changes required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56032" y="3840480"/>
            <a:ext cx="1920240" cy="274320"/>
          </a:xfrm>
          <a:prstGeom prst="rect">
            <a:avLst/>
          </a:prstGeom>
          <a:solidFill>
            <a:srgbClr val="06D6A0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256032" y="38404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✓  CAN answer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56032" y="4160520"/>
            <a:ext cx="1920240" cy="237744"/>
          </a:xfrm>
          <a:prstGeom prst="rect">
            <a:avLst/>
          </a:prstGeom>
          <a:solidFill>
            <a:srgbClr val="E8FF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292608" y="4160520"/>
            <a:ext cx="18653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</a:rPr>
              <a:t>✓  Questions about Delta Lake tables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56032" y="4434840"/>
            <a:ext cx="1920240" cy="237744"/>
          </a:xfrm>
          <a:prstGeom prst="rect">
            <a:avLst/>
          </a:prstGeom>
          <a:solidFill>
            <a:srgbClr val="E8FF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292608" y="4434840"/>
            <a:ext cx="18653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</a:rPr>
              <a:t>✓  Raw data, saved plans, timelines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56032" y="4709160"/>
            <a:ext cx="1920240" cy="237744"/>
          </a:xfrm>
          <a:prstGeom prst="rect">
            <a:avLst/>
          </a:prstGeom>
          <a:solidFill>
            <a:srgbClr val="E8FF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292608" y="4709160"/>
            <a:ext cx="18653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</a:rPr>
              <a:t>✓  Historical result comparisons (Opt 3)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304288" y="3840480"/>
            <a:ext cx="2011680" cy="274320"/>
          </a:xfrm>
          <a:prstGeom prst="rect">
            <a:avLst/>
          </a:prstGeom>
          <a:solidFill>
            <a:srgbClr val="EF476F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2304288" y="3840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✗  CANNOT answer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304288" y="4160520"/>
            <a:ext cx="2011680" cy="237744"/>
          </a:xfrm>
          <a:prstGeom prst="rect">
            <a:avLst/>
          </a:prstGeom>
          <a:solidFill>
            <a:srgbClr val="FFF0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2340864" y="4160520"/>
            <a:ext cx="1956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F476F"/>
                </a:solidFill>
              </a:rPr>
              <a:t>✗  Live API/in-memory computation results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304288" y="4434840"/>
            <a:ext cx="2011680" cy="237744"/>
          </a:xfrm>
          <a:prstGeom prst="rect">
            <a:avLst/>
          </a:prstGeom>
          <a:solidFill>
            <a:srgbClr val="FFF0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2340864" y="4434840"/>
            <a:ext cx="1956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F476F"/>
                </a:solidFill>
              </a:rPr>
              <a:t>✗  Runtime simulation state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304288" y="4709160"/>
            <a:ext cx="2011680" cy="237744"/>
          </a:xfrm>
          <a:prstGeom prst="rect">
            <a:avLst/>
          </a:prstGeom>
          <a:solidFill>
            <a:srgbClr val="FFF0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2340864" y="4709160"/>
            <a:ext cx="1956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F476F"/>
                </a:solidFill>
              </a:rPr>
              <a:t>✗  Unless Option 3 (write back) is implemented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572000" y="896112"/>
            <a:ext cx="4315968" cy="347472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4572000" y="896112"/>
            <a:ext cx="4315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</a:rPr>
              <a:t>OPTION 3  —  TARGET ARCHITECTURE  (Best of Both)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846320" y="1335024"/>
            <a:ext cx="374904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4937760" y="1380744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SMArT Web App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937760" y="1627632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D0DDE6"/>
                </a:solidFill>
              </a:rPr>
              <a:t>React + Flask/FastAPI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675120" y="1883664"/>
            <a:ext cx="54864" cy="2377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4846320" y="2029968"/>
            <a:ext cx="374904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90E0EF"/>
            </a:solidFill>
            <a:prstDash val="solid"/>
          </a:ln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4937760" y="207568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0E0EF"/>
                </a:solidFill>
              </a:rPr>
              <a:t>Flask Backend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4937760" y="2322576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D0DDE6"/>
                </a:solidFill>
              </a:rPr>
              <a:t>Proxy → Genie Conversation API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6675120" y="2578608"/>
            <a:ext cx="54864" cy="2377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Shape 53"/>
          <p:cNvSpPr/>
          <p:nvPr/>
        </p:nvSpPr>
        <p:spPr>
          <a:xfrm>
            <a:off x="4846320" y="2724912"/>
            <a:ext cx="374904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9B5DE5"/>
            </a:solidFill>
            <a:prstDash val="solid"/>
          </a:ln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4937760" y="277063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B5DE5"/>
                </a:solidFill>
              </a:rPr>
              <a:t>Delta Lake Tables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4937760" y="3017520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D0DDE6"/>
                </a:solidFill>
              </a:rPr>
              <a:t>smart_poc.smart.*  +  results tables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6675120" y="3273552"/>
            <a:ext cx="54864" cy="2377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9" name="Shape 57"/>
          <p:cNvSpPr/>
          <p:nvPr/>
        </p:nvSpPr>
        <p:spPr>
          <a:xfrm>
            <a:off x="4846320" y="3419856"/>
            <a:ext cx="374904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9B5DE5"/>
            </a:solidFill>
            <a:prstDash val="solid"/>
          </a:ln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4937760" y="3465576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B5DE5"/>
                </a:solidFill>
              </a:rPr>
              <a:t>Genie Space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4937760" y="3712464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D0DDE6"/>
                </a:solidFill>
              </a:rPr>
              <a:t>Natural language → SQL → Delta Lake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4846320" y="4114800"/>
            <a:ext cx="3749040" cy="566928"/>
          </a:xfrm>
          <a:prstGeom prst="rect">
            <a:avLst/>
          </a:prstGeom>
          <a:solidFill>
            <a:srgbClr val="001A2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Shape 61"/>
          <p:cNvSpPr/>
          <p:nvPr/>
        </p:nvSpPr>
        <p:spPr>
          <a:xfrm>
            <a:off x="4846320" y="4114800"/>
            <a:ext cx="73152" cy="56692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4992624" y="4151376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</a:rPr>
              <a:t>Result write-back: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4992624" y="435254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D0DDE6"/>
                </a:solidFill>
              </a:rPr>
              <a:t>site_activation_details_results  ·  summary_results  →  queryable by Genie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Migration Plan  —  20 Weeks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82880" y="960120"/>
            <a:ext cx="1627632" cy="4041648"/>
          </a:xfrm>
          <a:prstGeom prst="rect">
            <a:avLst/>
          </a:prstGeom>
          <a:solidFill>
            <a:srgbClr val="0D1B2A"/>
          </a:solidFill>
          <a:ln/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82880" y="960120"/>
            <a:ext cx="1627632" cy="6400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68096" y="1078992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68096" y="1078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37744" y="1627632"/>
            <a:ext cx="1517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B4D8"/>
                </a:solidFill>
              </a:rPr>
              <a:t>Foundation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9184" y="2084832"/>
            <a:ext cx="1335024" cy="256032"/>
          </a:xfrm>
          <a:prstGeom prst="rect">
            <a:avLst/>
          </a:prstGeom>
          <a:solidFill>
            <a:srgbClr val="00B4D8">
              <a:alpha val="2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29184" y="2084832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Wks 1–4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2468880"/>
            <a:ext cx="1444752" cy="658368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74320" y="2468880"/>
            <a:ext cx="54864" cy="65836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65760" y="2542032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Unity Catalog + RBAC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3218688"/>
            <a:ext cx="1444752" cy="658368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74320" y="3218688"/>
            <a:ext cx="54864" cy="65836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65760" y="3291840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 setup (DAB)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3968496"/>
            <a:ext cx="1444752" cy="658368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274320" y="3968496"/>
            <a:ext cx="54864" cy="65836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65760" y="4041648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ADLC compliance sign-off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956816" y="960120"/>
            <a:ext cx="1627632" cy="4041648"/>
          </a:xfrm>
          <a:prstGeom prst="rect">
            <a:avLst/>
          </a:prstGeom>
          <a:solidFill>
            <a:srgbClr val="0D1B2A"/>
          </a:solidFill>
          <a:ln/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1956816" y="960120"/>
            <a:ext cx="1627632" cy="64008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2542032" y="1078992"/>
            <a:ext cx="457200" cy="457200"/>
          </a:xfrm>
          <a:prstGeom prst="ellipse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2542032" y="1078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2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011680" y="1627632"/>
            <a:ext cx="1517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D166"/>
                </a:solidFill>
              </a:rPr>
              <a:t>Data Migration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103120" y="2084832"/>
            <a:ext cx="1335024" cy="256032"/>
          </a:xfrm>
          <a:prstGeom prst="rect">
            <a:avLst/>
          </a:prstGeom>
          <a:solidFill>
            <a:srgbClr val="FFD166">
              <a:alpha val="2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103120" y="2084832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Wks 5–8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048256" y="2468880"/>
            <a:ext cx="1444752" cy="658368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2048256" y="2468880"/>
            <a:ext cx="54864" cy="658368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2139696" y="2542032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14 Snowflake tables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048256" y="3218688"/>
            <a:ext cx="1444752" cy="658368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2048256" y="3218688"/>
            <a:ext cx="54864" cy="658368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2139696" y="3291840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Lake schema validation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048256" y="3968496"/>
            <a:ext cx="1444752" cy="658368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2048256" y="3968496"/>
            <a:ext cx="54864" cy="658368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2139696" y="4041648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connector update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730752" y="960120"/>
            <a:ext cx="1627632" cy="4041648"/>
          </a:xfrm>
          <a:prstGeom prst="rect">
            <a:avLst/>
          </a:prstGeom>
          <a:solidFill>
            <a:srgbClr val="0D1B2A"/>
          </a:solidFill>
          <a:ln/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3730752" y="960120"/>
            <a:ext cx="1627632" cy="64008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4315968" y="1078992"/>
            <a:ext cx="457200" cy="457200"/>
          </a:xfrm>
          <a:prstGeom prst="ellipse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4315968" y="1078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3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3785616" y="1627632"/>
            <a:ext cx="1517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D6A0"/>
                </a:solidFill>
              </a:rPr>
              <a:t>App Migration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877056" y="2084832"/>
            <a:ext cx="1335024" cy="256032"/>
          </a:xfrm>
          <a:prstGeom prst="rect">
            <a:avLst/>
          </a:prstGeom>
          <a:solidFill>
            <a:srgbClr val="06D6A0">
              <a:alpha val="2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3877056" y="2084832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Wks 5–12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822192" y="2468880"/>
            <a:ext cx="1444752" cy="658368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3822192" y="2468880"/>
            <a:ext cx="54864" cy="658368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3913632" y="2542032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Flask app on Databricks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822192" y="3218688"/>
            <a:ext cx="1444752" cy="658368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3822192" y="3218688"/>
            <a:ext cx="54864" cy="658368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3913632" y="3291840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Multi-env config adaptation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822192" y="3968496"/>
            <a:ext cx="1444752" cy="658368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3822192" y="3968496"/>
            <a:ext cx="54864" cy="658368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3913632" y="4041648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testing iteration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504688" y="960120"/>
            <a:ext cx="1627632" cy="4041648"/>
          </a:xfrm>
          <a:prstGeom prst="rect">
            <a:avLst/>
          </a:prstGeom>
          <a:solidFill>
            <a:srgbClr val="0D1B2A"/>
          </a:solidFill>
          <a:ln/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4" name="Shape 52"/>
          <p:cNvSpPr/>
          <p:nvPr/>
        </p:nvSpPr>
        <p:spPr>
          <a:xfrm>
            <a:off x="5504688" y="960120"/>
            <a:ext cx="1627632" cy="64008"/>
          </a:xfrm>
          <a:prstGeom prst="rect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Shape 53"/>
          <p:cNvSpPr/>
          <p:nvPr/>
        </p:nvSpPr>
        <p:spPr>
          <a:xfrm>
            <a:off x="6089904" y="1078992"/>
            <a:ext cx="457200" cy="457200"/>
          </a:xfrm>
          <a:prstGeom prst="ellipse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6089904" y="1078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4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5559552" y="1627632"/>
            <a:ext cx="1517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B5DE5"/>
                </a:solidFill>
              </a:rPr>
              <a:t>QA &amp; Validation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5650992" y="2084832"/>
            <a:ext cx="1335024" cy="256032"/>
          </a:xfrm>
          <a:prstGeom prst="rect">
            <a:avLst/>
          </a:prstGeom>
          <a:solidFill>
            <a:srgbClr val="9B5DE5">
              <a:alpha val="2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5650992" y="2084832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Wks 13–16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5596128" y="2468880"/>
            <a:ext cx="1444752" cy="658368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Shape 59"/>
          <p:cNvSpPr/>
          <p:nvPr/>
        </p:nvSpPr>
        <p:spPr>
          <a:xfrm>
            <a:off x="5596128" y="2468880"/>
            <a:ext cx="54864" cy="658368"/>
          </a:xfrm>
          <a:prstGeom prst="rect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5687568" y="2542032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QA/UAT in stage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596128" y="3218688"/>
            <a:ext cx="1444752" cy="658368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4" name="Shape 62"/>
          <p:cNvSpPr/>
          <p:nvPr/>
        </p:nvSpPr>
        <p:spPr>
          <a:xfrm>
            <a:off x="5596128" y="3218688"/>
            <a:ext cx="54864" cy="658368"/>
          </a:xfrm>
          <a:prstGeom prst="rect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5687568" y="3291840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qTest evidence capture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5596128" y="3968496"/>
            <a:ext cx="1444752" cy="658368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7" name="Shape 65"/>
          <p:cNvSpPr/>
          <p:nvPr/>
        </p:nvSpPr>
        <p:spPr>
          <a:xfrm>
            <a:off x="5596128" y="3968496"/>
            <a:ext cx="54864" cy="658368"/>
          </a:xfrm>
          <a:prstGeom prst="rect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5687568" y="4041648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RFC raised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7278624" y="960120"/>
            <a:ext cx="1627632" cy="4041648"/>
          </a:xfrm>
          <a:prstGeom prst="rect">
            <a:avLst/>
          </a:prstGeom>
          <a:solidFill>
            <a:srgbClr val="0D1B2A"/>
          </a:solidFill>
          <a:ln/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0" name="Shape 68"/>
          <p:cNvSpPr/>
          <p:nvPr/>
        </p:nvSpPr>
        <p:spPr>
          <a:xfrm>
            <a:off x="7278624" y="960120"/>
            <a:ext cx="1627632" cy="64008"/>
          </a:xfrm>
          <a:prstGeom prst="rect">
            <a:avLst/>
          </a:prstGeom>
          <a:solidFill>
            <a:srgbClr val="EF47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1" name="Shape 69"/>
          <p:cNvSpPr/>
          <p:nvPr/>
        </p:nvSpPr>
        <p:spPr>
          <a:xfrm>
            <a:off x="7863840" y="1078992"/>
            <a:ext cx="457200" cy="457200"/>
          </a:xfrm>
          <a:prstGeom prst="ellipse">
            <a:avLst/>
          </a:prstGeom>
          <a:solidFill>
            <a:srgbClr val="EF47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2" name="Text 70"/>
          <p:cNvSpPr/>
          <p:nvPr/>
        </p:nvSpPr>
        <p:spPr>
          <a:xfrm>
            <a:off x="7863840" y="1078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5</a:t>
            </a:r>
            <a:endParaRPr lang="en-US" sz="1400" dirty="0"/>
          </a:p>
        </p:txBody>
      </p:sp>
      <p:sp>
        <p:nvSpPr>
          <p:cNvPr id="73" name="Text 71"/>
          <p:cNvSpPr/>
          <p:nvPr/>
        </p:nvSpPr>
        <p:spPr>
          <a:xfrm>
            <a:off x="7333488" y="1627632"/>
            <a:ext cx="1517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F476F"/>
                </a:solidFill>
              </a:rPr>
              <a:t>Go-Live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7424928" y="2084832"/>
            <a:ext cx="1335024" cy="256032"/>
          </a:xfrm>
          <a:prstGeom prst="rect">
            <a:avLst/>
          </a:prstGeom>
          <a:solidFill>
            <a:srgbClr val="EF476F">
              <a:alpha val="2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5" name="Text 73"/>
          <p:cNvSpPr/>
          <p:nvPr/>
        </p:nvSpPr>
        <p:spPr>
          <a:xfrm>
            <a:off x="7424928" y="2084832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Wks 17–20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7370064" y="2468880"/>
            <a:ext cx="1444752" cy="658368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7" name="Shape 75"/>
          <p:cNvSpPr/>
          <p:nvPr/>
        </p:nvSpPr>
        <p:spPr>
          <a:xfrm>
            <a:off x="7370064" y="2468880"/>
            <a:ext cx="54864" cy="658368"/>
          </a:xfrm>
          <a:prstGeom prst="rect">
            <a:avLst/>
          </a:prstGeom>
          <a:solidFill>
            <a:srgbClr val="EF47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8" name="Text 76"/>
          <p:cNvSpPr/>
          <p:nvPr/>
        </p:nvSpPr>
        <p:spPr>
          <a:xfrm>
            <a:off x="7461504" y="2542032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approval → prod deploy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7370064" y="3218688"/>
            <a:ext cx="1444752" cy="658368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0" name="Shape 78"/>
          <p:cNvSpPr/>
          <p:nvPr/>
        </p:nvSpPr>
        <p:spPr>
          <a:xfrm>
            <a:off x="7370064" y="3218688"/>
            <a:ext cx="54864" cy="658368"/>
          </a:xfrm>
          <a:prstGeom prst="rect">
            <a:avLst/>
          </a:prstGeom>
          <a:solidFill>
            <a:srgbClr val="EF47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1" name="Text 79"/>
          <p:cNvSpPr/>
          <p:nvPr/>
        </p:nvSpPr>
        <p:spPr>
          <a:xfrm>
            <a:off x="7461504" y="3291840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2-week parallel run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7370064" y="3968496"/>
            <a:ext cx="1444752" cy="658368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3" name="Shape 81"/>
          <p:cNvSpPr/>
          <p:nvPr/>
        </p:nvSpPr>
        <p:spPr>
          <a:xfrm>
            <a:off x="7370064" y="3968496"/>
            <a:ext cx="54864" cy="658368"/>
          </a:xfrm>
          <a:prstGeom prst="rect">
            <a:avLst/>
          </a:prstGeom>
          <a:solidFill>
            <a:srgbClr val="EF47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4" name="Text 82"/>
          <p:cNvSpPr/>
          <p:nvPr/>
        </p:nvSpPr>
        <p:spPr>
          <a:xfrm>
            <a:off x="7461504" y="4041648"/>
            <a:ext cx="13167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DSS decommission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303520" y="54864"/>
            <a:ext cx="4754880" cy="5029200"/>
          </a:xfrm>
          <a:prstGeom prst="ellipse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035040" y="640080"/>
            <a:ext cx="3291840" cy="3291840"/>
          </a:xfrm>
          <a:prstGeom prst="ellipse">
            <a:avLst/>
          </a:prstGeom>
          <a:solidFill>
            <a:srgbClr val="00B4D8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65760" y="41148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541606"/>
            <a:ext cx="5303520" cy="15432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Proceed with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Migration?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365760" y="2286000"/>
            <a:ext cx="4663440" cy="438912"/>
          </a:xfrm>
          <a:prstGeom prst="rect">
            <a:avLst/>
          </a:prstGeom>
          <a:solidFill>
            <a:srgbClr val="243B55"/>
          </a:solidFill>
          <a:ln/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65760" y="2286000"/>
            <a:ext cx="73152" cy="438912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02920" y="2286000"/>
            <a:ext cx="4480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💰  86% cost saving — $26.7K/yr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816352"/>
            <a:ext cx="4663440" cy="438912"/>
          </a:xfrm>
          <a:prstGeom prst="rect">
            <a:avLst/>
          </a:prstGeom>
          <a:solidFill>
            <a:srgbClr val="243B55"/>
          </a:solidFill>
          <a:ln/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65760" y="2816352"/>
            <a:ext cx="73152" cy="438912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02920" y="2816352"/>
            <a:ext cx="4480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🔗  Strategic platform alignment (GPDIP)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346704"/>
            <a:ext cx="4663440" cy="438912"/>
          </a:xfrm>
          <a:prstGeom prst="rect">
            <a:avLst/>
          </a:prstGeom>
          <a:solidFill>
            <a:srgbClr val="243B55"/>
          </a:solidFill>
          <a:ln/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65760" y="3346704"/>
            <a:ext cx="73152" cy="438912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02920" y="3346704"/>
            <a:ext cx="4480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⚙  Operational independence via CI/CD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877056"/>
            <a:ext cx="4663440" cy="438912"/>
          </a:xfrm>
          <a:prstGeom prst="rect">
            <a:avLst/>
          </a:prstGeom>
          <a:solidFill>
            <a:srgbClr val="243B55"/>
          </a:solidFill>
          <a:ln/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365760" y="3877056"/>
            <a:ext cx="73152" cy="438912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02920" y="3877056"/>
            <a:ext cx="4480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🤖  AI-ready without extra infrastructure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446227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B4D8"/>
                </a:solidFill>
              </a:rPr>
              <a:t>IMMEDIATE NEXT STEPS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4736592"/>
            <a:ext cx="2743200" cy="29260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65760" y="47365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1.  Confirm workspace with Digital/Platform team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73552" y="4736592"/>
            <a:ext cx="2743200" cy="29260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273552" y="47365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2.  Identify migration lead &amp; confirm team availability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81344" y="4736592"/>
            <a:ext cx="2743200" cy="29260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181344" y="47365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3.  1-week PoC: deploy Flask app as Databricks App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631</TotalTime>
  <Words>1112</Words>
  <Application>Microsoft Office PowerPoint</Application>
  <PresentationFormat>On-screen Show (16:9)</PresentationFormat>
  <Paragraphs>241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Platform Migration – Dataiku to Databricks</dc:title>
  <dc:subject>PptxGenJS Presentation</dc:subject>
  <dc:creator>PptxGenJS</dc:creator>
  <cp:lastModifiedBy>Pramod Naik</cp:lastModifiedBy>
  <cp:revision>2</cp:revision>
  <dcterms:created xsi:type="dcterms:W3CDTF">2026-06-02T20:27:30Z</dcterms:created>
  <dcterms:modified xsi:type="dcterms:W3CDTF">2026-06-03T07:01:40Z</dcterms:modified>
</cp:coreProperties>
</file>