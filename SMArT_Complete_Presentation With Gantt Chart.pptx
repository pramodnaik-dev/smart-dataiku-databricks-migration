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-1205" y="-8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Dataiku DSS (Current)</c:v>
                </c:pt>
              </c:strCache>
            </c:strRef>
          </c:tx>
          <c:spPr>
            <a:solidFill>
              <a:srgbClr val="EF476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Licensing</c:v>
                </c:pt>
                <c:pt idx="1">
                  <c:v>Compute</c:v>
                </c:pt>
                <c:pt idx="2">
                  <c:v>Storage</c:v>
                </c:pt>
                <c:pt idx="3">
                  <c:v>Support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30900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FB-4FB6-B74E-008D687252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Databricks (Proposed — Conservative)</c:v>
                </c:pt>
              </c:strCache>
            </c:strRef>
          </c:tx>
          <c:spPr>
            <a:solidFill>
              <a:srgbClr val="06D6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Licensing</c:v>
                </c:pt>
                <c:pt idx="1">
                  <c:v>Compute</c:v>
                </c:pt>
                <c:pt idx="2">
                  <c:v>Storage</c:v>
                </c:pt>
                <c:pt idx="3">
                  <c:v>Support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5516</c:v>
                </c:pt>
                <c:pt idx="2">
                  <c:v>336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6FB-4FB6-B74E-008D687252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CCC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44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CCCC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3B5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A2E4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68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492240" y="457200"/>
            <a:ext cx="2377440" cy="237744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7040880" y="1005840"/>
            <a:ext cx="1280160" cy="1280160"/>
          </a:xfrm>
          <a:prstGeom prst="ellipse">
            <a:avLst/>
          </a:prstGeom>
          <a:solidFill>
            <a:srgbClr val="00B4D8">
              <a:alpha val="3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2560320" cy="31089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7315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PLATFORM MIGRATION PROPOSAL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118872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65760" y="199339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Dataiku DSS + Snowflake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65760" y="24231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Databricks Apps + Delta Lake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B1"/>
                </a:solidFill>
              </a:rPr>
              <a:t>May 2026  ·  v1.0  ·  Draft for Review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547872"/>
            <a:ext cx="1234440" cy="27432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65760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E0EF"/>
                </a:solidFill>
              </a:rPr>
              <a:t>Business Owners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719072" y="3547872"/>
            <a:ext cx="1234440" cy="27432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719072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E0EF"/>
                </a:solidFill>
              </a:rPr>
              <a:t>Dev Team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072384" y="3547872"/>
            <a:ext cx="1234440" cy="27432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072384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E0EF"/>
                </a:solidFill>
              </a:rPr>
              <a:t>Management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425696" y="3547872"/>
            <a:ext cx="1234440" cy="27432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4256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0E0EF"/>
                </a:solidFill>
              </a:rPr>
              <a:t>Digital/Platform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28016" y="4846320"/>
            <a:ext cx="9015984" cy="29718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27432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</a:rPr>
              <a:t>ATP GPD Expl Workspace  ·  Unity Catalog: gpdip_smart_us_east_1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Case for Change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724912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2724912" cy="7315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1078992"/>
            <a:ext cx="272491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20040" y="1847088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Cost Reduction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2139696"/>
            <a:ext cx="2724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0DDE6"/>
                </a:solidFill>
              </a:rPr>
              <a:t>$30,900 → ~$4,200/yr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64408" y="960120"/>
            <a:ext cx="2724912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64408" y="960120"/>
            <a:ext cx="272491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64408" y="1078992"/>
            <a:ext cx="272491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$26.7K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264408" y="1847088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Annual Savings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2139696"/>
            <a:ext cx="2724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0DDE6"/>
                </a:solidFill>
              </a:rPr>
              <a:t>Break-even within year 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08776" y="960120"/>
            <a:ext cx="2724912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208776" y="960120"/>
            <a:ext cx="2724912" cy="7315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08776" y="1078992"/>
            <a:ext cx="272491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wks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208776" y="1847088"/>
            <a:ext cx="2724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Migration Timeline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08776" y="2139696"/>
            <a:ext cx="2724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0DDE6"/>
                </a:solidFill>
              </a:rPr>
              <a:t>Existing team, phased delivery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B4D8"/>
                </a:solidFill>
              </a:rPr>
              <a:t>WHY MIGRATE NOW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3090672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0040" y="3090672"/>
            <a:ext cx="73152" cy="74980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84632" y="314553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High Fixed Cost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" y="341071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</a:rPr>
              <a:t>3 DSS Designer licenses @ $10,300 each — fixed regardless of usage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96849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20040" y="3968496"/>
            <a:ext cx="73152" cy="74980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84632" y="402336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Platform Dependency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" y="428853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</a:rPr>
              <a:t>Every deployment needs Platform Support team scheduling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0600" y="3090672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800600" y="3090672"/>
            <a:ext cx="73152" cy="74980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965192" y="314553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Limited AI Ecosystem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65192" y="341071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</a:rPr>
              <a:t>No native LLMs, MLflow, model serving, or vector search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00600" y="396849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800600" y="3968496"/>
            <a:ext cx="73152" cy="74980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965192" y="402336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Strategic Misalignment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65192" y="428853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</a:rPr>
              <a:t>DSS + Snowflake outside GPDIP platform direction — growing technical debt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Current  →  Target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932688"/>
            <a:ext cx="3931920" cy="365760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28600" y="932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CURRENT  (Dataiku DSS + Snowflake)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1389888"/>
            <a:ext cx="3931920" cy="51206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92608" y="144475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Platform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" y="1645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Dataiku DSS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956816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28600" y="1956816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92608" y="20116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Framework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221284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Python Flask / FastAPI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523744"/>
            <a:ext cx="3931920" cy="51206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28600" y="2523744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92608" y="2578608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Database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2608" y="277977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Snowflake  (14 tables, &lt;100 GB)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3090672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28600" y="3090672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92608" y="3145536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Deployment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2608" y="334670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Manual DSS Bundle — Platform Team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3657600"/>
            <a:ext cx="3931920" cy="51206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28600" y="3657600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92608" y="3712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Environments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2608" y="391363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3 physically isolated DSS instances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28600" y="4224528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28600" y="4224528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92608" y="427939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AI / ML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2608" y="4480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Not available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0" y="2286000"/>
            <a:ext cx="54864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251960" y="21031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</a:rPr>
              <a:t>→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4983480" y="932688"/>
            <a:ext cx="3931920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83480" y="9326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TARGET  (Databricks Apps + Delta Lake)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83480" y="1389888"/>
            <a:ext cx="3931920" cy="512064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983480" y="1389888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047488" y="144475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Platform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47488" y="1645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Databricks Apps  (ATP GPD Expl)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983480" y="1956816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983480" y="1956816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5047488" y="20116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Framework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47488" y="221284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Python Flask / FastAPI  (unchanged)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983480" y="2523744"/>
            <a:ext cx="3931920" cy="512064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4983480" y="2523744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5047488" y="2578608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Database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47488" y="277977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Delta Lake  (Unity Catalog, dedicated)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983480" y="3090672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983480" y="3090672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5047488" y="3145536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Deployment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47488" y="334670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CI/CD  (GitHub Actions + DAB, automated)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983480" y="3657600"/>
            <a:ext cx="3931920" cy="512064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4983480" y="3657600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5047488" y="3712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Environments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47488" y="391363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3 schemas in one catalog  (RBAC isolated)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983480" y="4224528"/>
            <a:ext cx="393192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4983480" y="4224528"/>
            <a:ext cx="393192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5047488" y="4279392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AI / ML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47488" y="4480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D6A0"/>
                </a:solidFill>
              </a:rPr>
              <a:t>MLflow · Model Serving · Genie AI  ✓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Cost Analysis &amp; ROI</a:t>
            </a:r>
            <a:endParaRPr lang="en-US" sz="2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56032" y="868680"/>
          <a:ext cx="512064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577840" y="9144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</a:rPr>
              <a:t>DATABRICKS BREAKDOWN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577840" y="1170432"/>
            <a:ext cx="3291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FA3B1"/>
                </a:solidFill>
              </a:rPr>
              <a:t>Conservative scenario · annual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577840" y="1389888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5577840" y="138988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5669280" y="14264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Prod App compute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0" y="1609344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24/7, $305/mo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498080" y="144475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D6A0"/>
                </a:solidFill>
              </a:rPr>
              <a:t>~$3,660/yr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1865376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5577840" y="1865376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669280" y="1901952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Dev App compute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669280" y="208483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10h/day, $110/mo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498080" y="192024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D6A0"/>
                </a:solidFill>
              </a:rPr>
              <a:t>~$1,320/yr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577840" y="2340864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5577840" y="2340864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5669280" y="23774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Stage App compute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669280" y="256032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8h/day, $75/mo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498080" y="239572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D6A0"/>
                </a:solidFill>
              </a:rPr>
              <a:t>~$900/yr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577840" y="2816352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1"/>
          <p:cNvSpPr/>
          <p:nvPr/>
        </p:nvSpPr>
        <p:spPr>
          <a:xfrm>
            <a:off x="5577840" y="2816352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5669280" y="28529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SQL Warehouses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0" y="303580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All envs combined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7498080" y="287121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D6A0"/>
                </a:solidFill>
              </a:rPr>
              <a:t>~$2,880/yr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577840" y="3291840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6"/>
          <p:cNvSpPr/>
          <p:nvPr/>
        </p:nvSpPr>
        <p:spPr>
          <a:xfrm>
            <a:off x="5577840" y="3291840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5669280" y="332841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Delta Lake storage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0" y="351129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~70GB avg, $14/mo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498080" y="3346704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D6A0"/>
                </a:solidFill>
              </a:rPr>
              <a:t>~$168/yr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577840" y="3767328"/>
            <a:ext cx="3291840" cy="42062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5577840" y="376732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5669280" y="38039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DE6"/>
                </a:solidFill>
              </a:rPr>
              <a:t>Unity Catalog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5669280" y="3986784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3B1"/>
                </a:solidFill>
              </a:rPr>
              <a:t>Premium tier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498080" y="382219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B4D8"/>
                </a:solidFill>
              </a:rPr>
              <a:t>Included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577840" y="4261104"/>
            <a:ext cx="3291840" cy="475488"/>
          </a:xfrm>
          <a:prstGeom prst="rect">
            <a:avLst/>
          </a:prstGeom>
          <a:solidFill>
            <a:srgbClr val="06D6A0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5577840" y="426110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TOTAL  ~$5,880 / year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56032" y="4828032"/>
            <a:ext cx="8631936" cy="228600"/>
          </a:xfrm>
          <a:prstGeom prst="rect">
            <a:avLst/>
          </a:prstGeom>
          <a:solidFill>
            <a:srgbClr val="243B55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8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D6A0"/>
                </a:solidFill>
              </a:rPr>
              <a:t>💰  Annual Savings: ~$25,020  (81% reduction)  ·  Conservative scenario  ·  Optimised (off-hours + 1yr CUD): ~$4,200/yr  (86% saving)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Deployment Model &amp; ADLC Compliance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93268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B4D8"/>
                </a:solidFill>
              </a:rPr>
              <a:t>CI/CD DEPLOYMENT WORKFLOW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754880" cy="82296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91440" cy="8229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1499616"/>
            <a:ext cx="420624" cy="42062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02920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36245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develop branch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645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CI/CD → smart-app-dev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618488"/>
            <a:ext cx="1737360" cy="274320"/>
          </a:xfrm>
          <a:prstGeom prst="rect">
            <a:avLst/>
          </a:prstGeom>
          <a:solidFill>
            <a:srgbClr val="00B4D8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200400" y="16184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Dev self-testing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121408"/>
            <a:ext cx="54864" cy="201168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74320" y="2322576"/>
            <a:ext cx="4754880" cy="82296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74320" y="2322576"/>
            <a:ext cx="91440" cy="82296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02920" y="2523744"/>
            <a:ext cx="420624" cy="420624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2920" y="2523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3865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</a:rPr>
              <a:t>stage branch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26700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CI/CD → smart-app-stage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642616"/>
            <a:ext cx="1737360" cy="274320"/>
          </a:xfrm>
          <a:prstGeom prst="rect">
            <a:avLst/>
          </a:prstGeom>
          <a:solidFill>
            <a:srgbClr val="FFD166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200400" y="26426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QA / UAT (qTest)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1520" y="3145536"/>
            <a:ext cx="54864" cy="201168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74320" y="3346704"/>
            <a:ext cx="4754880" cy="822960"/>
          </a:xfrm>
          <a:prstGeom prst="rect">
            <a:avLst/>
          </a:prstGeom>
          <a:solidFill>
            <a:srgbClr val="0D1B2A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74320" y="3346704"/>
            <a:ext cx="91440" cy="8229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02920" y="3547872"/>
            <a:ext cx="420624" cy="420624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02920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3410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main branch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" y="369417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CI/CD → smart-app-prod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0" y="3666744"/>
            <a:ext cx="1737360" cy="274320"/>
          </a:xfrm>
          <a:prstGeom prst="rect">
            <a:avLst/>
          </a:prstGeom>
          <a:solidFill>
            <a:srgbClr val="06D6A0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200400" y="36667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RFC gate required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03520" y="9326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B4D8"/>
                </a:solidFill>
              </a:rPr>
              <a:t>ADLC COMPLIANCE SATISFIED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03520" y="1298448"/>
            <a:ext cx="35661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5303520" y="1298448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376672" y="1453896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376672" y="14538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650992" y="1335024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QA vs Prod separation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50992" y="1572768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Schema isolation + UC RBAC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303520" y="1883664"/>
            <a:ext cx="3566160" cy="530352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5303520" y="1883664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5376672" y="2039112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5376672" y="20391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650992" y="1920240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Validation before prod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157984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ServiceNow RFC gates CI/CD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303520" y="2468880"/>
            <a:ext cx="35661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5303520" y="2468880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5376672" y="2624328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5376672" y="26243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650992" y="2505456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Test evidence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2743200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qTest (unchanged)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303520" y="3054096"/>
            <a:ext cx="3566160" cy="530352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5303520" y="3054096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5376672" y="3209544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5376672" y="32095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650992" y="3090672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Change tracking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650992" y="3328416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Jira + RFC + Git history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303520" y="3639312"/>
            <a:ext cx="35661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5303520" y="3639312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5376672" y="3794760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5376672" y="37947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5650992" y="3675888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Prod access control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50992" y="3913632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CI/CD service principal only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303520" y="4224528"/>
            <a:ext cx="3566160" cy="530352"/>
          </a:xfrm>
          <a:prstGeom prst="rect">
            <a:avLst/>
          </a:prstGeom>
          <a:solidFill>
            <a:srgbClr val="F0FD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5303520" y="4224528"/>
            <a:ext cx="3566160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5376672" y="4379976"/>
            <a:ext cx="219456" cy="21945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376672" y="4379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650992" y="4261104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Audit trail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650992" y="4498848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UC audit log + CI/CD runs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303520" y="4809744"/>
            <a:ext cx="3566160" cy="21945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5303520" y="48097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1B2A"/>
                </a:solidFill>
              </a:rPr>
              <a:t>ServiceNow RFC process fully preserved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Integration Roadmap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56032" y="960120"/>
            <a:ext cx="2743200" cy="400507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56032" y="960120"/>
            <a:ext cx="274320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261872" y="1097280"/>
            <a:ext cx="731520" cy="7315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6187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" y="193852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— Post Migration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3192" y="254203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93192" y="2542032"/>
            <a:ext cx="54864" cy="4754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93776" y="258775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Flask/FastAPI unchanged on Databricks Apps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93192" y="309067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93192" y="3090672"/>
            <a:ext cx="54864" cy="4754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93776" y="313639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replaces Snowflake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3192" y="363931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93192" y="3639312"/>
            <a:ext cx="54864" cy="4754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93776" y="368503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experience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93192" y="418795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93192" y="4187952"/>
            <a:ext cx="54864" cy="4754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93776" y="423367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for all future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27832" y="960120"/>
            <a:ext cx="2743200" cy="400507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227832" y="960120"/>
            <a:ext cx="2743200" cy="7315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233672" y="1097280"/>
            <a:ext cx="731520" cy="731520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23367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</a:rPr>
              <a:t>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319272" y="193852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— What-If Analysis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64992" y="254203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3364992" y="2542032"/>
            <a:ext cx="54864" cy="47548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465576" y="258775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MLflow: scenario comparison &amp; tracking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64992" y="309067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364992" y="3090672"/>
            <a:ext cx="54864" cy="47548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465576" y="313639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Workflows: parallel runs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64992" y="363931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3364992" y="3639312"/>
            <a:ext cx="54864" cy="47548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465576" y="368503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 AI: instant enrollment predictions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64992" y="418795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364992" y="4187952"/>
            <a:ext cx="54864" cy="47548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465576" y="423367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Feature Store: shared features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99632" y="960120"/>
            <a:ext cx="2743200" cy="400507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9632" y="960120"/>
            <a:ext cx="2743200" cy="73152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7205472" y="1097280"/>
            <a:ext cx="731520" cy="731520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720547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</a:rPr>
              <a:t>3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6291072" y="193852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— Future Enhancements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336792" y="254203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336792" y="2542032"/>
            <a:ext cx="54864" cy="47548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437376" y="258775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Genie AI: natural language data queries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36792" y="309067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6336792" y="3090672"/>
            <a:ext cx="54864" cy="47548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437376" y="313639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site activation ML model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36792" y="363931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6336792" y="3639312"/>
            <a:ext cx="54864" cy="47548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437376" y="368503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LLM-assisted scenario generation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36792" y="4187952"/>
            <a:ext cx="2468880" cy="47548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6336792" y="4187952"/>
            <a:ext cx="54864" cy="47548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437376" y="4233672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on simulation inputs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56032" y="4828032"/>
            <a:ext cx="8631936" cy="228600"/>
          </a:xfrm>
          <a:prstGeom prst="rect">
            <a:avLst/>
          </a:prstGeom>
          <a:solidFill>
            <a:srgbClr val="1A2E45"/>
          </a:solidFill>
          <a:ln w="12700">
            <a:solidFill>
              <a:srgbClr val="9B5D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256032" y="4828032"/>
            <a:ext cx="86319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0E0EF"/>
                </a:solidFill>
              </a:rPr>
              <a:t>All AI capabilities available at no additional infrastructure cost on Databricks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7132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Migration Plan  —  ~17 Weeks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60920" y="91440"/>
            <a:ext cx="1627632" cy="56692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60920" y="91440"/>
            <a:ext cx="16276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~17 Wks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~4 Months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914400"/>
            <a:ext cx="1682496" cy="4041648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82880" y="914400"/>
            <a:ext cx="1682496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95528" y="1024128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95528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37744" y="157276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148840"/>
            <a:ext cx="1316736" cy="256032"/>
          </a:xfrm>
          <a:prstGeom prst="rect">
            <a:avLst/>
          </a:prstGeom>
          <a:solidFill>
            <a:srgbClr val="00B4D8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214884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1.5–2w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" y="2432304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FA3B1"/>
                </a:solidFill>
              </a:rPr>
              <a:t>Wks 1–2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651760"/>
            <a:ext cx="1499616" cy="182880"/>
          </a:xfrm>
          <a:prstGeom prst="rect">
            <a:avLst/>
          </a:prstGeom>
          <a:solidFill>
            <a:srgbClr val="00B4D8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4320" y="26517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50" dirty="0">
                <a:solidFill>
                  <a:srgbClr val="00B4D8"/>
                </a:solidFill>
              </a:rPr>
              <a:t>Phase 1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2907792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56032" y="2907792"/>
            <a:ext cx="54864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47472" y="29260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validation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56032" y="3291840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56032" y="3291840"/>
            <a:ext cx="54864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47472" y="3310128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workspace setup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3675888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56032" y="3675888"/>
            <a:ext cx="54864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3694176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&amp; RBAC design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6032" y="4059936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256032" y="4059936"/>
            <a:ext cx="54864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47472" y="4078224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ADLC &amp; security review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74520" y="2898648"/>
            <a:ext cx="7315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1947672" y="914400"/>
            <a:ext cx="1682496" cy="4041648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1947672" y="914400"/>
            <a:ext cx="1682496" cy="6400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560320" y="1024128"/>
            <a:ext cx="457200" cy="457200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2560320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002536" y="157276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Data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130552" y="2148840"/>
            <a:ext cx="1316736" cy="256032"/>
          </a:xfrm>
          <a:prstGeom prst="rect">
            <a:avLst/>
          </a:prstGeom>
          <a:solidFill>
            <a:srgbClr val="FFD16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130552" y="214884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6w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002536" y="2432304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FA3B1"/>
                </a:solidFill>
              </a:rPr>
              <a:t>Wks 3–8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039112" y="2651760"/>
            <a:ext cx="1499616" cy="182880"/>
          </a:xfrm>
          <a:prstGeom prst="rect">
            <a:avLst/>
          </a:prstGeom>
          <a:solidFill>
            <a:srgbClr val="FFD166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2039112" y="26517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50" dirty="0">
                <a:solidFill>
                  <a:srgbClr val="FFD166"/>
                </a:solidFill>
              </a:rPr>
              <a:t>Phases 2 + 3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020824" y="2907792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2020824" y="2907792"/>
            <a:ext cx="54864" cy="32918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112264" y="29260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DAB + GitHub Actions setup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020824" y="3291840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2020824" y="3291840"/>
            <a:ext cx="54864" cy="32918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2112264" y="3310128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Principals &amp; RBAC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020824" y="3675888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2020824" y="3675888"/>
            <a:ext cx="54864" cy="32918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2112264" y="3694176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Dev/Stage/Prod configuration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020824" y="4059936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020824" y="4059936"/>
            <a:ext cx="54864" cy="32918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2112264" y="4078224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→ Delta Lake migration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020824" y="4443984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020824" y="4443984"/>
            <a:ext cx="54864" cy="32918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2112264" y="4462272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&amp; testing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639312" y="2898648"/>
            <a:ext cx="7315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3712464" y="914400"/>
            <a:ext cx="1682496" cy="4041648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3712464" y="914400"/>
            <a:ext cx="1682496" cy="6400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4325112" y="1024128"/>
            <a:ext cx="457200" cy="457200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4325112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3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3767328" y="157276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Migration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895344" y="2148840"/>
            <a:ext cx="1316736" cy="256032"/>
          </a:xfrm>
          <a:prstGeom prst="rect">
            <a:avLst/>
          </a:prstGeom>
          <a:solidFill>
            <a:srgbClr val="06D6A0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895344" y="214884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5w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3767328" y="2432304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FA3B1"/>
                </a:solidFill>
              </a:rPr>
              <a:t>Wks 5–12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803904" y="2651760"/>
            <a:ext cx="1499616" cy="182880"/>
          </a:xfrm>
          <a:prstGeom prst="rect">
            <a:avLst/>
          </a:prstGeom>
          <a:solidFill>
            <a:srgbClr val="06D6A0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803904" y="26517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50" dirty="0">
                <a:solidFill>
                  <a:srgbClr val="06D6A0"/>
                </a:solidFill>
              </a:rPr>
              <a:t>Phases 4 + 5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785616" y="2907792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3785616" y="2907792"/>
            <a:ext cx="54864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3877056" y="29260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→ Databricks Apps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785616" y="3291840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3785616" y="3291840"/>
            <a:ext cx="54864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877056" y="3310128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&amp; secrets refactoring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3785616" y="3675888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3785616" y="3675888"/>
            <a:ext cx="54864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3877056" y="3694176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validation &amp; API testing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785616" y="4059936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3785616" y="4059936"/>
            <a:ext cx="54864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3877056" y="4078224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Env-specific configuration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785616" y="4443984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3785616" y="4443984"/>
            <a:ext cx="54864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877056" y="4462272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testing &amp; iteration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5404104" y="2898648"/>
            <a:ext cx="7315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5477256" y="914400"/>
            <a:ext cx="1682496" cy="4041648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5477256" y="914400"/>
            <a:ext cx="1682496" cy="6400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6089904" y="1024128"/>
            <a:ext cx="457200" cy="457200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6089904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4</a:t>
            </a:r>
            <a:endParaRPr lang="en-US" sz="1400" dirty="0"/>
          </a:p>
        </p:txBody>
      </p:sp>
      <p:sp>
        <p:nvSpPr>
          <p:cNvPr id="86" name="Text 84"/>
          <p:cNvSpPr/>
          <p:nvPr/>
        </p:nvSpPr>
        <p:spPr>
          <a:xfrm>
            <a:off x="5532120" y="157276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UAT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0136" y="2148840"/>
            <a:ext cx="1316736" cy="256032"/>
          </a:xfrm>
          <a:prstGeom prst="rect">
            <a:avLst/>
          </a:prstGeom>
          <a:solidFill>
            <a:srgbClr val="9B5DE5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5660136" y="214884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2.5w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5532120" y="2432304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FA3B1"/>
                </a:solidFill>
              </a:rPr>
              <a:t>Wks 13–15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5568696" y="2651760"/>
            <a:ext cx="1499616" cy="182880"/>
          </a:xfrm>
          <a:prstGeom prst="rect">
            <a:avLst/>
          </a:prstGeom>
          <a:solidFill>
            <a:srgbClr val="9B5DE5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5568696" y="26517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50" dirty="0">
                <a:solidFill>
                  <a:srgbClr val="9B5DE5"/>
                </a:solidFill>
              </a:rPr>
              <a:t>Phases 6 + 7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5550408" y="2907792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Shape 91"/>
          <p:cNvSpPr/>
          <p:nvPr/>
        </p:nvSpPr>
        <p:spPr>
          <a:xfrm>
            <a:off x="5550408" y="2907792"/>
            <a:ext cx="54864" cy="32918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5641848" y="29260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deployment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550408" y="3291840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5550408" y="3291840"/>
            <a:ext cx="54864" cy="32918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5641848" y="3310128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QA/UAT (qTest)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550408" y="3675888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5550408" y="3675888"/>
            <a:ext cx="54864" cy="32918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5641848" y="3694176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RFC raised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550408" y="4059936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Shape 100"/>
          <p:cNvSpPr/>
          <p:nvPr/>
        </p:nvSpPr>
        <p:spPr>
          <a:xfrm>
            <a:off x="5550408" y="4059936"/>
            <a:ext cx="54864" cy="32918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101"/>
          <p:cNvSpPr/>
          <p:nvPr/>
        </p:nvSpPr>
        <p:spPr>
          <a:xfrm>
            <a:off x="5641848" y="4078224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user testing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5550408" y="4443984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5550408" y="4443984"/>
            <a:ext cx="54864" cy="32918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5641848" y="4462272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query &amp; compute tuning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7168896" y="2898648"/>
            <a:ext cx="7315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7242048" y="914400"/>
            <a:ext cx="1682496" cy="4041648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9" name="Shape 107"/>
          <p:cNvSpPr/>
          <p:nvPr/>
        </p:nvSpPr>
        <p:spPr>
          <a:xfrm>
            <a:off x="7242048" y="914400"/>
            <a:ext cx="1682496" cy="6400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Shape 108"/>
          <p:cNvSpPr/>
          <p:nvPr/>
        </p:nvSpPr>
        <p:spPr>
          <a:xfrm>
            <a:off x="7854696" y="1024128"/>
            <a:ext cx="457200" cy="457200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7854696" y="1024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5</a:t>
            </a:r>
            <a:endParaRPr lang="en-US" sz="1400" dirty="0"/>
          </a:p>
        </p:txBody>
      </p:sp>
      <p:sp>
        <p:nvSpPr>
          <p:cNvPr id="112" name="Text 110"/>
          <p:cNvSpPr/>
          <p:nvPr/>
        </p:nvSpPr>
        <p:spPr>
          <a:xfrm>
            <a:off x="7296912" y="157276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424928" y="2148840"/>
            <a:ext cx="1316736" cy="256032"/>
          </a:xfrm>
          <a:prstGeom prst="rect">
            <a:avLst/>
          </a:prstGeom>
          <a:solidFill>
            <a:srgbClr val="EF476F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7424928" y="2148840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3w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7296912" y="2432304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FA3B1"/>
                </a:solidFill>
              </a:rPr>
              <a:t>Wks 15–17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7333488" y="2651760"/>
            <a:ext cx="1499616" cy="182880"/>
          </a:xfrm>
          <a:prstGeom prst="rect">
            <a:avLst/>
          </a:prstGeom>
          <a:solidFill>
            <a:srgbClr val="EF476F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7333488" y="26517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50" dirty="0">
                <a:solidFill>
                  <a:srgbClr val="EF476F"/>
                </a:solidFill>
              </a:rPr>
              <a:t>Phases 8 + 9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7315200" y="2907792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Shape 117"/>
          <p:cNvSpPr/>
          <p:nvPr/>
        </p:nvSpPr>
        <p:spPr>
          <a:xfrm>
            <a:off x="7315200" y="2907792"/>
            <a:ext cx="54864" cy="32918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7406640" y="29260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&amp; rollback strategy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7315200" y="3291840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Shape 120"/>
          <p:cNvSpPr/>
          <p:nvPr/>
        </p:nvSpPr>
        <p:spPr>
          <a:xfrm>
            <a:off x="7315200" y="3291840"/>
            <a:ext cx="54864" cy="32918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7406640" y="3310128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approval → prod deploy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7315200" y="3675888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7315200" y="3675888"/>
            <a:ext cx="54864" cy="32918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7406640" y="3694176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 &amp; DBX parallel run (2w)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7315200" y="4059936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Shape 126"/>
          <p:cNvSpPr/>
          <p:nvPr/>
        </p:nvSpPr>
        <p:spPr>
          <a:xfrm>
            <a:off x="7315200" y="4059936"/>
            <a:ext cx="54864" cy="32918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7406640" y="4078224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&amp; sign-off</a:t>
            </a:r>
            <a:endParaRPr lang="en-US" sz="850" dirty="0"/>
          </a:p>
        </p:txBody>
      </p:sp>
      <p:sp>
        <p:nvSpPr>
          <p:cNvPr id="130" name="Shape 128"/>
          <p:cNvSpPr/>
          <p:nvPr/>
        </p:nvSpPr>
        <p:spPr>
          <a:xfrm>
            <a:off x="7315200" y="4443984"/>
            <a:ext cx="1536192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Shape 129"/>
          <p:cNvSpPr/>
          <p:nvPr/>
        </p:nvSpPr>
        <p:spPr>
          <a:xfrm>
            <a:off x="7315200" y="4443984"/>
            <a:ext cx="54864" cy="32918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7406640" y="4462272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 decommission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182880" y="5010912"/>
            <a:ext cx="8778240" cy="2926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182880" y="5010912"/>
            <a:ext cx="73152" cy="2926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501091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3B1"/>
                </a:solidFill>
              </a:rPr>
              <a:t>Total ~17 weeks  ·  9 detailed sub-phases  ·  See Effort Estimation slide for full breakdown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6675120" y="5010912"/>
            <a:ext cx="2286000" cy="2926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6675120" y="50109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~4 months end-to-end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303520" y="54864"/>
            <a:ext cx="4754880" cy="5029200"/>
          </a:xfrm>
          <a:prstGeom prst="ellipse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035040" y="640080"/>
            <a:ext cx="3291840" cy="329184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11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896112"/>
            <a:ext cx="5303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 with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Migration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4663440" cy="43891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73152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4480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💰  86% cost saving — $26.7K/yr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16352"/>
            <a:ext cx="4663440" cy="43891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2816352"/>
            <a:ext cx="73152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02920" y="2816352"/>
            <a:ext cx="4480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🔗  Strategic platform alignment (GPDIP)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346704"/>
            <a:ext cx="4663440" cy="43891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3346704"/>
            <a:ext cx="73152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3346704"/>
            <a:ext cx="4480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⚙  Operational independence via CI/CD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77056"/>
            <a:ext cx="4663440" cy="438912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65760" y="3877056"/>
            <a:ext cx="73152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02920" y="3877056"/>
            <a:ext cx="4480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🤖  AI-ready without extra infrastructure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46227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</a:rPr>
              <a:t>IMMEDIATE NEXT STEPS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4736592"/>
            <a:ext cx="2743200" cy="2926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65760" y="4736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1.  Confirm workspace with Digital/Platform team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73552" y="4736592"/>
            <a:ext cx="2743200" cy="2926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273552" y="4736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2.  Identify migration lead &amp; confirm team availability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81344" y="4736592"/>
            <a:ext cx="2743200" cy="2926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181344" y="4736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3.  1-week PoC: deploy Flask app as Databricks App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943600" y="365760"/>
            <a:ext cx="3017520" cy="3017520"/>
          </a:xfrm>
          <a:prstGeom prst="ellipse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492240" y="914400"/>
            <a:ext cx="1920240" cy="19202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0" y="365760"/>
            <a:ext cx="30175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000" dirty="0"/>
          </a:p>
        </p:txBody>
      </p:sp>
      <p:sp>
        <p:nvSpPr>
          <p:cNvPr id="7" name="Shape 5"/>
          <p:cNvSpPr/>
          <p:nvPr/>
        </p:nvSpPr>
        <p:spPr>
          <a:xfrm>
            <a:off x="365760" y="640080"/>
            <a:ext cx="2743200" cy="31089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640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CLIENT QUESTIONS  — DAN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5303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Dan's Queries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E0EF"/>
                </a:solidFill>
              </a:rPr>
              <a:t>Feasibility check completed  ·  Migration app built with live UI, APIs &amp; Delta Lake tables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46120"/>
            <a:ext cx="5120640" cy="34747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3246120"/>
            <a:ext cx="73152" cy="347472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12064" y="324612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Q1 — Risks &amp; Cons to consider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666744"/>
            <a:ext cx="5120640" cy="34747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3666744"/>
            <a:ext cx="73152" cy="34747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12064" y="366674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Q2 — UI, UX &amp; performance impact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087368"/>
            <a:ext cx="5120640" cy="34747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65760" y="4087368"/>
            <a:ext cx="73152" cy="34747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12064" y="40873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Q3 — Feature work during migration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</a:rPr>
              <a:t>SMArT Platform Migration  ·  Response to Dan's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" y="91440"/>
            <a:ext cx="566928" cy="566928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56032" y="91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Q1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Risks &amp; Cons to Consider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8631936" cy="3840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89611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E0EF"/>
                </a:solidFill>
              </a:rPr>
              <a:t>We are transparent about trade-offs. These are manageable risks — none are blockers, and all have defined mitigations.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1389888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56032" y="1389888"/>
            <a:ext cx="82296" cy="100584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730752" y="1463040"/>
            <a:ext cx="658368" cy="201168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730752" y="146304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LOW RISK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20624" y="1453896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Short-term team upskilling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0624" y="1719072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needs to learn Databricks Apps, DAB &amp; CI/CD patterns. Mitigated by feasibility spike already completed — team is hands-on from day one.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389888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82296" cy="100584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658368" cy="201168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138160" y="146304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LOW RISK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828032" y="1453896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No physical environment isolation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28032" y="1719072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schema separation replaces physical DSS instances. UC RBAC enforces access boundaries; reviewed and accepted by compliance approach.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2505456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56032" y="2505456"/>
            <a:ext cx="82296" cy="10058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730752" y="2578608"/>
            <a:ext cx="658368" cy="201168"/>
          </a:xfrm>
          <a:prstGeom prst="rect">
            <a:avLst/>
          </a:prstGeom>
          <a:solidFill>
            <a:srgbClr val="FF6B35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30752" y="257860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MED RISK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20624" y="2569464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Migration window carries delivery risk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0624" y="2834640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20-week project introduces schedule risk. Phased delivery with parallel-run period and rollback path (DSS stays live until RFC sign-off) contains impact.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505456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663440" y="2505456"/>
            <a:ext cx="82296" cy="100584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138160" y="2578608"/>
            <a:ext cx="658368" cy="201168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138160" y="257860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LOW RISK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828032" y="2569464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Usage-based cost variability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28032" y="2834640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fixed DSS licenses, Databricks costs scale with usage. Auto-shutdown on dev/stage and cost dashboards keep this well within the $4.2K estimate.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56032" y="3621024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56032" y="3621024"/>
            <a:ext cx="82296" cy="100584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3730752" y="3694176"/>
            <a:ext cx="658368" cy="201168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730752" y="369417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LOW RISK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20624" y="3685032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Data migration validation effort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20624" y="3950208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Snowflake tables must be migrated and verified. Row-count and schema validation scripts are part of Phase 2; feasibility run confirms process works.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621024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63440" y="3621024"/>
            <a:ext cx="82296" cy="10058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8138160" y="3694176"/>
            <a:ext cx="658368" cy="201168"/>
          </a:xfrm>
          <a:prstGeom prst="rect">
            <a:avLst/>
          </a:prstGeom>
          <a:solidFill>
            <a:srgbClr val="FF6B35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8138160" y="369417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MED RISK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828032" y="3685032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Dependency on Digital/Platform team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28032" y="3950208"/>
            <a:ext cx="395020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assignment (ATP GPD Expl) needs Digital team confirmation. Already flagged as first action item; planning can proceed in parallel under Option A.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56032" y="4736592"/>
            <a:ext cx="8631936" cy="32918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256032" y="4736592"/>
            <a:ext cx="82296" cy="32918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402336" y="4736592"/>
            <a:ext cx="8321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D6A0"/>
                </a:solidFill>
              </a:rPr>
              <a:t>✓  Overall assessment: No identified cons are blockers. Risk profile is LOW–MEDIUM. Feasibility PoC de-risks the highest-uncertainty items.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" y="91440"/>
            <a:ext cx="566928" cy="566928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56032" y="91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UI, End-User Experience &amp; Performance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8631936" cy="502920"/>
          </a:xfrm>
          <a:prstGeom prst="rect">
            <a:avLst/>
          </a:prstGeom>
          <a:solidFill>
            <a:srgbClr val="0A2A1A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56032" y="896112"/>
            <a:ext cx="82296" cy="50292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02336" y="89611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</a:rPr>
              <a:t>✅  Feasibility proven: Migration app built with exact UI, live backend APIs &amp; Delta Lake tables — user experience validated end-to-end.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1517904"/>
            <a:ext cx="2816352" cy="402336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56032" y="1517904"/>
            <a:ext cx="2816352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6032" y="1554480"/>
            <a:ext cx="2816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🖥  UI &amp; Frontend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6032" y="2011680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7472" y="206654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Redesign needed?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2286000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47472" y="2286000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" y="2542032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Flask/FastAPI frontend deployed as Databricks App — same screens, same navigation, same URLs.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2999232"/>
            <a:ext cx="28163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47472" y="305409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Functionality loss?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" y="3273552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7472" y="327355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7472" y="3529584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confirmed working in the PoC migration. No capability is removed or degraded.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3986784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404164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Look &amp; feel change?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7472" y="4261104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4261104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None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" y="4517136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App is a thin hosting wrapper — users will not see any platform change.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27832" y="1517904"/>
            <a:ext cx="2816352" cy="402336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27832" y="1517904"/>
            <a:ext cx="2816352" cy="6400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227832" y="1554480"/>
            <a:ext cx="2816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⚡  Performance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227832" y="2011680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319272" y="206654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Calculation speed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19272" y="2286000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3319272" y="2286000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Same / Faster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19272" y="2542032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Python simulation engine. Databricks serverless compute removes DSS scheduler overhead.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27832" y="2999232"/>
            <a:ext cx="28163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319272" y="305409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Page load times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319272" y="3273552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319272" y="327355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 change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319272" y="3529584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is unchanged. Delta Lake SQL connector benchmarks comparably to Snowflake at this data volume (&lt;100 GB).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27832" y="3986784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319272" y="404164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Peak load (50 users)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19272" y="4261104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319272" y="4261104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Handled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19272" y="4517136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instance (2 vCPU / 6 GB) sized for &lt;100 concurrent. Scale-up to Large available on demand.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99632" y="1517904"/>
            <a:ext cx="2816352" cy="402336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199632" y="1517904"/>
            <a:ext cx="2816352" cy="6400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6199632" y="1554480"/>
            <a:ext cx="28163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👤  User Impact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199632" y="2011680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6291072" y="206654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Training required?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291072" y="2286000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291072" y="2286000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None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291072" y="2542032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interact with the same web application. No Databricks knowledge needed by users.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199632" y="2999232"/>
            <a:ext cx="281635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291072" y="305409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URL / access change?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291072" y="3273552"/>
            <a:ext cx="2633472" cy="219456"/>
          </a:xfrm>
          <a:prstGeom prst="rect">
            <a:avLst/>
          </a:prstGeom>
          <a:solidFill>
            <a:srgbClr val="FFD166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6291072" y="327355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New URL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291072" y="3529584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environment gets a dedicated Databricks App URL. A bookmark update is the only visible change for users.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199632" y="3986784"/>
            <a:ext cx="2816352" cy="914400"/>
          </a:xfrm>
          <a:prstGeom prst="rect">
            <a:avLst/>
          </a:prstGeom>
          <a:solidFill>
            <a:srgbClr val="EEF5FB"/>
          </a:solidFill>
          <a:ln w="12700">
            <a:solidFill>
              <a:srgbClr val="D0DD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6291072" y="404164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3B1"/>
                </a:solidFill>
              </a:rPr>
              <a:t>Downtime at cutover?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291072" y="4261104"/>
            <a:ext cx="2633472" cy="219456"/>
          </a:xfrm>
          <a:prstGeom prst="rect">
            <a:avLst/>
          </a:prstGeom>
          <a:solidFill>
            <a:srgbClr val="06D6A0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6291072" y="4261104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Zero planned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291072" y="4517136"/>
            <a:ext cx="2633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parallel run means DSS and Databricks run simultaneously. Cutover is a DNS/redirect flip.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" y="91440"/>
            <a:ext cx="566928" cy="56692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56032" y="91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Feature Work During the Migration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8631936" cy="475488"/>
          </a:xfrm>
          <a:prstGeom prst="rect">
            <a:avLst/>
          </a:prstGeom>
          <a:solidFill>
            <a:srgbClr val="0A2A0A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56032" y="896112"/>
            <a:ext cx="82296" cy="47548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02336" y="896112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</a:rPr>
              <a:t>✅  Short answer: Feature work does NOT need to be paused. Migration and new features can run in parallel.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" y="14996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B4D8"/>
                </a:solidFill>
              </a:rPr>
              <a:t>HOW THIS WORKS IN PRACTICE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" y="1847088"/>
            <a:ext cx="1417320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56032" y="184708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</a:rPr>
              <a:t>MIGRATION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</a:rPr>
              <a:t>TRACK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19072" y="1847088"/>
            <a:ext cx="1188720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755648" y="1865376"/>
            <a:ext cx="11155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Foundation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Wks 1–4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07792" y="1847088"/>
            <a:ext cx="914400" cy="475488"/>
          </a:xfrm>
          <a:prstGeom prst="rect">
            <a:avLst/>
          </a:prstGeom>
          <a:solidFill>
            <a:srgbClr val="0096B7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944368" y="1865376"/>
            <a:ext cx="8412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Data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Wks 5–8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22192" y="1847088"/>
            <a:ext cx="1554480" cy="475488"/>
          </a:xfrm>
          <a:prstGeom prst="rect">
            <a:avLst/>
          </a:prstGeom>
          <a:solidFill>
            <a:srgbClr val="007A96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858768" y="1865376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App Migration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Wks 5–12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76672" y="1847088"/>
            <a:ext cx="1005840" cy="475488"/>
          </a:xfrm>
          <a:prstGeom prst="rect">
            <a:avLst/>
          </a:prstGeom>
          <a:solidFill>
            <a:srgbClr val="005F75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413248" y="186537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QA / UAT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Wks 13–16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82512" y="1847088"/>
            <a:ext cx="868680" cy="475488"/>
          </a:xfrm>
          <a:prstGeom prst="rect">
            <a:avLst/>
          </a:prstGeom>
          <a:solidFill>
            <a:srgbClr val="00455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419088" y="1865376"/>
            <a:ext cx="795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Go-Live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Wks 17–20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6032" y="2432304"/>
            <a:ext cx="1417320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256032" y="243230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D6A0"/>
                </a:solidFill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6D6A0"/>
                </a:solidFill>
              </a:rPr>
              <a:t>TRACK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719072" y="2432304"/>
            <a:ext cx="1188720" cy="475488"/>
          </a:xfrm>
          <a:prstGeom prst="rect">
            <a:avLst/>
          </a:prstGeom>
          <a:solidFill>
            <a:srgbClr val="024A1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755648" y="2450592"/>
            <a:ext cx="11155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Bug fixes &amp;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maintenance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907792" y="2432304"/>
            <a:ext cx="1828800" cy="475488"/>
          </a:xfrm>
          <a:prstGeom prst="rect">
            <a:avLst/>
          </a:prstGeom>
          <a:solidFill>
            <a:srgbClr val="03602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2944368" y="2450592"/>
            <a:ext cx="17556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New Feature 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(on DSS)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36592" y="2432304"/>
            <a:ext cx="1645920" cy="475488"/>
          </a:xfrm>
          <a:prstGeom prst="rect">
            <a:avLst/>
          </a:prstGeom>
          <a:solidFill>
            <a:srgbClr val="047A34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773168" y="2450592"/>
            <a:ext cx="15727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New Feature 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(on DSS)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82512" y="2432304"/>
            <a:ext cx="1828800" cy="475488"/>
          </a:xfrm>
          <a:prstGeom prst="rect">
            <a:avLst/>
          </a:prstGeom>
          <a:solidFill>
            <a:srgbClr val="06D6A0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419088" y="2450592"/>
            <a:ext cx="17556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Feature C → DBX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(new home)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251192" y="1709928"/>
            <a:ext cx="36576" cy="129844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903720" y="1499616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D166"/>
                </a:solidFill>
              </a:rPr>
              <a:t>Cutover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56032" y="30906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0B4D8"/>
                </a:solidFill>
              </a:rPr>
              <a:t>THE GUARDRAILS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56032" y="3429000"/>
            <a:ext cx="8631936" cy="45720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256032" y="3429000"/>
            <a:ext cx="82296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02336" y="3520440"/>
            <a:ext cx="274320" cy="2743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402336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77240" y="346557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</a:rPr>
              <a:t>New features built on DSS as normal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" y="3666744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During migration, feature development continues on the current DSS platform. No change to today's dev/QA/release workflow for new features.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6032" y="3941064"/>
            <a:ext cx="8631936" cy="45720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256032" y="3941064"/>
            <a:ext cx="82296" cy="45720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402336" y="4032504"/>
            <a:ext cx="274320" cy="274320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02336" y="4032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77240" y="397764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D166"/>
                </a:solidFill>
              </a:rPr>
              <a:t>Migration team is a dedicated workstream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77240" y="4178808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Migration is run as a parallel project track — it does not consume the full team. Feature sprints and migration sprints are planned independently.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56032" y="4453128"/>
            <a:ext cx="8631936" cy="45720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56032" y="4453128"/>
            <a:ext cx="82296" cy="45720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02336" y="4544568"/>
            <a:ext cx="274320" cy="274320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02336" y="4544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3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77240" y="448970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D6A0"/>
                </a:solidFill>
              </a:rPr>
              <a:t>Features completed before cutover ship on DSS; after cutover on Databricks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" y="4690872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Any feature in flight at Go-Live week is evaluated: if complete → ship on DSS, if not → brief hold during 2-week parallel run, then deliver on Databricks.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01168" y="91440"/>
            <a:ext cx="566928" cy="566928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01168" y="91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✦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0"/>
            <a:ext cx="7955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Genie AI  —  Natural Language Querying for SMArT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8631936" cy="3840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89611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E0EF"/>
                </a:solidFill>
              </a:rPr>
              <a:t>Users ask plain-English questions against SMArT's Delta Lake tables — no SQL, no dashboards. Three implementation paths, increasing in capability.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1389888"/>
            <a:ext cx="2816352" cy="3611880"/>
          </a:xfrm>
          <a:prstGeom prst="rect">
            <a:avLst/>
          </a:prstGeom>
          <a:solidFill>
            <a:srgbClr val="0A2A1A"/>
          </a:solidFill>
          <a:ln w="12700">
            <a:solidFill>
              <a:srgbClr val="06D6A0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56032" y="1389888"/>
            <a:ext cx="2816352" cy="6400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65760" y="1508760"/>
            <a:ext cx="402336" cy="402336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65760" y="1508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1536192"/>
            <a:ext cx="2139696" cy="320040"/>
          </a:xfrm>
          <a:prstGeom prst="rect">
            <a:avLst/>
          </a:prstGeom>
          <a:solidFill>
            <a:srgbClr val="06D6A0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41248" y="153619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D6A0"/>
                </a:solidFill>
              </a:rPr>
              <a:t>✅  READY NOW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" y="196596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D6A0"/>
                </a:solidFill>
              </a:rPr>
              <a:t>Genie Space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" y="2267712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Standalone — zero code changes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47472" y="2560320"/>
            <a:ext cx="26334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Genie Space in Databricks pointing to smart_poc.smart.* Delta tables. Users ask questions directly in the Databricks workspace UI.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7472" y="3236976"/>
            <a:ext cx="2633472" cy="182880"/>
          </a:xfrm>
          <a:prstGeom prst="rect">
            <a:avLst/>
          </a:prstGeom>
          <a:solidFill>
            <a:srgbClr val="06D6A0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47472" y="323697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6D6A0"/>
                </a:solidFill>
              </a:rPr>
              <a:t>EXAMPLE QUESTIONS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7472" y="3456432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" y="34564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"Which country has the highest P90 days?"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47472" y="3785616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84048" y="37856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"Show activation timelines for Argentina"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47472" y="4114800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84048" y="4114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"Avg site activation rate across countries?"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" y="4462272"/>
            <a:ext cx="2633472" cy="420624"/>
          </a:xfrm>
          <a:prstGeom prst="rect">
            <a:avLst/>
          </a:prstGeom>
          <a:solidFill>
            <a:srgbClr val="1A2E45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84048" y="446227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Separate UI — users leave the SMArT app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27832" y="1389888"/>
            <a:ext cx="2816352" cy="3611880"/>
          </a:xfrm>
          <a:prstGeom prst="rect">
            <a:avLst/>
          </a:prstGeom>
          <a:solidFill>
            <a:srgbClr val="1A1500"/>
          </a:solidFill>
          <a:ln w="12700">
            <a:solidFill>
              <a:srgbClr val="FFD166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27832" y="1389888"/>
            <a:ext cx="2816352" cy="6400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337560" y="1508760"/>
            <a:ext cx="402336" cy="40233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337560" y="1508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13048" y="1536192"/>
            <a:ext cx="2139696" cy="320040"/>
          </a:xfrm>
          <a:prstGeom prst="rect">
            <a:avLst/>
          </a:prstGeom>
          <a:solidFill>
            <a:srgbClr val="FFD166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813048" y="153619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</a:rPr>
              <a:t>⚠  REQUIRES WORK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19272" y="196596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</a:rPr>
              <a:t>Embed Genie in App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319272" y="2267712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Chat widget inside SMArT webapp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319272" y="2560320"/>
            <a:ext cx="26334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chat widget in the React frontend. Flask backend proxies calls to the Genie Conversation API. Results rendered inline in the app.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19272" y="3236976"/>
            <a:ext cx="2633472" cy="182880"/>
          </a:xfrm>
          <a:prstGeom prst="rect">
            <a:avLst/>
          </a:prstGeom>
          <a:solidFill>
            <a:srgbClr val="FFD166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319272" y="323697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D166"/>
                </a:solidFill>
              </a:rPr>
              <a:t>EXAMPLE QUESTIONS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319272" y="3456432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355848" y="34564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Genie Conversation API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319272" y="3785616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355848" y="37856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Flask → Genie API proxy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319272" y="4114800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355848" y="4114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SQL results inline in app UI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319272" y="4462272"/>
            <a:ext cx="2633472" cy="420624"/>
          </a:xfrm>
          <a:prstGeom prst="rect">
            <a:avLst/>
          </a:prstGeom>
          <a:solidFill>
            <a:srgbClr val="1A2E45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355848" y="446227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Cannot answer questions about live in-memory API results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199632" y="1389888"/>
            <a:ext cx="2816352" cy="3611880"/>
          </a:xfrm>
          <a:prstGeom prst="rect">
            <a:avLst/>
          </a:prstGeom>
          <a:solidFill>
            <a:srgbClr val="001A20"/>
          </a:solidFill>
          <a:ln w="12700">
            <a:solidFill>
              <a:srgbClr val="00B4D8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6199632" y="1389888"/>
            <a:ext cx="2816352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6309360" y="1508760"/>
            <a:ext cx="402336" cy="40233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6309360" y="1508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784848" y="1536192"/>
            <a:ext cx="2139696" cy="320040"/>
          </a:xfrm>
          <a:prstGeom prst="rect">
            <a:avLst/>
          </a:prstGeom>
          <a:solidFill>
            <a:srgbClr val="00B4D8">
              <a:alpha val="2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784848" y="153619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🔄  BEST OF BOTH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91072" y="1965960"/>
            <a:ext cx="2633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Write Results → Genie Queries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291072" y="2267712"/>
            <a:ext cx="2633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Most powerful approach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291072" y="2560320"/>
            <a:ext cx="26334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are saved back to Delta tables (site_activation_details_results etc.). Genie queries saved results — combines live app + historical analysis.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291072" y="3236976"/>
            <a:ext cx="2633472" cy="182880"/>
          </a:xfrm>
          <a:prstGeom prst="rect">
            <a:avLst/>
          </a:prstGeom>
          <a:solidFill>
            <a:srgbClr val="00B4D8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6291072" y="3236976"/>
            <a:ext cx="2633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00B4D8"/>
                </a:solidFill>
              </a:rPr>
              <a:t>EXAMPLE QUESTIONS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91072" y="3456432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6327648" y="34564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"Show all plans created this week"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91072" y="3785616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6327648" y="378561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"Compare P90 dates across my last 3 runs"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291072" y="4114800"/>
            <a:ext cx="26334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6327648" y="4114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💬  "Which analysis had the fastest activation?"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291072" y="4462272"/>
            <a:ext cx="2633472" cy="420624"/>
          </a:xfrm>
          <a:prstGeom prst="rect">
            <a:avLst/>
          </a:prstGeom>
          <a:solidFill>
            <a:srgbClr val="1A2E45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6327648" y="446227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Requires result-persistence logic in app layer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56032" y="4956048"/>
            <a:ext cx="8631936" cy="128016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01168" y="91440"/>
            <a:ext cx="566928" cy="566928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01168" y="91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✦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0"/>
            <a:ext cx="79552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Genie  —  Recommended Path &amp; Architecture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4069080" cy="34747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56032" y="8961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★  RECOMMENDED FOR PoC DEMO  —  OPTION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40690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56032" y="1335024"/>
            <a:ext cx="73152" cy="54864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02336" y="1463040"/>
            <a:ext cx="292608" cy="29260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0233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133502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Open ATP GPD Expl workspace → Genie (sidebar)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956816"/>
            <a:ext cx="40690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56032" y="1956816"/>
            <a:ext cx="73152" cy="54864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02336" y="2084832"/>
            <a:ext cx="292608" cy="29260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02336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" y="195681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Create a Genie Space → connect to smart_poc.smart.*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" y="2578608"/>
            <a:ext cx="40690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56032" y="2578608"/>
            <a:ext cx="73152" cy="54864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402336" y="2706624"/>
            <a:ext cx="292608" cy="29260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02336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" y="257860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Point at smart_category_activation_timelines table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3200400"/>
            <a:ext cx="40690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56032" y="3200400"/>
            <a:ext cx="73152" cy="54864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02336" y="3328416"/>
            <a:ext cx="292608" cy="29260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02336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" y="3200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Demo alongside app — zero code changes required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6032" y="3840480"/>
            <a:ext cx="1920240" cy="274320"/>
          </a:xfrm>
          <a:prstGeom prst="rect">
            <a:avLst/>
          </a:prstGeom>
          <a:solidFill>
            <a:srgbClr val="06D6A0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56032" y="3840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✓  CAN answer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032" y="4160520"/>
            <a:ext cx="1920240" cy="237744"/>
          </a:xfrm>
          <a:prstGeom prst="rect">
            <a:avLst/>
          </a:prstGeom>
          <a:solidFill>
            <a:srgbClr val="E8FF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292608" y="4160520"/>
            <a:ext cx="1865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D6A0"/>
                </a:solidFill>
              </a:rPr>
              <a:t>✓  Questions about Delta Lake tables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4434840"/>
            <a:ext cx="1920240" cy="237744"/>
          </a:xfrm>
          <a:prstGeom prst="rect">
            <a:avLst/>
          </a:prstGeom>
          <a:solidFill>
            <a:srgbClr val="E8FF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292608" y="4434840"/>
            <a:ext cx="1865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D6A0"/>
                </a:solidFill>
              </a:rPr>
              <a:t>✓  Raw data, saved plans, timelines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" y="4709160"/>
            <a:ext cx="1920240" cy="237744"/>
          </a:xfrm>
          <a:prstGeom prst="rect">
            <a:avLst/>
          </a:prstGeom>
          <a:solidFill>
            <a:srgbClr val="E8FF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92608" y="4709160"/>
            <a:ext cx="18653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D6A0"/>
                </a:solidFill>
              </a:rPr>
              <a:t>✓  Historical result comparisons (Opt 3)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304288" y="3840480"/>
            <a:ext cx="2011680" cy="274320"/>
          </a:xfrm>
          <a:prstGeom prst="rect">
            <a:avLst/>
          </a:prstGeom>
          <a:solidFill>
            <a:srgbClr val="EF476F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2304288" y="3840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✗  CANNOT answer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304288" y="4160520"/>
            <a:ext cx="2011680" cy="23774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340864" y="4160520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76F"/>
                </a:solidFill>
              </a:rPr>
              <a:t>✗  Live API/in-memory computation results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304288" y="4434840"/>
            <a:ext cx="2011680" cy="23774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340864" y="4434840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76F"/>
                </a:solidFill>
              </a:rPr>
              <a:t>✗  Runtime simulation state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04288" y="4709160"/>
            <a:ext cx="2011680" cy="23774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340864" y="4709160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76F"/>
                </a:solidFill>
              </a:rPr>
              <a:t>✗  Unless Option 3 (write back) is implemented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0" y="896112"/>
            <a:ext cx="4315968" cy="347472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572000" y="896112"/>
            <a:ext cx="4315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OPTION 3  —  TARGET ARCHITECTURE  (Best of Both)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0" y="1335024"/>
            <a:ext cx="374904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4937760" y="13807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SMArT Web App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37760" y="16276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React + Flask/FastAPI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675120" y="1883664"/>
            <a:ext cx="54864" cy="2377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4846320" y="2029968"/>
            <a:ext cx="374904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90E0EF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937760" y="20756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</a:rPr>
              <a:t>Flask Backend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937760" y="232257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Proxy → Genie Conversation API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675120" y="2578608"/>
            <a:ext cx="54864" cy="2377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4846320" y="2724912"/>
            <a:ext cx="374904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9B5DE5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937760" y="27706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DE5"/>
                </a:solidFill>
              </a:rPr>
              <a:t>Delta Lake Tables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937760" y="3017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smart_poc.smart.*  +  results tables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675120" y="3273552"/>
            <a:ext cx="54864" cy="2377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846320" y="3419856"/>
            <a:ext cx="374904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9B5DE5"/>
            </a:solidFill>
            <a:prstDash val="solid"/>
          </a:ln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937760" y="34655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DE5"/>
                </a:solidFill>
              </a:rPr>
              <a:t>Genie Space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937760" y="37124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0DDE6"/>
                </a:solidFill>
              </a:rPr>
              <a:t>Natural language → SQL → Delta Lake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846320" y="4114800"/>
            <a:ext cx="3749040" cy="566928"/>
          </a:xfrm>
          <a:prstGeom prst="rect">
            <a:avLst/>
          </a:prstGeom>
          <a:solidFill>
            <a:srgbClr val="001A20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4846320" y="4114800"/>
            <a:ext cx="73152" cy="56692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92624" y="4151376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</a:rPr>
              <a:t>Result write-back: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992624" y="4352544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D0DDE6"/>
                </a:solidFill>
              </a:rPr>
              <a:t>site_activation_details_results  ·  summary_results  →  queryable by Genie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669280" y="182880"/>
            <a:ext cx="3840480" cy="3840480"/>
          </a:xfrm>
          <a:prstGeom prst="ellipse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309360" y="822960"/>
            <a:ext cx="2560320" cy="256032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669280" y="182880"/>
            <a:ext cx="38404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9600" dirty="0"/>
          </a:p>
        </p:txBody>
      </p:sp>
      <p:sp>
        <p:nvSpPr>
          <p:cNvPr id="7" name="Shape 5"/>
          <p:cNvSpPr/>
          <p:nvPr/>
        </p:nvSpPr>
        <p:spPr>
          <a:xfrm>
            <a:off x="365760" y="640080"/>
            <a:ext cx="2926080" cy="31089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65760" y="6400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DETAILED COST ANALYSIS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078992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Pricing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Cost Strategies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0E0EF"/>
                </a:solidFill>
              </a:rPr>
              <a:t>AWS Premium Tier  ·  All 3 Environments  ·  Pay-as-you-go → Committed pricing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4937760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3154680"/>
            <a:ext cx="73152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12064" y="3154680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Per-environment breakdown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557016"/>
            <a:ext cx="4937760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65760" y="3557016"/>
            <a:ext cx="73152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12064" y="355701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3 cost scenarios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3959352"/>
            <a:ext cx="4937760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65760" y="3959352"/>
            <a:ext cx="73152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12064" y="3959352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Optimization strategies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361688"/>
            <a:ext cx="4937760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65760" y="4361688"/>
            <a:ext cx="73152" cy="3291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12064" y="4361688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Current stack comparison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</a:rPr>
              <a:t>SMArT Platform Migration  ·  June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DBU Rates &amp; Per-Environment Cost Breakdown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" y="896112"/>
            <a:ext cx="8631936" cy="82296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84048" y="91440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00B4D8"/>
                </a:solidFill>
              </a:rPr>
              <a:t>DBU RATES  — AWS Premium Tier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4048" y="1188720"/>
            <a:ext cx="2011680" cy="43891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84048" y="1197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Databricks App (Medium)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4048" y="138988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$0.275/hr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2011680" cy="43891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60320" y="1197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SQL Serverless Warehouse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60320" y="138988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$1.10/hr active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6592" y="1188720"/>
            <a:ext cx="2011680" cy="43891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736592" y="1197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1-yr commit discount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36592" y="138988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25–45% saving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12864" y="1188720"/>
            <a:ext cx="2011680" cy="438912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912864" y="1197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3-yr commit discount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912864" y="138988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40–55% saving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" y="1810512"/>
            <a:ext cx="2798064" cy="3200400"/>
          </a:xfrm>
          <a:prstGeom prst="rect">
            <a:avLst/>
          </a:prstGeom>
          <a:solidFill>
            <a:srgbClr val="EEF5FB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56032" y="1810512"/>
            <a:ext cx="2798064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56032" y="1883664"/>
            <a:ext cx="2798064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47472" y="1883664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</a:rPr>
              <a:t>🛠  DEV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01752" y="2395728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65760" y="243230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App (10 hrs/day × 22 days)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194560" y="243230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$60–$80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1752" y="2871216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65760" y="29077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SQL Warehouse (~2 hrs/day)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194560" y="290779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$48–$60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01752" y="3346704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65760" y="3383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Delta Lake Storage (~10 GB)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94560" y="33832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$2–$5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" y="3822192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65760" y="38587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Unity Catalog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194560" y="38587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Included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6032" y="4297680"/>
            <a:ext cx="2798064" cy="40233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56032" y="4297680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TOTAL  ~$110–$145/mo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27832" y="1810512"/>
            <a:ext cx="2798064" cy="3200400"/>
          </a:xfrm>
          <a:prstGeom prst="rect">
            <a:avLst/>
          </a:prstGeom>
          <a:solidFill>
            <a:srgbClr val="EEF5FB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3227832" y="1810512"/>
            <a:ext cx="2798064" cy="7315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3227832" y="1883664"/>
            <a:ext cx="2798064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319272" y="1883664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166"/>
                </a:solidFill>
              </a:rPr>
              <a:t>🧪  STAGE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3273552" y="2395728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337560" y="243230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App (8 hrs/day × 22 days)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166360" y="243230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$48–$65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273552" y="2871216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337560" y="29077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SQL Warehouse (~1 hr/day)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66360" y="290779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$24–$30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73552" y="3346704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337560" y="3383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Delta Lake Storage (~10 GB)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166360" y="33832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$2–$5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73552" y="3822192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337560" y="38587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Unity Catalog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166360" y="38587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Included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27832" y="4297680"/>
            <a:ext cx="2798064" cy="402336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27832" y="4297680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TOTAL  ~$75–$100/mo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199632" y="1810512"/>
            <a:ext cx="2798064" cy="3200400"/>
          </a:xfrm>
          <a:prstGeom prst="rect">
            <a:avLst/>
          </a:prstGeom>
          <a:solidFill>
            <a:srgbClr val="EEF5FB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6199632" y="1810512"/>
            <a:ext cx="2798064" cy="7315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6199632" y="1883664"/>
            <a:ext cx="2798064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6291072" y="1883664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D6A0"/>
                </a:solidFill>
              </a:rPr>
              <a:t>🚀  PROD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245352" y="2395728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6309360" y="243230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App (24/7 always-on)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138160" y="243230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$200–$270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245352" y="2871216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6309360" y="29077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SQL Warehouse (~4 hrs/day)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138160" y="290779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$96–$120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5352" y="3346704"/>
            <a:ext cx="2706624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6309360" y="3383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Delta Lake Storage (50–100 GB)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8138160" y="33832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$10–$25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6245352" y="3822192"/>
            <a:ext cx="2706624" cy="438912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6309360" y="38587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Unity Catalog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8138160" y="38587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1B2A"/>
                </a:solidFill>
              </a:rPr>
              <a:t>Included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199632" y="4297680"/>
            <a:ext cx="2798064" cy="402336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6199632" y="4297680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TOTAL  ~$305–$415/mo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56032" y="4773168"/>
            <a:ext cx="8631936" cy="27432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FA3B1"/>
                </a:solidFill>
              </a:rPr>
              <a:t>ℹ  App size: Medium (0.5 DBU/hr)  ·  DBU rate: $0.55 pay-as-you-go  ·  Region: AWS us-east-1  ·  Unity Catalog included at Premium tier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Cost Optimization Strategies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" y="914400"/>
            <a:ext cx="4315968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56032" y="914400"/>
            <a:ext cx="91440" cy="1207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38912" y="1005840"/>
            <a:ext cx="329184" cy="32918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38912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005840"/>
            <a:ext cx="932688" cy="274320"/>
          </a:xfrm>
          <a:prstGeom prst="rect">
            <a:avLst/>
          </a:prstGeom>
          <a:solidFill>
            <a:srgbClr val="00B4D8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566160" y="100584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40–60% on Dev/Stage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59536" y="1005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Stop Dev/Stage outside business hours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" y="1353312"/>
            <a:ext cx="40782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Auto-shutdown after 30-min idle. Dev/Stage only run ~10 hrs/day instead of 24/7. Biggest single lever for non-prod environments.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2249424"/>
            <a:ext cx="4315968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56032" y="2249424"/>
            <a:ext cx="91440" cy="120700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38912" y="2340864"/>
            <a:ext cx="329184" cy="329184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38912" y="2340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566160" y="2340864"/>
            <a:ext cx="932688" cy="274320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566160" y="23408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25–45% across all envs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59536" y="234086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Committed DBU pricing (1yr or 3yr)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0624" y="2688336"/>
            <a:ext cx="40782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1-year commit: ~$0.40–0.50/DBU vs $0.55 pay-as-you-go. 3-year commit: ~$0.30–0.40/DBU. Significant reduction once usage is proven stable.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3584448"/>
            <a:ext cx="4315968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56032" y="3584448"/>
            <a:ext cx="91440" cy="120700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438912" y="3675888"/>
            <a:ext cx="329184" cy="329184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38912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675888"/>
            <a:ext cx="932688" cy="274320"/>
          </a:xfrm>
          <a:prstGeom prst="rect">
            <a:avLst/>
          </a:prstGeom>
          <a:solidFill>
            <a:srgbClr val="06D6A0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66160" y="3675888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50% on App compute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59536" y="3675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Small app size instead of Medium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0624" y="4023360"/>
            <a:ext cx="40782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Downsize from Medium (0.5 DBU/hr) to Small (0.25 DBU/hr) for Dev/Stage. Halves App compute cost if performance is sufficient for non-prod workloads.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28032" y="914400"/>
            <a:ext cx="4315968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828032" y="914400"/>
            <a:ext cx="91440" cy="120700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010912" y="1005840"/>
            <a:ext cx="329184" cy="329184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010912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138160" y="1005840"/>
            <a:ext cx="932688" cy="274320"/>
          </a:xfrm>
          <a:prstGeom prst="rect">
            <a:avLst/>
          </a:prstGeom>
          <a:solidFill>
            <a:srgbClr val="9B5DE5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8138160" y="100584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Pay only for queries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31536" y="1005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Serverless SQL auto-suspend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92624" y="1353312"/>
            <a:ext cx="40782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Serverless Warehouse behaviour — billing stops immediately when idle. No minimum charge. Combine with query result caching to reduce active hours.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28032" y="2249424"/>
            <a:ext cx="4315968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828032" y="2249424"/>
            <a:ext cx="91440" cy="120700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5010912" y="2340864"/>
            <a:ext cx="329184" cy="329184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010912" y="2340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2340864"/>
            <a:ext cx="932688" cy="274320"/>
          </a:xfrm>
          <a:prstGeom prst="rect">
            <a:avLst/>
          </a:prstGeom>
          <a:solidFill>
            <a:srgbClr val="FF6B35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8138160" y="23408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Reduce workspace overhead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431536" y="234086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Dev/Stage share a single workspace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92624" y="2688336"/>
            <a:ext cx="40782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Schema-based isolation within one workspace eliminates duplicate workspace overhead. Unity Catalog RBAC enforces access control between schemas.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56032" y="4663440"/>
            <a:ext cx="8631936" cy="3840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256032" y="4663440"/>
            <a:ext cx="91440" cy="38404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420624" y="466344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Optimised (off-hours + 1yr commit): </a:t>
            </a:r>
            <a:r>
              <a:rPr lang="en-US" sz="1100" b="1" dirty="0">
                <a:solidFill>
                  <a:srgbClr val="06D6A0"/>
                </a:solidFill>
              </a:rPr>
              <a:t>~$350/mo  (~$4,200/yr)  </a:t>
            </a:r>
            <a:r>
              <a:rPr lang="en-US" sz="1100" dirty="0">
                <a:solidFill>
                  <a:srgbClr val="8FA3B1"/>
                </a:solidFill>
              </a:rPr>
              <a:t>   |   Off-hours + 3yr commit: </a:t>
            </a:r>
            <a:r>
              <a:rPr lang="en-US" sz="1100" b="1" dirty="0">
                <a:solidFill>
                  <a:srgbClr val="00B4D8"/>
                </a:solidFill>
              </a:rPr>
              <a:t>~$280/mo  (~$3,360/yr)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Stack Comparison: Current vs Databricks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468880" y="896112"/>
            <a:ext cx="3017520" cy="347472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468880" y="8961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CURRENT  — Dataiku + Snowflake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23560" y="896112"/>
            <a:ext cx="3264408" cy="34747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623560" y="896112"/>
            <a:ext cx="3264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PROPOSED  — Databricks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8631936" cy="42062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56032" y="13350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13350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Platform License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3350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Dataiku license (significant fixed cost)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68112" y="13350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87568" y="13350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Included in DBU consumption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6032" y="1792224"/>
            <a:ext cx="8631936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56032" y="17922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0040" y="17922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Compute Model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14600" y="17922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Dataiku infrastructure (fixed)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68112" y="17922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87568" y="17922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Serverless — pay-per-use only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6032" y="2249424"/>
            <a:ext cx="8631936" cy="42062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56032" y="22494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22494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Database Cost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14600" y="22494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Snowflake — separate license + compute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68112" y="22494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87568" y="22494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Delta Lake — S3 storage at $0.023/GB/mo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2706624"/>
            <a:ext cx="8631936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56032" y="27066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20040" y="27066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App Hosting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14600" y="27066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Dataiku webapp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468112" y="27066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87568" y="27066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Databricks Apps (0.5 DBU/hr)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56032" y="3163824"/>
            <a:ext cx="8631936" cy="42062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56032" y="31638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1638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Data Governance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514600" y="31638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Manual / limited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468112" y="31638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87568" y="31638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Unity Catalog — included with Premium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6032" y="3621024"/>
            <a:ext cx="8631936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256032" y="36210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20040" y="36210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CI/CD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514600" y="36210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Custom setup required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68112" y="36210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687568" y="36210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Databricks Asset Bundles (DABs) native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56032" y="4078224"/>
            <a:ext cx="8631936" cy="42062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256032" y="40782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40782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Dev/Stage Cost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514600" y="40782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</a:rPr>
              <a:t>Fixed (same as prod license cost)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468112" y="40782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687568" y="40782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D6A0"/>
                </a:solidFill>
              </a:rPr>
              <a:t>Usage-based — auto-shutdown saves 40–60%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56032" y="4535424"/>
            <a:ext cx="8631936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256032" y="453542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320040" y="4535424"/>
            <a:ext cx="2084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Annual Total (est.)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514600" y="4535424"/>
            <a:ext cx="29443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55555"/>
                </a:solidFill>
              </a:rPr>
              <a:t>$30,900/yr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68112" y="4535424"/>
            <a:ext cx="2011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</a:rPr>
              <a:t>→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687568" y="45354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D6A0"/>
                </a:solidFill>
              </a:rPr>
              <a:t>$4,200–$5,880/yr (optimised–conservative)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56032" y="5010912"/>
            <a:ext cx="8631936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503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Recommended Cost Strategy &amp; Savings Roadmap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960120"/>
            <a:ext cx="2084832" cy="402336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01168" y="960120"/>
            <a:ext cx="2084832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92608" y="1078992"/>
            <a:ext cx="1901952" cy="438912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92608" y="1078992"/>
            <a:ext cx="1901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Day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B4D8"/>
                </a:solidFill>
              </a:rPr>
              <a:t>Go-Live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" y="160020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Pay-as-you-go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+ Auto-shutdown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2103120"/>
            <a:ext cx="1938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~$350/mo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74320" y="2487168"/>
            <a:ext cx="1938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~$4,200/yr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" y="2798064"/>
            <a:ext cx="1444752" cy="237744"/>
          </a:xfrm>
          <a:prstGeom prst="rect">
            <a:avLst/>
          </a:prstGeom>
          <a:solidFill>
            <a:srgbClr val="00B4D8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21208" y="279806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</a:rPr>
              <a:t>86% vs DSS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3127248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74320" y="3127248"/>
            <a:ext cx="54864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312724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Medium app (0.5 DBU/hr) all envs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3547872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74320" y="3547872"/>
            <a:ext cx="54864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65760" y="354787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Dev/Stage off-hours auto-shutdown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3968496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74320" y="3968496"/>
            <a:ext cx="54864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65760" y="396849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Serverless SQL, no idle cost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4389120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74320" y="4389120"/>
            <a:ext cx="54864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65760" y="4389120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Unity Catalog included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286000" y="2231136"/>
            <a:ext cx="146304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2432304" y="960120"/>
            <a:ext cx="2084832" cy="402336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432304" y="960120"/>
            <a:ext cx="2084832" cy="7315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2523744" y="1078992"/>
            <a:ext cx="1901952" cy="438912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523744" y="1078992"/>
            <a:ext cx="1901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D166"/>
                </a:solidFill>
              </a:rPr>
              <a:t>Year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D166"/>
                </a:solidFill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23744" y="160020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1-Year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Commit (CUD)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05456" y="2103120"/>
            <a:ext cx="1938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~$230/mo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505456" y="2487168"/>
            <a:ext cx="1938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~$2,760/yr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52344" y="2798064"/>
            <a:ext cx="1444752" cy="237744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752344" y="279806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91% vs DSS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05456" y="3127248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2505456" y="3127248"/>
            <a:ext cx="54864" cy="36576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2596896" y="312724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Apply 1yr commit after usage proven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505456" y="3547872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2505456" y="3547872"/>
            <a:ext cx="54864" cy="36576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2596896" y="354787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Rate drops to ~$0.40–0.50/DBU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505456" y="3968496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2505456" y="3968496"/>
            <a:ext cx="54864" cy="36576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596896" y="396849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Review app sizing (Small vs Medium)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505456" y="4389120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2505456" y="4389120"/>
            <a:ext cx="54864" cy="36576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2596896" y="4389120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~25–45% further reduction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17136" y="2231136"/>
            <a:ext cx="146304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663440" y="960120"/>
            <a:ext cx="2084832" cy="402336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663440" y="960120"/>
            <a:ext cx="2084832" cy="7315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4754880" y="1078992"/>
            <a:ext cx="1901952" cy="438912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754880" y="1078992"/>
            <a:ext cx="1901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D6A0"/>
                </a:solidFill>
              </a:rPr>
              <a:t>Year 2+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D6A0"/>
                </a:solidFill>
              </a:rPr>
              <a:t>Optimised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754880" y="160020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Small App Size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+ 1yr CUD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36592" y="2103120"/>
            <a:ext cx="1938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~$180/mo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4736592" y="2487168"/>
            <a:ext cx="1938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~$2,160/yr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983480" y="2798064"/>
            <a:ext cx="1444752" cy="237744"/>
          </a:xfrm>
          <a:prstGeom prst="rect">
            <a:avLst/>
          </a:prstGeom>
          <a:solidFill>
            <a:srgbClr val="06D6A0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4983480" y="279806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93% vs DSS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36592" y="3127248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4736592" y="3127248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828032" y="312724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Downsize Dev/Stage to Small (0.25 DBU)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736592" y="3547872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4736592" y="3547872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828032" y="354787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Prod stays Medium if load requires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736592" y="3968496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4736592" y="3968496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828032" y="396849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Further 50% App compute reduction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736592" y="4389120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4736592" y="4389120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4828032" y="4389120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Dev/Stage share single workspace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748272" y="2231136"/>
            <a:ext cx="146304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6894576" y="960120"/>
            <a:ext cx="2084832" cy="4023360"/>
          </a:xfrm>
          <a:prstGeom prst="rect">
            <a:avLst/>
          </a:prstGeom>
          <a:solidFill>
            <a:srgbClr val="243B55"/>
          </a:solidFill>
          <a:ln/>
          <a:effectLst>
            <a:outerShdw blurRad="88900" dist="38100" dir="81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6894576" y="960120"/>
            <a:ext cx="2084832" cy="7315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6986016" y="1078992"/>
            <a:ext cx="1901952" cy="438912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6986016" y="1078992"/>
            <a:ext cx="19019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D6A0"/>
                </a:solidFill>
              </a:rPr>
              <a:t>Year 3+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6D6A0"/>
                </a:solidFill>
              </a:rPr>
              <a:t>Full Optimised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6986016" y="160020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3-Year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Commit (CUD)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967728" y="2103120"/>
            <a:ext cx="1938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~$140/mo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6967728" y="2487168"/>
            <a:ext cx="1938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~$1,680/yr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7214616" y="2798064"/>
            <a:ext cx="1444752" cy="237744"/>
          </a:xfrm>
          <a:prstGeom prst="rect">
            <a:avLst/>
          </a:prstGeom>
          <a:solidFill>
            <a:srgbClr val="06D6A0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7214616" y="279806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95% vs DSS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967728" y="3127248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6967728" y="3127248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7059168" y="312724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3yr commit: ~$0.30–0.40/DBU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967728" y="3547872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6967728" y="3547872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7059168" y="354787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Lowest possible unit cost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967728" y="3968496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6967728" y="3968496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7059168" y="396849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Full AI stack (Genie, MLflow) included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967728" y="4389120"/>
            <a:ext cx="1938528" cy="3657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6967728" y="4389120"/>
            <a:ext cx="54864" cy="365760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7059168" y="4389120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Cost well below any alternative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201168" y="5074920"/>
            <a:ext cx="8741664" cy="5943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Migration Effort Estimation  —  9 Phases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"/>
            <a:ext cx="16459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223760" y="91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~17 Weeks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Total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1168" y="804672"/>
            <a:ext cx="8741664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37744" y="80467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</a:rPr>
              <a:t>#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Phase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23160" y="804672"/>
            <a:ext cx="37673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Key Activities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36208" y="804672"/>
            <a:ext cx="749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</a:rPr>
              <a:t>Effort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040880" y="80467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B4D8"/>
                </a:solidFill>
              </a:rPr>
              <a:t>Weeks →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931152" y="804672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548372" y="804672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165592" y="804672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782812" y="804672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3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400032" y="804672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01168" y="1133856"/>
            <a:ext cx="8741664" cy="4352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01168" y="1133856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46888" y="1216152"/>
            <a:ext cx="256032" cy="256032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46888" y="1216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117043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Architecture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23160" y="1170432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validation · Databricks workspace setup · Unity Catalog design · ADLC &amp; security review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36208" y="1225296"/>
            <a:ext cx="749808" cy="237744"/>
          </a:xfrm>
          <a:prstGeom prst="rect">
            <a:avLst/>
          </a:prstGeom>
          <a:solidFill>
            <a:srgbClr val="00B4D8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236208" y="1225296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1.5–2 wks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658100" y="1133856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8275320" y="1133856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8892540" y="1133856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9509760" y="1133856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7040880" y="1225296"/>
            <a:ext cx="1080135" cy="237744"/>
          </a:xfrm>
          <a:prstGeom prst="rect">
            <a:avLst/>
          </a:prstGeom>
          <a:solidFill>
            <a:srgbClr val="00B4D8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040880" y="1225296"/>
            <a:ext cx="1080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1.5–2 wks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1168" y="1569110"/>
            <a:ext cx="8741664" cy="435254"/>
          </a:xfrm>
          <a:prstGeom prst="rect">
            <a:avLst/>
          </a:prstGeom>
          <a:solidFill>
            <a:srgbClr val="F5F8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201168" y="1569110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6888" y="1651406"/>
            <a:ext cx="256032" cy="256032"/>
          </a:xfrm>
          <a:prstGeom prst="ellipse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6888" y="16514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" y="160568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&amp; CI/CD Setup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423160" y="1605686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DAB setup · GitHub Actions · Service Principals · RBAC · Dev/Stage/Prod configuration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36208" y="1660550"/>
            <a:ext cx="749808" cy="237744"/>
          </a:xfrm>
          <a:prstGeom prst="rect">
            <a:avLst/>
          </a:prstGeom>
          <a:solidFill>
            <a:srgbClr val="0096B7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236208" y="1660550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3 wks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658100" y="1569110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8275320" y="1569110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8892540" y="1569110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9509760" y="1569110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7040880" y="1660550"/>
            <a:ext cx="1851660" cy="237744"/>
          </a:xfrm>
          <a:prstGeom prst="rect">
            <a:avLst/>
          </a:prstGeom>
          <a:solidFill>
            <a:srgbClr val="0096B7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7040880" y="1660550"/>
            <a:ext cx="18516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 wks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01168" y="2004365"/>
            <a:ext cx="8741664" cy="4352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201168" y="2004365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246888" y="2086661"/>
            <a:ext cx="256032" cy="256032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246888" y="20866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66928" y="2040941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423160" y="2040941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schema analysis · Delta Lake design · migration scripts · validation testing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236208" y="2095805"/>
            <a:ext cx="749808" cy="237744"/>
          </a:xfrm>
          <a:prstGeom prst="rect">
            <a:avLst/>
          </a:prstGeom>
          <a:solidFill>
            <a:srgbClr val="FFD16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6236208" y="2095805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3 wks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658100" y="2004365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8275320" y="2004365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8892540" y="2004365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9509760" y="2004365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7040880" y="2095805"/>
            <a:ext cx="1851660" cy="237744"/>
          </a:xfrm>
          <a:prstGeom prst="rect">
            <a:avLst/>
          </a:prstGeom>
          <a:solidFill>
            <a:srgbClr val="FFD166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7040880" y="2095805"/>
            <a:ext cx="18516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 wks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01168" y="2439619"/>
            <a:ext cx="8741664" cy="435254"/>
          </a:xfrm>
          <a:prstGeom prst="rect">
            <a:avLst/>
          </a:prstGeom>
          <a:solidFill>
            <a:srgbClr val="F5F8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Shape 59"/>
          <p:cNvSpPr/>
          <p:nvPr/>
        </p:nvSpPr>
        <p:spPr>
          <a:xfrm>
            <a:off x="201168" y="2439619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246888" y="2521915"/>
            <a:ext cx="256032" cy="256032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246888" y="25219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66928" y="2476195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Migration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423160" y="2476195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adaptation for Databricks Apps · configuration refactoring · secrets management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236208" y="2531059"/>
            <a:ext cx="749808" cy="237744"/>
          </a:xfrm>
          <a:prstGeom prst="rect">
            <a:avLst/>
          </a:prstGeom>
          <a:solidFill>
            <a:srgbClr val="06D6A0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6236208" y="2531059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4 wks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7658100" y="2439619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8275320" y="2439619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8892540" y="2439619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9509760" y="2439619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7040880" y="2531059"/>
            <a:ext cx="2468880" cy="237744"/>
          </a:xfrm>
          <a:prstGeom prst="rect">
            <a:avLst/>
          </a:prstGeom>
          <a:solidFill>
            <a:srgbClr val="06D6A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7040880" y="2531059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4 wks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201168" y="2874874"/>
            <a:ext cx="8741664" cy="4352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201168" y="2874874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6888" y="2957170"/>
            <a:ext cx="256032" cy="256032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6888" y="29571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66928" y="2911450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Integration Testing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2423160" y="2911450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validation · API testing · environment-specific configuration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6236208" y="2966314"/>
            <a:ext cx="749808" cy="237744"/>
          </a:xfrm>
          <a:prstGeom prst="rect">
            <a:avLst/>
          </a:prstGeom>
          <a:solidFill>
            <a:srgbClr val="9B5DE5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9"/>
          <p:cNvSpPr/>
          <p:nvPr/>
        </p:nvSpPr>
        <p:spPr>
          <a:xfrm>
            <a:off x="6236208" y="2966314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 wk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58100" y="2874874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8275320" y="2874874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8892540" y="2874874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9509760" y="2874874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7040880" y="2966314"/>
            <a:ext cx="617220" cy="237744"/>
          </a:xfrm>
          <a:prstGeom prst="rect">
            <a:avLst/>
          </a:prstGeom>
          <a:solidFill>
            <a:srgbClr val="9B5DE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7" name="Text 85"/>
          <p:cNvSpPr/>
          <p:nvPr/>
        </p:nvSpPr>
        <p:spPr>
          <a:xfrm>
            <a:off x="7040880" y="2966314"/>
            <a:ext cx="617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 wk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201168" y="3310128"/>
            <a:ext cx="8741664" cy="435254"/>
          </a:xfrm>
          <a:prstGeom prst="rect">
            <a:avLst/>
          </a:prstGeom>
          <a:solidFill>
            <a:srgbClr val="F5F8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01168" y="3310128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46888" y="3392424"/>
            <a:ext cx="256032" cy="256032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246888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566928" y="3346704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UAT Deployment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423160" y="3346704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deployment · defect fixing · performance testing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236208" y="3401568"/>
            <a:ext cx="749808" cy="237744"/>
          </a:xfrm>
          <a:prstGeom prst="rect">
            <a:avLst/>
          </a:prstGeom>
          <a:solidFill>
            <a:srgbClr val="FF6B35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6236208" y="340156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 wk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7658100" y="3310128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Shape 95"/>
          <p:cNvSpPr/>
          <p:nvPr/>
        </p:nvSpPr>
        <p:spPr>
          <a:xfrm>
            <a:off x="8275320" y="3310128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Shape 96"/>
          <p:cNvSpPr/>
          <p:nvPr/>
        </p:nvSpPr>
        <p:spPr>
          <a:xfrm>
            <a:off x="8892540" y="3310128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9509760" y="3310128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7040880" y="3401568"/>
            <a:ext cx="617220" cy="237744"/>
          </a:xfrm>
          <a:prstGeom prst="rect">
            <a:avLst/>
          </a:prstGeom>
          <a:solidFill>
            <a:srgbClr val="FF6B35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7040880" y="3401568"/>
            <a:ext cx="617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 wk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201168" y="3745382"/>
            <a:ext cx="8741664" cy="4352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01168" y="3745382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Shape 102"/>
          <p:cNvSpPr/>
          <p:nvPr/>
        </p:nvSpPr>
        <p:spPr>
          <a:xfrm>
            <a:off x="246888" y="3827678"/>
            <a:ext cx="256032" cy="256032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246888" y="38276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566928" y="378195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Load Testing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2423160" y="3781958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user testing · Delta query tuning · compute optimization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6236208" y="3836822"/>
            <a:ext cx="749808" cy="237744"/>
          </a:xfrm>
          <a:prstGeom prst="rect">
            <a:avLst/>
          </a:prstGeom>
          <a:solidFill>
            <a:srgbClr val="EF476F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6236208" y="3836822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0.5 wk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7658100" y="3745382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8275320" y="3745382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8892540" y="3745382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Shape 111"/>
          <p:cNvSpPr/>
          <p:nvPr/>
        </p:nvSpPr>
        <p:spPr>
          <a:xfrm>
            <a:off x="9509760" y="3745382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Shape 112"/>
          <p:cNvSpPr/>
          <p:nvPr/>
        </p:nvSpPr>
        <p:spPr>
          <a:xfrm>
            <a:off x="7040880" y="3836822"/>
            <a:ext cx="308610" cy="237744"/>
          </a:xfrm>
          <a:prstGeom prst="rect">
            <a:avLst/>
          </a:prstGeom>
          <a:solidFill>
            <a:srgbClr val="EF476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201168" y="4180637"/>
            <a:ext cx="8741664" cy="435254"/>
          </a:xfrm>
          <a:prstGeom prst="rect">
            <a:avLst/>
          </a:prstGeom>
          <a:solidFill>
            <a:srgbClr val="F5F8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Shape 114"/>
          <p:cNvSpPr/>
          <p:nvPr/>
        </p:nvSpPr>
        <p:spPr>
          <a:xfrm>
            <a:off x="201168" y="4180637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Shape 115"/>
          <p:cNvSpPr/>
          <p:nvPr/>
        </p:nvSpPr>
        <p:spPr>
          <a:xfrm>
            <a:off x="246888" y="4262933"/>
            <a:ext cx="256032" cy="256032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46888" y="42629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566928" y="4217213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Prep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2423160" y="4217213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 · rollback strategy · production readiness review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6236208" y="4272077"/>
            <a:ext cx="749808" cy="237744"/>
          </a:xfrm>
          <a:prstGeom prst="rect">
            <a:avLst/>
          </a:prstGeom>
          <a:solidFill>
            <a:srgbClr val="1A6B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6236208" y="4272077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 wk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7658100" y="4180637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8275320" y="4180637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8892540" y="4180637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Shape 124"/>
          <p:cNvSpPr/>
          <p:nvPr/>
        </p:nvSpPr>
        <p:spPr>
          <a:xfrm>
            <a:off x="9509760" y="4180637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Shape 125"/>
          <p:cNvSpPr/>
          <p:nvPr/>
        </p:nvSpPr>
        <p:spPr>
          <a:xfrm>
            <a:off x="7040880" y="4272077"/>
            <a:ext cx="617220" cy="237744"/>
          </a:xfrm>
          <a:prstGeom prst="rect">
            <a:avLst/>
          </a:prstGeom>
          <a:solidFill>
            <a:srgbClr val="1A6B8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7040880" y="4272077"/>
            <a:ext cx="617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 wk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01168" y="4615891"/>
            <a:ext cx="8741664" cy="4352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Shape 128"/>
          <p:cNvSpPr/>
          <p:nvPr/>
        </p:nvSpPr>
        <p:spPr>
          <a:xfrm>
            <a:off x="201168" y="4615891"/>
            <a:ext cx="8741664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Shape 129"/>
          <p:cNvSpPr/>
          <p:nvPr/>
        </p:nvSpPr>
        <p:spPr>
          <a:xfrm>
            <a:off x="246888" y="4698187"/>
            <a:ext cx="256032" cy="256032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246888" y="469818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9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566928" y="4652467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Run &amp; Hypercare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423160" y="4652467"/>
            <a:ext cx="3767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 &amp; Databricks side-by-side validation · user acceptance · bug fixes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236208" y="4707331"/>
            <a:ext cx="749808" cy="237744"/>
          </a:xfrm>
          <a:prstGeom prst="rect">
            <a:avLst/>
          </a:prstGeom>
          <a:solidFill>
            <a:srgbClr val="06D6A0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6236208" y="4707331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2 wks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658100" y="4615891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Shape 136"/>
          <p:cNvSpPr/>
          <p:nvPr/>
        </p:nvSpPr>
        <p:spPr>
          <a:xfrm>
            <a:off x="8275320" y="4615891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8892540" y="4615891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Shape 138"/>
          <p:cNvSpPr/>
          <p:nvPr/>
        </p:nvSpPr>
        <p:spPr>
          <a:xfrm>
            <a:off x="9509760" y="4615891"/>
            <a:ext cx="7315" cy="43525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1" name="Shape 139"/>
          <p:cNvSpPr/>
          <p:nvPr/>
        </p:nvSpPr>
        <p:spPr>
          <a:xfrm>
            <a:off x="7040880" y="4707331"/>
            <a:ext cx="1234440" cy="237744"/>
          </a:xfrm>
          <a:prstGeom prst="rect">
            <a:avLst/>
          </a:prstGeom>
          <a:solidFill>
            <a:srgbClr val="06D6A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7040880" y="4707331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 wks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201168" y="5087722"/>
            <a:ext cx="8741664" cy="310896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Shape 142"/>
          <p:cNvSpPr/>
          <p:nvPr/>
        </p:nvSpPr>
        <p:spPr>
          <a:xfrm>
            <a:off x="201168" y="5087722"/>
            <a:ext cx="54864" cy="31089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Text 143"/>
          <p:cNvSpPr/>
          <p:nvPr/>
        </p:nvSpPr>
        <p:spPr>
          <a:xfrm>
            <a:off x="320040" y="5087722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</a:rPr>
              <a:t>TOTAL ESTIMATED EFFORT</a:t>
            </a:r>
            <a:endParaRPr lang="en-US" sz="950" dirty="0"/>
          </a:p>
        </p:txBody>
      </p:sp>
      <p:sp>
        <p:nvSpPr>
          <p:cNvPr id="146" name="Text 144"/>
          <p:cNvSpPr/>
          <p:nvPr/>
        </p:nvSpPr>
        <p:spPr>
          <a:xfrm>
            <a:off x="2606040" y="5087722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</a:rPr>
              <a:t>~17 Weeks  (including 0.5–1 week buffer for risk and ADLC sign-off)</a:t>
            </a:r>
            <a:endParaRPr lang="en-US" sz="1000" dirty="0"/>
          </a:p>
        </p:txBody>
      </p:sp>
      <p:sp>
        <p:nvSpPr>
          <p:cNvPr id="147" name="Shape 145"/>
          <p:cNvSpPr/>
          <p:nvPr/>
        </p:nvSpPr>
        <p:spPr>
          <a:xfrm>
            <a:off x="6766560" y="5087722"/>
            <a:ext cx="2121408" cy="31089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8" name="Text 146"/>
          <p:cNvSpPr/>
          <p:nvPr/>
        </p:nvSpPr>
        <p:spPr>
          <a:xfrm>
            <a:off x="6766560" y="5087722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~4 months end-to-end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Effort by Phase  —  Visual Timeline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"/>
            <a:ext cx="16459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223760" y="91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~17 Weeks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Total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1097280"/>
            <a:ext cx="914400" cy="914400"/>
          </a:xfrm>
          <a:prstGeom prst="ellipse">
            <a:avLst/>
          </a:prstGeom>
          <a:solidFill>
            <a:srgbClr val="00B4D8">
              <a:alpha val="85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82880" y="11430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" y="1444752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Discovery &amp;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Architecture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" y="2048256"/>
            <a:ext cx="731520" cy="2011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20482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1.5–2w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97280" y="152704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207008" y="960120"/>
            <a:ext cx="1188720" cy="1188720"/>
          </a:xfrm>
          <a:prstGeom prst="ellipse">
            <a:avLst/>
          </a:prstGeom>
          <a:solidFill>
            <a:srgbClr val="0096B7">
              <a:alpha val="85000"/>
            </a:srgbClr>
          </a:solidFill>
          <a:ln w="12700">
            <a:solidFill>
              <a:srgbClr val="0096B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207008" y="10058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144475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Environment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&amp; CI/CD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35608" y="2185416"/>
            <a:ext cx="731520" cy="201168"/>
          </a:xfrm>
          <a:prstGeom prst="rect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1435608" y="21854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3w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95728" y="152704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505456" y="960120"/>
            <a:ext cx="1188720" cy="1188720"/>
          </a:xfrm>
          <a:prstGeom prst="ellipse">
            <a:avLst/>
          </a:prstGeom>
          <a:solidFill>
            <a:srgbClr val="FFD166">
              <a:alpha val="85000"/>
            </a:srgbClr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505456" y="10058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14016" y="144475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Data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Migration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34056" y="2185416"/>
            <a:ext cx="731520" cy="20116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734056" y="21854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3w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94176" y="152704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803904" y="845820"/>
            <a:ext cx="1417320" cy="1417320"/>
          </a:xfrm>
          <a:prstGeom prst="ellipse">
            <a:avLst/>
          </a:prstGeom>
          <a:solidFill>
            <a:srgbClr val="06D6A0">
              <a:alpha val="85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03904" y="8915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712464" y="1444752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Backend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Migration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146804" y="2299716"/>
            <a:ext cx="731520" cy="20116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146804" y="22997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4w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221224" y="152704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330952" y="1152144"/>
            <a:ext cx="804672" cy="804672"/>
          </a:xfrm>
          <a:prstGeom prst="ellipse">
            <a:avLst/>
          </a:prstGeom>
          <a:solidFill>
            <a:srgbClr val="9B5DE5">
              <a:alpha val="85000"/>
            </a:srgbClr>
          </a:solidFill>
          <a:ln w="12700">
            <a:solidFill>
              <a:srgbClr val="9B5D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330952" y="1197864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39512" y="1444752"/>
            <a:ext cx="9875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Frontend &amp;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Integration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67528" y="1993392"/>
            <a:ext cx="731520" cy="20116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5367528" y="19933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1w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3255264"/>
            <a:ext cx="804672" cy="804672"/>
          </a:xfrm>
          <a:prstGeom prst="ellipse">
            <a:avLst/>
          </a:prstGeom>
          <a:solidFill>
            <a:srgbClr val="FF6B35">
              <a:alpha val="85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02920" y="3300984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47872"/>
            <a:ext cx="9875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QA &amp; UAT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Deployment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39496" y="4096512"/>
            <a:ext cx="731520" cy="20116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39496" y="40965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1w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307592" y="363016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1655064" y="3314700"/>
            <a:ext cx="685800" cy="685800"/>
          </a:xfrm>
          <a:prstGeom prst="ellipse">
            <a:avLst/>
          </a:prstGeom>
          <a:solidFill>
            <a:srgbClr val="EF476F">
              <a:alpha val="85000"/>
            </a:srgbClr>
          </a:solidFill>
          <a:ln w="12700">
            <a:solidFill>
              <a:srgbClr val="EF47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1655064" y="336042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563624" y="3547872"/>
            <a:ext cx="868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Perf &amp;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Load Test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632204" y="4037076"/>
            <a:ext cx="731520" cy="20116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1632204" y="40370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0.5w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340864" y="363016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2688336" y="3255264"/>
            <a:ext cx="804672" cy="804672"/>
          </a:xfrm>
          <a:prstGeom prst="ellipse">
            <a:avLst/>
          </a:prstGeom>
          <a:solidFill>
            <a:srgbClr val="1A6B8A">
              <a:alpha val="85000"/>
            </a:srgbClr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2688336" y="3300984"/>
            <a:ext cx="8046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596896" y="3547872"/>
            <a:ext cx="9875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Prod Prep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24912" y="4096512"/>
            <a:ext cx="731520" cy="201168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2724912" y="40965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1w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493008" y="3630168"/>
            <a:ext cx="73152" cy="54864"/>
          </a:xfrm>
          <a:prstGeom prst="rect">
            <a:avLst/>
          </a:prstGeom>
          <a:solidFill>
            <a:srgbClr val="8FA3B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3840480" y="3154680"/>
            <a:ext cx="1005840" cy="1005840"/>
          </a:xfrm>
          <a:prstGeom prst="ellipse">
            <a:avLst/>
          </a:prstGeom>
          <a:solidFill>
            <a:srgbClr val="06D6A0">
              <a:alpha val="85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3840480" y="32004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3749040" y="3547872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Parallel Run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&amp; Hypercare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977640" y="4197096"/>
            <a:ext cx="731520" cy="20116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3977640" y="419709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2w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56032" y="4809744"/>
            <a:ext cx="164592" cy="16459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457200" y="477316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Critical Path (Backend 4w)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020824" y="4809744"/>
            <a:ext cx="164592" cy="164592"/>
          </a:xfrm>
          <a:prstGeom prst="rect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2221992" y="477316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Infrastructure (Env+CI/CD 3w)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785616" y="4809744"/>
            <a:ext cx="164592" cy="16459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3986784" y="477316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Data (Migration 3w)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550408" y="4809744"/>
            <a:ext cx="164592" cy="164592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751576" y="477316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Validation (QA+Parallel 3w)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7315200" y="4809744"/>
            <a:ext cx="164592" cy="16459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7516368" y="4773168"/>
            <a:ext cx="1627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0DDE6"/>
                </a:solidFill>
              </a:rPr>
              <a:t>Other phases (4w)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4008"/>
            <a:ext cx="109728" cy="501548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120640" y="-365760"/>
            <a:ext cx="5029200" cy="5029200"/>
          </a:xfrm>
          <a:prstGeom prst="ellipse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852160" y="365760"/>
            <a:ext cx="3566160" cy="3566160"/>
          </a:xfrm>
          <a:prstGeom prst="ellipse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92240" y="1005840"/>
            <a:ext cx="2286000" cy="22860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754880" y="3657600"/>
            <a:ext cx="502920" cy="502920"/>
          </a:xfrm>
          <a:prstGeom prst="ellipse">
            <a:avLst/>
          </a:prstGeom>
          <a:solidFill>
            <a:srgbClr val="00B4D8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297680" y="4297680"/>
            <a:ext cx="274320" cy="274320"/>
          </a:xfrm>
          <a:prstGeom prst="ellipse">
            <a:avLst/>
          </a:prstGeom>
          <a:solidFill>
            <a:srgbClr val="FFD166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5394960" y="4114800"/>
            <a:ext cx="182880" cy="182880"/>
          </a:xfrm>
          <a:prstGeom prst="ellipse">
            <a:avLst/>
          </a:prstGeom>
          <a:solidFill>
            <a:srgbClr val="06D6A0">
              <a:alpha val="6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760" y="8229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12" name="Shape 10"/>
          <p:cNvSpPr/>
          <p:nvPr/>
        </p:nvSpPr>
        <p:spPr>
          <a:xfrm>
            <a:off x="365760" y="2176272"/>
            <a:ext cx="292608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23317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Platform Migration Proposal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5760" y="27614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0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Dataiku DSS + Snowflake  →  Databricks Apps + Delta Lake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310128"/>
            <a:ext cx="4389120" cy="36576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365760" y="3310128"/>
            <a:ext cx="64008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02920" y="33101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📋  Questions — raise with the team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767328"/>
            <a:ext cx="4389120" cy="36576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65760" y="3767328"/>
            <a:ext cx="64008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02920" y="37673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📅  Next: Confirm workspace with Digital/Platform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24528"/>
            <a:ext cx="4389120" cy="365760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65760" y="4224528"/>
            <a:ext cx="64008" cy="3657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02920" y="42245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🚀  Target: 1-week PoC proof of concept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9728" y="4736592"/>
            <a:ext cx="9034272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74320" y="473659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1"/>
                </a:solidFill>
              </a:rPr>
              <a:t>Prepared by the SMArT Engineering Team  ·  May 2026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640080"/>
            <a:ext cx="914400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Project Plan  —  SMArT Migration  (15 Jun → 28 Sept 2026)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903720" y="73152"/>
            <a:ext cx="1051560" cy="493776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903720" y="73152"/>
            <a:ext cx="10515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</a:rPr>
              <a:t>▶  Start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B4D8"/>
                </a:solidFill>
              </a:rPr>
              <a:t>15 Jun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991856" y="73152"/>
            <a:ext cx="1078992" cy="493776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991856" y="73152"/>
            <a:ext cx="10789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✓  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28 Sept 2026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76272" y="694944"/>
            <a:ext cx="808975" cy="237744"/>
          </a:xfrm>
          <a:prstGeom prst="rect">
            <a:avLst/>
          </a:prstGeom>
          <a:solidFill>
            <a:srgbClr val="1420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176272" y="694944"/>
            <a:ext cx="8089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</a:rPr>
              <a:t>June 2026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985247" y="694944"/>
            <a:ext cx="1617950" cy="237744"/>
          </a:xfrm>
          <a:prstGeom prst="rect">
            <a:avLst/>
          </a:prstGeom>
          <a:solidFill>
            <a:srgbClr val="0F19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985247" y="694944"/>
            <a:ext cx="16179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</a:rPr>
              <a:t>July 2026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03197" y="694944"/>
            <a:ext cx="1617950" cy="237744"/>
          </a:xfrm>
          <a:prstGeom prst="rect">
            <a:avLst/>
          </a:prstGeom>
          <a:solidFill>
            <a:srgbClr val="1420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603197" y="694944"/>
            <a:ext cx="16179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</a:rPr>
              <a:t>August 2026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221147" y="694944"/>
            <a:ext cx="1617950" cy="237744"/>
          </a:xfrm>
          <a:prstGeom prst="rect">
            <a:avLst/>
          </a:prstGeom>
          <a:solidFill>
            <a:srgbClr val="0F19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221147" y="694944"/>
            <a:ext cx="16179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</a:rPr>
              <a:t>September 2026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839097" y="694944"/>
            <a:ext cx="1213463" cy="237744"/>
          </a:xfrm>
          <a:prstGeom prst="rect">
            <a:avLst/>
          </a:prstGeom>
          <a:solidFill>
            <a:srgbClr val="1420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839097" y="694944"/>
            <a:ext cx="1213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</a:rPr>
              <a:t>October 2026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76272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176272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176272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W3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580760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580760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2580760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W4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985247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985247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985247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89735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389735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389735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W2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794222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3794222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794222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W3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198710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4198710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98710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W4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03197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603197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4603197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W1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07685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5007685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5007685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412172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5412172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5412172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W3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816660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5816660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5816660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221147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221147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6221147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W1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25635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6625635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6625635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W2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0122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7030122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7030122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W3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434610" y="932688"/>
            <a:ext cx="404488" cy="237744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7434610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7434610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W4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839097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7839097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7839097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W1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8243585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8243585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8243585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W2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648072" y="932688"/>
            <a:ext cx="404488" cy="23774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8648072" y="694944"/>
            <a:ext cx="9144" cy="47548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8648072" y="932688"/>
            <a:ext cx="404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3B1"/>
                </a:solidFill>
              </a:rPr>
              <a:t>W3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176272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176272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580760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2580760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Shape 72"/>
          <p:cNvSpPr/>
          <p:nvPr/>
        </p:nvSpPr>
        <p:spPr>
          <a:xfrm>
            <a:off x="2985247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2985247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3389735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5"/>
          <p:cNvSpPr/>
          <p:nvPr/>
        </p:nvSpPr>
        <p:spPr>
          <a:xfrm>
            <a:off x="3389735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3794222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3794222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Shape 78"/>
          <p:cNvSpPr/>
          <p:nvPr/>
        </p:nvSpPr>
        <p:spPr>
          <a:xfrm>
            <a:off x="4198710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198710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4603197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4603197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5007685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Shape 83"/>
          <p:cNvSpPr/>
          <p:nvPr/>
        </p:nvSpPr>
        <p:spPr>
          <a:xfrm>
            <a:off x="5007685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Shape 84"/>
          <p:cNvSpPr/>
          <p:nvPr/>
        </p:nvSpPr>
        <p:spPr>
          <a:xfrm>
            <a:off x="5412172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5412172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5816660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5816660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6221147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6221147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Shape 90"/>
          <p:cNvSpPr/>
          <p:nvPr/>
        </p:nvSpPr>
        <p:spPr>
          <a:xfrm>
            <a:off x="6625635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Shape 91"/>
          <p:cNvSpPr/>
          <p:nvPr/>
        </p:nvSpPr>
        <p:spPr>
          <a:xfrm>
            <a:off x="6625635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Shape 92"/>
          <p:cNvSpPr/>
          <p:nvPr/>
        </p:nvSpPr>
        <p:spPr>
          <a:xfrm>
            <a:off x="7030122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Shape 93"/>
          <p:cNvSpPr/>
          <p:nvPr/>
        </p:nvSpPr>
        <p:spPr>
          <a:xfrm>
            <a:off x="7030122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7434610" y="1170432"/>
            <a:ext cx="404488" cy="3584448"/>
          </a:xfrm>
          <a:prstGeom prst="rect">
            <a:avLst/>
          </a:prstGeom>
          <a:solidFill>
            <a:srgbClr val="0A161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Shape 95"/>
          <p:cNvSpPr/>
          <p:nvPr/>
        </p:nvSpPr>
        <p:spPr>
          <a:xfrm>
            <a:off x="7434610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Shape 96"/>
          <p:cNvSpPr/>
          <p:nvPr/>
        </p:nvSpPr>
        <p:spPr>
          <a:xfrm>
            <a:off x="7839097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7839097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8243585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8243585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Shape 100"/>
          <p:cNvSpPr/>
          <p:nvPr/>
        </p:nvSpPr>
        <p:spPr>
          <a:xfrm>
            <a:off x="8648072" y="1170432"/>
            <a:ext cx="404488" cy="3584448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8648072" y="1170432"/>
            <a:ext cx="7315" cy="35844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Shape 102"/>
          <p:cNvSpPr/>
          <p:nvPr/>
        </p:nvSpPr>
        <p:spPr>
          <a:xfrm>
            <a:off x="0" y="1170432"/>
            <a:ext cx="2121408" cy="402336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0" y="1170432"/>
            <a:ext cx="73152" cy="40233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Shape 104"/>
          <p:cNvSpPr/>
          <p:nvPr/>
        </p:nvSpPr>
        <p:spPr>
          <a:xfrm>
            <a:off x="128016" y="1261872"/>
            <a:ext cx="228600" cy="2286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128016" y="12618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1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420624" y="1170432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Architecture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2176272" y="1234440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Shape 108"/>
          <p:cNvSpPr/>
          <p:nvPr/>
        </p:nvSpPr>
        <p:spPr>
          <a:xfrm>
            <a:off x="2176272" y="1234440"/>
            <a:ext cx="808975" cy="274320"/>
          </a:xfrm>
          <a:prstGeom prst="rect">
            <a:avLst/>
          </a:prstGeom>
          <a:solidFill>
            <a:srgbClr val="00B4D8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7775" y="123444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2w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 rot="2700000">
            <a:off x="2912095" y="1298448"/>
            <a:ext cx="118872" cy="118872"/>
          </a:xfrm>
          <a:prstGeom prst="rect">
            <a:avLst/>
          </a:prstGeom>
          <a:solidFill>
            <a:srgbClr val="00B4D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11"/>
          <p:cNvSpPr/>
          <p:nvPr/>
        </p:nvSpPr>
        <p:spPr>
          <a:xfrm>
            <a:off x="0" y="1618488"/>
            <a:ext cx="2121408" cy="402336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Shape 112"/>
          <p:cNvSpPr/>
          <p:nvPr/>
        </p:nvSpPr>
        <p:spPr>
          <a:xfrm>
            <a:off x="0" y="1618488"/>
            <a:ext cx="73152" cy="402336"/>
          </a:xfrm>
          <a:prstGeom prst="rect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128016" y="1709928"/>
            <a:ext cx="228600" cy="228600"/>
          </a:xfrm>
          <a:prstGeom prst="ellipse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128016" y="17099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2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420624" y="1618488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CI/CD &amp; Infra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2176272" y="1682496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Shape 117"/>
          <p:cNvSpPr/>
          <p:nvPr/>
        </p:nvSpPr>
        <p:spPr>
          <a:xfrm>
            <a:off x="2985247" y="1682496"/>
            <a:ext cx="1213463" cy="274320"/>
          </a:xfrm>
          <a:prstGeom prst="rect">
            <a:avLst/>
          </a:prstGeom>
          <a:solidFill>
            <a:srgbClr val="0096B7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3851238" y="168249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3w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3040111" y="1682496"/>
            <a:ext cx="792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CI/CD &amp; Infra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 rot="2700000">
            <a:off x="4125558" y="1746504"/>
            <a:ext cx="118872" cy="118872"/>
          </a:xfrm>
          <a:prstGeom prst="rect">
            <a:avLst/>
          </a:prstGeom>
          <a:solidFill>
            <a:srgbClr val="0096B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3" name="Shape 121"/>
          <p:cNvSpPr/>
          <p:nvPr/>
        </p:nvSpPr>
        <p:spPr>
          <a:xfrm>
            <a:off x="0" y="2066544"/>
            <a:ext cx="2121408" cy="402336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0" y="2066544"/>
            <a:ext cx="73152" cy="402336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128016" y="2157984"/>
            <a:ext cx="228600" cy="228600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128016" y="215798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3</a:t>
            </a:r>
            <a:endParaRPr lang="en-US" sz="850" dirty="0"/>
          </a:p>
        </p:txBody>
      </p:sp>
      <p:sp>
        <p:nvSpPr>
          <p:cNvPr id="127" name="Text 125"/>
          <p:cNvSpPr/>
          <p:nvPr/>
        </p:nvSpPr>
        <p:spPr>
          <a:xfrm>
            <a:off x="420624" y="2066544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1700784" y="2176272"/>
            <a:ext cx="402336" cy="182880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1700784" y="217627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D166"/>
                </a:solidFill>
              </a:rPr>
              <a:t>⚡parallel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2176272" y="2130552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Shape 129"/>
          <p:cNvSpPr/>
          <p:nvPr/>
        </p:nvSpPr>
        <p:spPr>
          <a:xfrm>
            <a:off x="4198710" y="2130552"/>
            <a:ext cx="1213463" cy="274320"/>
          </a:xfrm>
          <a:prstGeom prst="rect">
            <a:avLst/>
          </a:prstGeom>
          <a:solidFill>
            <a:srgbClr val="FFD166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5064700" y="213055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3w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4253574" y="2130552"/>
            <a:ext cx="792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 rot="2700000">
            <a:off x="5339020" y="2194560"/>
            <a:ext cx="118872" cy="118872"/>
          </a:xfrm>
          <a:prstGeom prst="rect">
            <a:avLst/>
          </a:prstGeom>
          <a:solidFill>
            <a:srgbClr val="FFD1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Shape 133"/>
          <p:cNvSpPr/>
          <p:nvPr/>
        </p:nvSpPr>
        <p:spPr>
          <a:xfrm>
            <a:off x="0" y="2514600"/>
            <a:ext cx="2121408" cy="402336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6" name="Shape 134"/>
          <p:cNvSpPr/>
          <p:nvPr/>
        </p:nvSpPr>
        <p:spPr>
          <a:xfrm>
            <a:off x="0" y="2514600"/>
            <a:ext cx="73152" cy="402336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128016" y="2606040"/>
            <a:ext cx="228600" cy="228600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128016" y="260604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4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420624" y="2514600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Migration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1700784" y="2624328"/>
            <a:ext cx="402336" cy="182880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1" name="Text 139"/>
          <p:cNvSpPr/>
          <p:nvPr/>
        </p:nvSpPr>
        <p:spPr>
          <a:xfrm>
            <a:off x="1700784" y="2624328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D166"/>
                </a:solidFill>
              </a:rPr>
              <a:t>⚡parallel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2176272" y="2578608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3" name="Shape 141"/>
          <p:cNvSpPr/>
          <p:nvPr/>
        </p:nvSpPr>
        <p:spPr>
          <a:xfrm>
            <a:off x="4198710" y="2578608"/>
            <a:ext cx="1617950" cy="274320"/>
          </a:xfrm>
          <a:prstGeom prst="rect">
            <a:avLst/>
          </a:prstGeom>
          <a:solidFill>
            <a:srgbClr val="06D6A0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5469188" y="257860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4w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4253574" y="2578608"/>
            <a:ext cx="119732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Migration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 rot="2700000">
            <a:off x="5743508" y="2642616"/>
            <a:ext cx="118872" cy="118872"/>
          </a:xfrm>
          <a:prstGeom prst="rect">
            <a:avLst/>
          </a:prstGeom>
          <a:solidFill>
            <a:srgbClr val="06D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7" name="Shape 145"/>
          <p:cNvSpPr/>
          <p:nvPr/>
        </p:nvSpPr>
        <p:spPr>
          <a:xfrm>
            <a:off x="0" y="2962656"/>
            <a:ext cx="2121408" cy="402336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0" y="2962656"/>
            <a:ext cx="73152" cy="402336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Shape 147"/>
          <p:cNvSpPr/>
          <p:nvPr/>
        </p:nvSpPr>
        <p:spPr>
          <a:xfrm>
            <a:off x="128016" y="3054096"/>
            <a:ext cx="228600" cy="228600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0" name="Text 148"/>
          <p:cNvSpPr/>
          <p:nvPr/>
        </p:nvSpPr>
        <p:spPr>
          <a:xfrm>
            <a:off x="128016" y="305409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5</a:t>
            </a:r>
            <a:endParaRPr lang="en-US" sz="850" dirty="0"/>
          </a:p>
        </p:txBody>
      </p:sp>
      <p:sp>
        <p:nvSpPr>
          <p:cNvPr id="151" name="Text 149"/>
          <p:cNvSpPr/>
          <p:nvPr/>
        </p:nvSpPr>
        <p:spPr>
          <a:xfrm>
            <a:off x="420624" y="2962656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Integration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2176272" y="3026664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Shape 151"/>
          <p:cNvSpPr/>
          <p:nvPr/>
        </p:nvSpPr>
        <p:spPr>
          <a:xfrm>
            <a:off x="5816660" y="3026664"/>
            <a:ext cx="404488" cy="274320"/>
          </a:xfrm>
          <a:prstGeom prst="rect">
            <a:avLst/>
          </a:prstGeom>
          <a:solidFill>
            <a:srgbClr val="9B5DE5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4" name="Shape 152"/>
          <p:cNvSpPr/>
          <p:nvPr/>
        </p:nvSpPr>
        <p:spPr>
          <a:xfrm rot="2700000">
            <a:off x="6147995" y="3090672"/>
            <a:ext cx="118872" cy="118872"/>
          </a:xfrm>
          <a:prstGeom prst="rect">
            <a:avLst/>
          </a:prstGeom>
          <a:solidFill>
            <a:srgbClr val="9B5DE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5" name="Shape 153"/>
          <p:cNvSpPr/>
          <p:nvPr/>
        </p:nvSpPr>
        <p:spPr>
          <a:xfrm>
            <a:off x="0" y="3410712"/>
            <a:ext cx="2121408" cy="402336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0" y="3410712"/>
            <a:ext cx="73152" cy="402336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Shape 155"/>
          <p:cNvSpPr/>
          <p:nvPr/>
        </p:nvSpPr>
        <p:spPr>
          <a:xfrm>
            <a:off x="128016" y="3502152"/>
            <a:ext cx="228600" cy="228600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8" name="Text 156"/>
          <p:cNvSpPr/>
          <p:nvPr/>
        </p:nvSpPr>
        <p:spPr>
          <a:xfrm>
            <a:off x="128016" y="3502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6</a:t>
            </a:r>
            <a:endParaRPr lang="en-US" sz="850" dirty="0"/>
          </a:p>
        </p:txBody>
      </p:sp>
      <p:sp>
        <p:nvSpPr>
          <p:cNvPr id="159" name="Text 157"/>
          <p:cNvSpPr/>
          <p:nvPr/>
        </p:nvSpPr>
        <p:spPr>
          <a:xfrm>
            <a:off x="420624" y="3410712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UAT &amp; Perf Testing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2176272" y="3474720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1" name="Shape 159"/>
          <p:cNvSpPr/>
          <p:nvPr/>
        </p:nvSpPr>
        <p:spPr>
          <a:xfrm>
            <a:off x="6221147" y="3474720"/>
            <a:ext cx="808975" cy="274320"/>
          </a:xfrm>
          <a:prstGeom prst="rect">
            <a:avLst/>
          </a:prstGeom>
          <a:solidFill>
            <a:srgbClr val="FF6B35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6682650" y="347472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2w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 rot="2700000">
            <a:off x="6956970" y="3538728"/>
            <a:ext cx="118872" cy="118872"/>
          </a:xfrm>
          <a:prstGeom prst="rect">
            <a:avLst/>
          </a:prstGeom>
          <a:solidFill>
            <a:srgbClr val="FF6B3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4" name="Shape 162"/>
          <p:cNvSpPr/>
          <p:nvPr/>
        </p:nvSpPr>
        <p:spPr>
          <a:xfrm>
            <a:off x="0" y="3858768"/>
            <a:ext cx="2121408" cy="402336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0" y="3858768"/>
            <a:ext cx="73152" cy="402336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6" name="Shape 164"/>
          <p:cNvSpPr/>
          <p:nvPr/>
        </p:nvSpPr>
        <p:spPr>
          <a:xfrm>
            <a:off x="128016" y="3950208"/>
            <a:ext cx="228600" cy="228600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7" name="Text 165"/>
          <p:cNvSpPr/>
          <p:nvPr/>
        </p:nvSpPr>
        <p:spPr>
          <a:xfrm>
            <a:off x="128016" y="39502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7</a:t>
            </a:r>
            <a:endParaRPr lang="en-US" sz="850" dirty="0"/>
          </a:p>
        </p:txBody>
      </p:sp>
      <p:sp>
        <p:nvSpPr>
          <p:cNvPr id="168" name="Text 166"/>
          <p:cNvSpPr/>
          <p:nvPr/>
        </p:nvSpPr>
        <p:spPr>
          <a:xfrm>
            <a:off x="420624" y="3858768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Prep &amp; Go-Live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2176272" y="3922776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0" name="Shape 168"/>
          <p:cNvSpPr/>
          <p:nvPr/>
        </p:nvSpPr>
        <p:spPr>
          <a:xfrm>
            <a:off x="7030122" y="3922776"/>
            <a:ext cx="404488" cy="274320"/>
          </a:xfrm>
          <a:prstGeom prst="rect">
            <a:avLst/>
          </a:prstGeom>
          <a:solidFill>
            <a:srgbClr val="EF476F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1" name="Shape 169"/>
          <p:cNvSpPr/>
          <p:nvPr/>
        </p:nvSpPr>
        <p:spPr>
          <a:xfrm rot="2700000">
            <a:off x="7361458" y="3986784"/>
            <a:ext cx="118872" cy="118872"/>
          </a:xfrm>
          <a:prstGeom prst="rect">
            <a:avLst/>
          </a:prstGeom>
          <a:solidFill>
            <a:srgbClr val="EF476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2" name="Shape 170"/>
          <p:cNvSpPr/>
          <p:nvPr/>
        </p:nvSpPr>
        <p:spPr>
          <a:xfrm>
            <a:off x="0" y="4306824"/>
            <a:ext cx="2121408" cy="402336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3" name="Shape 171"/>
          <p:cNvSpPr/>
          <p:nvPr/>
        </p:nvSpPr>
        <p:spPr>
          <a:xfrm>
            <a:off x="0" y="4306824"/>
            <a:ext cx="73152" cy="402336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4" name="Shape 172"/>
          <p:cNvSpPr/>
          <p:nvPr/>
        </p:nvSpPr>
        <p:spPr>
          <a:xfrm>
            <a:off x="128016" y="4398264"/>
            <a:ext cx="228600" cy="228600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5" name="Text 173"/>
          <p:cNvSpPr/>
          <p:nvPr/>
        </p:nvSpPr>
        <p:spPr>
          <a:xfrm>
            <a:off x="128016" y="43982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B2A"/>
                </a:solidFill>
              </a:rPr>
              <a:t>8</a:t>
            </a:r>
            <a:endParaRPr lang="en-US" sz="850" dirty="0"/>
          </a:p>
        </p:txBody>
      </p:sp>
      <p:sp>
        <p:nvSpPr>
          <p:cNvPr id="176" name="Text 174"/>
          <p:cNvSpPr/>
          <p:nvPr/>
        </p:nvSpPr>
        <p:spPr>
          <a:xfrm>
            <a:off x="420624" y="4306824"/>
            <a:ext cx="1664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Run &amp; Hypercare</a:t>
            </a:r>
            <a:endParaRPr lang="en-US" sz="950" dirty="0"/>
          </a:p>
        </p:txBody>
      </p:sp>
      <p:sp>
        <p:nvSpPr>
          <p:cNvPr id="177" name="Shape 175"/>
          <p:cNvSpPr/>
          <p:nvPr/>
        </p:nvSpPr>
        <p:spPr>
          <a:xfrm>
            <a:off x="2176272" y="4370832"/>
            <a:ext cx="6876288" cy="274320"/>
          </a:xfrm>
          <a:prstGeom prst="rect">
            <a:avLst/>
          </a:prstGeom>
          <a:solidFill>
            <a:srgbClr val="1A2E4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8" name="Shape 176"/>
          <p:cNvSpPr/>
          <p:nvPr/>
        </p:nvSpPr>
        <p:spPr>
          <a:xfrm>
            <a:off x="7434610" y="4370832"/>
            <a:ext cx="808975" cy="274320"/>
          </a:xfrm>
          <a:prstGeom prst="rect">
            <a:avLst/>
          </a:prstGeom>
          <a:solidFill>
            <a:srgbClr val="1A6B8A"/>
          </a:solidFill>
          <a:ln/>
          <a:effectLst>
            <a:outerShdw blurRad="635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9" name="Text 177"/>
          <p:cNvSpPr/>
          <p:nvPr/>
        </p:nvSpPr>
        <p:spPr>
          <a:xfrm>
            <a:off x="7896113" y="437083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2w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 rot="2700000">
            <a:off x="8170433" y="4434840"/>
            <a:ext cx="118872" cy="118872"/>
          </a:xfrm>
          <a:prstGeom prst="rect">
            <a:avLst/>
          </a:prstGeom>
          <a:solidFill>
            <a:srgbClr val="1A6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1" name="Shape 179"/>
          <p:cNvSpPr/>
          <p:nvPr/>
        </p:nvSpPr>
        <p:spPr>
          <a:xfrm>
            <a:off x="4162134" y="2103120"/>
            <a:ext cx="27432" cy="777240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2" name="Shape 180"/>
          <p:cNvSpPr/>
          <p:nvPr/>
        </p:nvSpPr>
        <p:spPr>
          <a:xfrm>
            <a:off x="4162134" y="2103120"/>
            <a:ext cx="201168" cy="2743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3" name="Shape 181"/>
          <p:cNvSpPr/>
          <p:nvPr/>
        </p:nvSpPr>
        <p:spPr>
          <a:xfrm>
            <a:off x="4162134" y="2880360"/>
            <a:ext cx="201168" cy="2743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4" name="Shape 182"/>
          <p:cNvSpPr/>
          <p:nvPr/>
        </p:nvSpPr>
        <p:spPr>
          <a:xfrm>
            <a:off x="3313000" y="2360168"/>
            <a:ext cx="822960" cy="201168"/>
          </a:xfrm>
          <a:prstGeom prst="rect">
            <a:avLst/>
          </a:prstGeom>
          <a:solidFill>
            <a:srgbClr val="FFD166">
              <a:alpha val="7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5" name="Text 183"/>
          <p:cNvSpPr/>
          <p:nvPr/>
        </p:nvSpPr>
        <p:spPr>
          <a:xfrm>
            <a:off x="3364275" y="23550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D166"/>
                </a:solidFill>
              </a:rPr>
              <a:t>Parallel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FFD166"/>
                </a:solidFill>
              </a:rPr>
              <a:t>execution</a:t>
            </a:r>
            <a:endParaRPr lang="en-US" sz="650" dirty="0"/>
          </a:p>
        </p:txBody>
      </p:sp>
      <p:sp>
        <p:nvSpPr>
          <p:cNvPr id="186" name="Shape 184"/>
          <p:cNvSpPr/>
          <p:nvPr/>
        </p:nvSpPr>
        <p:spPr>
          <a:xfrm>
            <a:off x="0" y="4791456"/>
            <a:ext cx="9144000" cy="27432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7" name="Shape 185"/>
          <p:cNvSpPr/>
          <p:nvPr/>
        </p:nvSpPr>
        <p:spPr>
          <a:xfrm>
            <a:off x="0" y="4791456"/>
            <a:ext cx="9144000" cy="2743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182880" y="4818888"/>
            <a:ext cx="8778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0E0EF"/>
                </a:solidFill>
              </a:rPr>
              <a:t>Start: 15 Jun 2026  ·  3 Resources (Tech Lead, Backend Dev, Data Eng)  ·  Completion: 28 Sept 2026  ·  ⚡ Phases 3 &amp; 4 parallel — saves ~3 weeks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13232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Resource Allocation &amp; Phase Schedule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"/>
            <a:ext cx="1737360" cy="5303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223760" y="9144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Done by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28 Sept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" y="841248"/>
            <a:ext cx="8631936" cy="347472"/>
          </a:xfrm>
          <a:prstGeom prst="rect">
            <a:avLst/>
          </a:prstGeom>
          <a:solidFill>
            <a:srgbClr val="001A1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56032" y="841248"/>
            <a:ext cx="73152" cy="34747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84048" y="841248"/>
            <a:ext cx="836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D6A0"/>
                </a:solidFill>
              </a:rPr>
              <a:t>⚡  Key parallelism: Phases 3 (Data Migration) and 4 (Backend Migration) run simultaneously — Data Eng on Delta Lake while Tech Lead + Backend Dev work on Flask. Saves ~3 weeks vs sequential.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" y="1261872"/>
            <a:ext cx="8631936" cy="329184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56032" y="12618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Phase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84832" y="1261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Start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90672" y="1261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End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96512" y="1261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Duration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19472" y="1261872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Tech Lead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35040" y="1261872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Backend Dev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50608" y="1261872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Data Eng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66176" y="1261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</a:rPr>
              <a:t>Parallel?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6032" y="1627632"/>
            <a:ext cx="8631936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56032" y="1627632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56032" y="1691640"/>
            <a:ext cx="73152" cy="24688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84048" y="1627632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Discovery &amp; Architecture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84832" y="1627632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15 Jun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090672" y="1627632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26 Jun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33088" y="1700784"/>
            <a:ext cx="713232" cy="237744"/>
          </a:xfrm>
          <a:prstGeom prst="rect">
            <a:avLst/>
          </a:prstGeom>
          <a:solidFill>
            <a:srgbClr val="00B4D8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133088" y="17007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2w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30952" y="1728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330952" y="17282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46520" y="1728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446520" y="17282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62088" y="1728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7562088" y="17282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02752" y="1700784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56032" y="2029968"/>
            <a:ext cx="8631936" cy="37490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56032" y="2029968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56032" y="2093976"/>
            <a:ext cx="73152" cy="246888"/>
          </a:xfrm>
          <a:prstGeom prst="rect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84048" y="2029968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Environment, CI/CD &amp; Infra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84832" y="2029968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29 Jun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090672" y="2029968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17 Jul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33088" y="2103120"/>
            <a:ext cx="713232" cy="237744"/>
          </a:xfrm>
          <a:prstGeom prst="rect">
            <a:avLst/>
          </a:prstGeom>
          <a:solidFill>
            <a:srgbClr val="0096B7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33088" y="21031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3w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30952" y="2130552"/>
            <a:ext cx="201168" cy="201168"/>
          </a:xfrm>
          <a:prstGeom prst="ellipse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330952" y="21305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46520" y="2130552"/>
            <a:ext cx="201168" cy="201168"/>
          </a:xfrm>
          <a:prstGeom prst="ellipse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6446520" y="21305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562088" y="2130552"/>
            <a:ext cx="201168" cy="201168"/>
          </a:xfrm>
          <a:prstGeom prst="ellipse">
            <a:avLst/>
          </a:prstGeom>
          <a:solidFill>
            <a:srgbClr val="0096B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7562088" y="21305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302752" y="2103120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56032" y="2432304"/>
            <a:ext cx="8631936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56032" y="243230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56032" y="2496312"/>
            <a:ext cx="73152" cy="246888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84048" y="2432304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Data Migration (Snowflake→Delta)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2084832" y="2432304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20 Jul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090672" y="2432304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07 Aug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133088" y="2505456"/>
            <a:ext cx="713232" cy="237744"/>
          </a:xfrm>
          <a:prstGeom prst="rect">
            <a:avLst/>
          </a:prstGeom>
          <a:solidFill>
            <a:srgbClr val="FFD16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133088" y="25054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3w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30952" y="2532888"/>
            <a:ext cx="201168" cy="201168"/>
          </a:xfrm>
          <a:prstGeom prst="ellipse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5330952" y="25328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FA3B1"/>
                </a:solidFill>
              </a:rPr>
              <a:t>–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446520" y="2532888"/>
            <a:ext cx="201168" cy="201168"/>
          </a:xfrm>
          <a:prstGeom prst="ellipse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6446520" y="25328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FA3B1"/>
                </a:solidFill>
              </a:rPr>
              <a:t>–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562088" y="2532888"/>
            <a:ext cx="201168" cy="201168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7562088" y="25328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8302752" y="2505456"/>
            <a:ext cx="713232" cy="237744"/>
          </a:xfrm>
          <a:prstGeom prst="rect">
            <a:avLst/>
          </a:prstGeom>
          <a:solidFill>
            <a:srgbClr val="FFD16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8302752" y="25054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D166"/>
                </a:solidFill>
              </a:rPr>
              <a:t>⚡ YES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56032" y="2834640"/>
            <a:ext cx="8631936" cy="37490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56032" y="2834640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56032" y="2898648"/>
            <a:ext cx="73152" cy="246888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384048" y="2834640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Backend Migration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2084832" y="2834640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20 Jul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090672" y="2834640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14 Aug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133088" y="2907792"/>
            <a:ext cx="713232" cy="237744"/>
          </a:xfrm>
          <a:prstGeom prst="rect">
            <a:avLst/>
          </a:prstGeom>
          <a:solidFill>
            <a:srgbClr val="06D6A0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133088" y="290779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4w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330952" y="2935224"/>
            <a:ext cx="201168" cy="20116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5330952" y="2935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446520" y="2935224"/>
            <a:ext cx="201168" cy="201168"/>
          </a:xfrm>
          <a:prstGeom prst="ellipse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6446520" y="2935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562088" y="2935224"/>
            <a:ext cx="201168" cy="201168"/>
          </a:xfrm>
          <a:prstGeom prst="ellipse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7562088" y="29352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FA3B1"/>
                </a:solidFill>
              </a:rPr>
              <a:t>–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302752" y="2907792"/>
            <a:ext cx="713232" cy="237744"/>
          </a:xfrm>
          <a:prstGeom prst="rect">
            <a:avLst/>
          </a:prstGeom>
          <a:solidFill>
            <a:srgbClr val="FFD16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8302752" y="290779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D166"/>
                </a:solidFill>
              </a:rPr>
              <a:t>⚡ YES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" y="3236976"/>
            <a:ext cx="8631936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80"/>
          <p:cNvSpPr/>
          <p:nvPr/>
        </p:nvSpPr>
        <p:spPr>
          <a:xfrm>
            <a:off x="256032" y="3236976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Shape 81"/>
          <p:cNvSpPr/>
          <p:nvPr/>
        </p:nvSpPr>
        <p:spPr>
          <a:xfrm>
            <a:off x="256032" y="3300984"/>
            <a:ext cx="73152" cy="246888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384048" y="3236976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Frontend &amp; Integration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084832" y="3236976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17 Aug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3090672" y="3236976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21 Aug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4133088" y="3310128"/>
            <a:ext cx="713232" cy="237744"/>
          </a:xfrm>
          <a:prstGeom prst="rect">
            <a:avLst/>
          </a:prstGeom>
          <a:solidFill>
            <a:srgbClr val="9B5DE5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133088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1w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330952" y="3337560"/>
            <a:ext cx="201168" cy="201168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5330952" y="3337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6446520" y="3337560"/>
            <a:ext cx="201168" cy="201168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6446520" y="3337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7562088" y="3337560"/>
            <a:ext cx="201168" cy="201168"/>
          </a:xfrm>
          <a:prstGeom prst="ellipse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7562088" y="3337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8302752" y="3310128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256032" y="3639312"/>
            <a:ext cx="8631936" cy="37490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Shape 95"/>
          <p:cNvSpPr/>
          <p:nvPr/>
        </p:nvSpPr>
        <p:spPr>
          <a:xfrm>
            <a:off x="256032" y="3639312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Shape 96"/>
          <p:cNvSpPr/>
          <p:nvPr/>
        </p:nvSpPr>
        <p:spPr>
          <a:xfrm>
            <a:off x="256032" y="3703320"/>
            <a:ext cx="73152" cy="246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384048" y="3639312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QA, UAT &amp; Perf Testing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2084832" y="3639312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24 Aug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3090672" y="3639312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04 Sept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4133088" y="3712464"/>
            <a:ext cx="713232" cy="237744"/>
          </a:xfrm>
          <a:prstGeom prst="rect">
            <a:avLst/>
          </a:prstGeom>
          <a:solidFill>
            <a:srgbClr val="FF6B35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101"/>
          <p:cNvSpPr/>
          <p:nvPr/>
        </p:nvSpPr>
        <p:spPr>
          <a:xfrm>
            <a:off x="4133088" y="371246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2w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5330952" y="373989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3"/>
          <p:cNvSpPr/>
          <p:nvPr/>
        </p:nvSpPr>
        <p:spPr>
          <a:xfrm>
            <a:off x="5330952" y="3739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6446520" y="373989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6446520" y="3739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7562088" y="373989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7562088" y="3739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8302752" y="3712464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256032" y="4041648"/>
            <a:ext cx="8631936" cy="3749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56032" y="4041648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Shape 111"/>
          <p:cNvSpPr/>
          <p:nvPr/>
        </p:nvSpPr>
        <p:spPr>
          <a:xfrm>
            <a:off x="256032" y="4105656"/>
            <a:ext cx="73152" cy="246888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384048" y="4041648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Prod Prep &amp; Go-Live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2084832" y="4041648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07 Sept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090672" y="4041648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11 Sept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4133088" y="4114800"/>
            <a:ext cx="713232" cy="237744"/>
          </a:xfrm>
          <a:prstGeom prst="rect">
            <a:avLst/>
          </a:prstGeom>
          <a:solidFill>
            <a:srgbClr val="EF476F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4133088" y="411480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1w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5330952" y="4142232"/>
            <a:ext cx="201168" cy="201168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5330952" y="4142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6446520" y="4142232"/>
            <a:ext cx="201168" cy="201168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6446520" y="4142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7562088" y="4142232"/>
            <a:ext cx="201168" cy="201168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7562088" y="41422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8302752" y="4114800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56032" y="4443984"/>
            <a:ext cx="8631936" cy="374904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Shape 125"/>
          <p:cNvSpPr/>
          <p:nvPr/>
        </p:nvSpPr>
        <p:spPr>
          <a:xfrm>
            <a:off x="256032" y="4443984"/>
            <a:ext cx="8631936" cy="9144"/>
          </a:xfrm>
          <a:prstGeom prst="rect">
            <a:avLst/>
          </a:prstGeom>
          <a:solidFill>
            <a:srgbClr val="D0DD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Shape 126"/>
          <p:cNvSpPr/>
          <p:nvPr/>
        </p:nvSpPr>
        <p:spPr>
          <a:xfrm>
            <a:off x="256032" y="4507992"/>
            <a:ext cx="73152" cy="246888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84048" y="4443984"/>
            <a:ext cx="1664208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2A"/>
                </a:solidFill>
              </a:rPr>
              <a:t>Parallel Run &amp; Hypercare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2084832" y="4443984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14 Sept</a:t>
            </a:r>
            <a:endParaRPr lang="en-US" sz="950" dirty="0"/>
          </a:p>
        </p:txBody>
      </p:sp>
      <p:sp>
        <p:nvSpPr>
          <p:cNvPr id="131" name="Text 129"/>
          <p:cNvSpPr/>
          <p:nvPr/>
        </p:nvSpPr>
        <p:spPr>
          <a:xfrm>
            <a:off x="3090672" y="4443984"/>
            <a:ext cx="100584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</a:rPr>
              <a:t>25 Sept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4133088" y="4517136"/>
            <a:ext cx="713232" cy="237744"/>
          </a:xfrm>
          <a:prstGeom prst="rect">
            <a:avLst/>
          </a:prstGeom>
          <a:solidFill>
            <a:srgbClr val="1A6B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133088" y="451713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2w</a:t>
            </a:r>
            <a:endParaRPr lang="en-US" sz="900" dirty="0"/>
          </a:p>
        </p:txBody>
      </p:sp>
      <p:sp>
        <p:nvSpPr>
          <p:cNvPr id="134" name="Shape 132"/>
          <p:cNvSpPr/>
          <p:nvPr/>
        </p:nvSpPr>
        <p:spPr>
          <a:xfrm>
            <a:off x="5330952" y="4544568"/>
            <a:ext cx="201168" cy="201168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5330952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6446520" y="4544568"/>
            <a:ext cx="201168" cy="201168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7" name="Text 135"/>
          <p:cNvSpPr/>
          <p:nvPr/>
        </p:nvSpPr>
        <p:spPr>
          <a:xfrm>
            <a:off x="6446520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38" name="Shape 136"/>
          <p:cNvSpPr/>
          <p:nvPr/>
        </p:nvSpPr>
        <p:spPr>
          <a:xfrm>
            <a:off x="7562088" y="4544568"/>
            <a:ext cx="201168" cy="201168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9" name="Text 137"/>
          <p:cNvSpPr/>
          <p:nvPr/>
        </p:nvSpPr>
        <p:spPr>
          <a:xfrm>
            <a:off x="7562088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8302752" y="4517136"/>
            <a:ext cx="713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FA3B1"/>
                </a:solidFill>
              </a:rPr>
              <a:t>—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256032" y="4736592"/>
            <a:ext cx="1664208" cy="347472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2" name="Shape 140"/>
          <p:cNvSpPr/>
          <p:nvPr/>
        </p:nvSpPr>
        <p:spPr>
          <a:xfrm>
            <a:off x="256032" y="4736592"/>
            <a:ext cx="1664208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3" name="Text 141"/>
          <p:cNvSpPr/>
          <p:nvPr/>
        </p:nvSpPr>
        <p:spPr>
          <a:xfrm>
            <a:off x="329184" y="4773168"/>
            <a:ext cx="15179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3B1"/>
                </a:solidFill>
              </a:rPr>
              <a:t>Project Start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329184" y="4901184"/>
            <a:ext cx="15179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</a:rPr>
              <a:t>15 Jun 2026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011680" y="4736592"/>
            <a:ext cx="1664208" cy="347472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2011680" y="4736592"/>
            <a:ext cx="1664208" cy="54864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2084832" y="4773168"/>
            <a:ext cx="15179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3B1"/>
                </a:solidFill>
              </a:rPr>
              <a:t>Project End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084832" y="4901184"/>
            <a:ext cx="15179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D6A0"/>
                </a:solidFill>
              </a:rPr>
              <a:t>28 Sept 2026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3767328" y="4736592"/>
            <a:ext cx="1664208" cy="347472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0" name="Shape 148"/>
          <p:cNvSpPr/>
          <p:nvPr/>
        </p:nvSpPr>
        <p:spPr>
          <a:xfrm>
            <a:off x="3767328" y="4736592"/>
            <a:ext cx="1664208" cy="5486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840480" y="4773168"/>
            <a:ext cx="15179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3B1"/>
                </a:solidFill>
              </a:rPr>
              <a:t>Total Duration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3840480" y="4901184"/>
            <a:ext cx="15179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D166"/>
                </a:solidFill>
              </a:rPr>
              <a:t>~17 weeks</a:t>
            </a:r>
            <a:endParaRPr lang="en-US" sz="1000" dirty="0"/>
          </a:p>
        </p:txBody>
      </p:sp>
      <p:sp>
        <p:nvSpPr>
          <p:cNvPr id="153" name="Shape 151"/>
          <p:cNvSpPr/>
          <p:nvPr/>
        </p:nvSpPr>
        <p:spPr>
          <a:xfrm>
            <a:off x="5522976" y="4736592"/>
            <a:ext cx="1664208" cy="347472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4" name="Shape 152"/>
          <p:cNvSpPr/>
          <p:nvPr/>
        </p:nvSpPr>
        <p:spPr>
          <a:xfrm>
            <a:off x="5522976" y="4736592"/>
            <a:ext cx="1664208" cy="54864"/>
          </a:xfrm>
          <a:prstGeom prst="rect">
            <a:avLst/>
          </a:prstGeom>
          <a:solidFill>
            <a:srgbClr val="9B5D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5596128" y="4773168"/>
            <a:ext cx="15179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3B1"/>
                </a:solidFill>
              </a:rPr>
              <a:t>Team Size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5596128" y="4901184"/>
            <a:ext cx="15179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</a:rPr>
              <a:t>3 resources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7278624" y="4736592"/>
            <a:ext cx="1664208" cy="347472"/>
          </a:xfrm>
          <a:prstGeom prst="rect">
            <a:avLst/>
          </a:prstGeom>
          <a:solidFill>
            <a:srgbClr val="0D1B2A"/>
          </a:solidFill>
          <a:ln/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8" name="Shape 156"/>
          <p:cNvSpPr/>
          <p:nvPr/>
        </p:nvSpPr>
        <p:spPr>
          <a:xfrm>
            <a:off x="7278624" y="4736592"/>
            <a:ext cx="1664208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9" name="Text 157"/>
          <p:cNvSpPr/>
          <p:nvPr/>
        </p:nvSpPr>
        <p:spPr>
          <a:xfrm>
            <a:off x="7351776" y="4773168"/>
            <a:ext cx="15179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FA3B1"/>
                </a:solidFill>
              </a:rPr>
              <a:t>Parallel Saving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51776" y="4901184"/>
            <a:ext cx="15179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</a:rPr>
              <a:t>~3 weeks saved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3525</Words>
  <Application>Microsoft Office PowerPoint</Application>
  <PresentationFormat>On-screen Show (16:9)</PresentationFormat>
  <Paragraphs>782</Paragraphs>
  <Slides>25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Platform Migration – Dataiku to Databricks</dc:title>
  <dc:subject>PptxGenJS Presentation</dc:subject>
  <dc:creator>PptxGenJS</dc:creator>
  <cp:lastModifiedBy>Pramod Naik</cp:lastModifiedBy>
  <cp:revision>2</cp:revision>
  <dcterms:created xsi:type="dcterms:W3CDTF">2026-06-02T20:27:30Z</dcterms:created>
  <dcterms:modified xsi:type="dcterms:W3CDTF">2026-06-10T06:42:43Z</dcterms:modified>
</cp:coreProperties>
</file>