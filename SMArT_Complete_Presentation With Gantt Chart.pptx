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F4BDDD-5F54-4A57-BB3D-350F8522ECE0}" v="1" dt="2026-06-10T07:12:24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0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883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mod Naik" userId="ceb6df04-ef15-4d9b-a141-998a03559d75" providerId="ADAL" clId="{62E9B5AE-779D-4001-92D3-8FF830A8A9C1}"/>
    <pc:docChg chg="modSld">
      <pc:chgData name="Pramod Naik" userId="ceb6df04-ef15-4d9b-a141-998a03559d75" providerId="ADAL" clId="{62E9B5AE-779D-4001-92D3-8FF830A8A9C1}" dt="2026-06-10T07:12:32.488" v="64" actId="20577"/>
      <pc:docMkLst>
        <pc:docMk/>
      </pc:docMkLst>
      <pc:sldChg chg="addSp modSp mod">
        <pc:chgData name="Pramod Naik" userId="ceb6df04-ef15-4d9b-a141-998a03559d75" providerId="ADAL" clId="{62E9B5AE-779D-4001-92D3-8FF830A8A9C1}" dt="2026-06-10T07:12:32.488" v="64" actId="20577"/>
        <pc:sldMkLst>
          <pc:docMk/>
          <pc:sldMk cId="0" sldId="279"/>
        </pc:sldMkLst>
        <pc:spChg chg="mod">
          <ac:chgData name="Pramod Naik" userId="ceb6df04-ef15-4d9b-a141-998a03559d75" providerId="ADAL" clId="{62E9B5AE-779D-4001-92D3-8FF830A8A9C1}" dt="2026-06-10T07:11:56.281" v="60" actId="1038"/>
          <ac:spMkLst>
            <pc:docMk/>
            <pc:sldMk cId="0" sldId="279"/>
            <ac:spMk id="178" creationId="{00000000-0000-0000-0000-000000000000}"/>
          </ac:spMkLst>
        </pc:spChg>
        <pc:spChg chg="mod">
          <ac:chgData name="Pramod Naik" userId="ceb6df04-ef15-4d9b-a141-998a03559d75" providerId="ADAL" clId="{62E9B5AE-779D-4001-92D3-8FF830A8A9C1}" dt="2026-06-10T07:11:56.281" v="60" actId="1038"/>
          <ac:spMkLst>
            <pc:docMk/>
            <pc:sldMk cId="0" sldId="279"/>
            <ac:spMk id="179" creationId="{00000000-0000-0000-0000-000000000000}"/>
          </ac:spMkLst>
        </pc:spChg>
        <pc:spChg chg="mod">
          <ac:chgData name="Pramod Naik" userId="ceb6df04-ef15-4d9b-a141-998a03559d75" providerId="ADAL" clId="{62E9B5AE-779D-4001-92D3-8FF830A8A9C1}" dt="2026-06-10T07:11:56.281" v="60" actId="1038"/>
          <ac:spMkLst>
            <pc:docMk/>
            <pc:sldMk cId="0" sldId="279"/>
            <ac:spMk id="180" creationId="{00000000-0000-0000-0000-000000000000}"/>
          </ac:spMkLst>
        </pc:spChg>
        <pc:spChg chg="add mod">
          <ac:chgData name="Pramod Naik" userId="ceb6df04-ef15-4d9b-a141-998a03559d75" providerId="ADAL" clId="{62E9B5AE-779D-4001-92D3-8FF830A8A9C1}" dt="2026-06-10T07:12:32.488" v="64" actId="20577"/>
          <ac:spMkLst>
            <pc:docMk/>
            <pc:sldMk cId="0" sldId="279"/>
            <ac:spMk id="190" creationId="{265D1CD6-35E7-A9CE-4090-6B7EB46ED159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Dataiku DSS (Current)</c:v>
                </c:pt>
              </c:strCache>
            </c:strRef>
          </c:tx>
          <c:spPr>
            <a:solidFill>
              <a:srgbClr val="EF476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30900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FB-4FB6-B74E-008D6872527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Databricks (Proposed — Conservative)</c:v>
                </c:pt>
              </c:strCache>
            </c:strRef>
          </c:tx>
          <c:spPr>
            <a:solidFill>
              <a:srgbClr val="06D6A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Licensing</c:v>
                </c:pt>
                <c:pt idx="1">
                  <c:v>Compute</c:v>
                </c:pt>
                <c:pt idx="2">
                  <c:v>Storage</c:v>
                </c:pt>
                <c:pt idx="3">
                  <c:v>Support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5516</c:v>
                </c:pt>
                <c:pt idx="2">
                  <c:v>336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6FB-4FB6-B74E-008D6872527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4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43B55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2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457200"/>
            <a:ext cx="2377440" cy="237744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040880" y="1005840"/>
            <a:ext cx="1280160" cy="1280160"/>
          </a:xfrm>
          <a:prstGeom prst="ellipse">
            <a:avLst/>
          </a:prstGeom>
          <a:solidFill>
            <a:srgbClr val="00B4D8">
              <a:alpha val="3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73152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PLATFORM MIGRATION PROPOSAL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118872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65760" y="1993392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DSS + Snowflake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Databricks Apps + Delta Lake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3B1"/>
                </a:solidFill>
              </a:rPr>
              <a:t>May 2026  ·  v1.0  ·  Draft for Review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65760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Business Owners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1719072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Dev Team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072384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Management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425696" y="354787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</a:rPr>
              <a:t>Digital/Platform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28016" y="4846320"/>
            <a:ext cx="9015984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74320" y="4846320"/>
            <a:ext cx="868680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ATP GPD Expl Workspace  ·  Unity Catalog: gpdip_smart_us_east_1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The Case for Change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272491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20040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Cost Reduction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$30,900 → ~$4,200/yr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64408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264408" y="960120"/>
            <a:ext cx="272491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64408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$26.7K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3264408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Annual Savings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Break-even within year 1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08776" y="960120"/>
            <a:ext cx="2724912" cy="160020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208776" y="960120"/>
            <a:ext cx="2724912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8776" y="1078992"/>
            <a:ext cx="272491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wks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6208776" y="1847088"/>
            <a:ext cx="2724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Migration Timeline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08776" y="2139696"/>
            <a:ext cx="2724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D0DDE6"/>
                </a:solidFill>
              </a:rPr>
              <a:t>Existing team, phased delivery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WHY MIGRATE NOW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2004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8463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High Fixed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3 DSS Designer licenses @ $10,300 each — fixed regardless of usage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2004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8463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Platform Dependency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Every deployment needs Platform Support team scheduling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090672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00600" y="3090672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65192" y="314553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Limited AI Ecosystem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65192" y="341071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No native LLMs, MLflow, model serving, or vector search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0600" y="396849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800600" y="3968496"/>
            <a:ext cx="73152" cy="7498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965192" y="402336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Strategic Misalignment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65192" y="42885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44"/>
                </a:solidFill>
              </a:rPr>
              <a:t>DSS + Snowflake outside GPDIP platform direction — growing technical debt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Current  →  Target Architecture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(Dataiku DSS + Snowflake)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9260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Dataiku DSS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9260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260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2523744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9260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9260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Snowflake  (14 tables, &lt;100 GB)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9260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9260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Manual DSS Bundle — Platform Team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" y="3657600"/>
            <a:ext cx="3931920" cy="512064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9260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9260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physically isolated DSS instances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2860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29260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9260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</a:rPr>
              <a:t>Not available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297680" y="2286000"/>
            <a:ext cx="54864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251960" y="21031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</a:rPr>
              <a:t>→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983480" y="932688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TARGET  (Databricks Apps + Delta Lake)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983480" y="1389888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983480" y="138988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47488" y="144475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Platform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47488" y="164592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Databricks Apps  (ATP GPD Expl)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983480" y="1956816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983480" y="1956816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047488" y="201168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Framework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047488" y="221284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Python Flask / FastAPI  (unchanged)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983480" y="2523744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983480" y="2523744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047488" y="2578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Database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047488" y="277977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Delta Lake  (Unity Catalog, dedicated)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983480" y="3090672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4983480" y="3090672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5047488" y="3145536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Deployment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47488" y="33467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CI/CD  (GitHub Actions + DAB, automated)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983480" y="3657600"/>
            <a:ext cx="3931920" cy="512064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4983480" y="3657600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5047488" y="3712464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Environments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47488" y="39136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3 schemas in one catalog  (RBAC isolated)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983480" y="4224528"/>
            <a:ext cx="3931920" cy="51206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4983480" y="4224528"/>
            <a:ext cx="393192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5047488" y="4279392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AI / ML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047488" y="448056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MLflow · Model Serving · Genie AI  ✓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Cost Analysis &amp; ROI</a:t>
            </a:r>
            <a:endParaRPr lang="en-US" sz="26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56032" y="868680"/>
          <a:ext cx="51206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914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DATABRICKS BREAKDOWN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577840" y="1170432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3B1"/>
                </a:solidFill>
              </a:rPr>
              <a:t>Conservative scenario · annual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5577840" y="1389888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577840" y="1389888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669280" y="142646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Prod App compute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5669280" y="160934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24/7, $305/mo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498080" y="144475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~$3,660/yr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577840" y="1865376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5577840" y="1865376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669280" y="190195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Dev App compute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669280" y="2084832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10h/day, $110/mo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498080" y="1920240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~$1,320/yr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577840" y="2340864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577840" y="2340864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669280" y="23774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Stage App compute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669280" y="256032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8h/day, $75/mo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498080" y="2395728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~$900/yr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577840" y="2816352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5577840" y="2816352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566928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SQL Warehouses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669280" y="3035808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All envs combined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498080" y="2871216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~$2,880/yr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577840" y="3291840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5577840" y="3291840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5669280" y="33284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Delta Lake storage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669280" y="3511296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~70GB avg, $14/mo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498080" y="3346704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6D6A0"/>
                </a:solidFill>
              </a:rPr>
              <a:t>~$168/yr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3767328"/>
            <a:ext cx="3291840" cy="42062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1"/>
          <p:cNvSpPr/>
          <p:nvPr/>
        </p:nvSpPr>
        <p:spPr>
          <a:xfrm>
            <a:off x="5577840" y="3767328"/>
            <a:ext cx="45720" cy="42062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2"/>
          <p:cNvSpPr/>
          <p:nvPr/>
        </p:nvSpPr>
        <p:spPr>
          <a:xfrm>
            <a:off x="5669280" y="38039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DE6"/>
                </a:solidFill>
              </a:rPr>
              <a:t>Unity Catalog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5669280" y="398678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3B1"/>
                </a:solidFill>
              </a:rPr>
              <a:t>Premium tier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98080" y="3822192"/>
            <a:ext cx="1325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B4D8"/>
                </a:solidFill>
              </a:rPr>
              <a:t>Included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5577840" y="4261104"/>
            <a:ext cx="3291840" cy="475488"/>
          </a:xfrm>
          <a:prstGeom prst="rect">
            <a:avLst/>
          </a:prstGeom>
          <a:solidFill>
            <a:srgbClr val="06D6A0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/>
          <p:nvPr/>
        </p:nvSpPr>
        <p:spPr>
          <a:xfrm>
            <a:off x="5577840" y="4261104"/>
            <a:ext cx="3291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TOTAL  ~$5,880 / year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243B5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💰  Annual Savings: ~$25,020  (81% reduction)  ·  Conservative scenario  ·  Optimised (off-hours + 1yr CUD): ~$4,200/yr  (86% saving)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Deployment Model &amp; ADLC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3268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CI/CD DEPLOYMENT WORKFLOW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298448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74320" y="1298448"/>
            <a:ext cx="91440" cy="8229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1499616"/>
            <a:ext cx="420624" cy="42062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149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6245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develop branch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6459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smart-app-dev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200400" y="161848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Dev self-testing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121408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322576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91440" cy="8229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502920" y="2523744"/>
            <a:ext cx="420624" cy="420624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2920" y="2523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38658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stage branch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267004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smart-app-stage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solidFill>
            <a:srgbClr val="FFD166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200400" y="26426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QA / UAT (qTest)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3145536"/>
            <a:ext cx="54864" cy="201168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3346704"/>
            <a:ext cx="4754880" cy="822960"/>
          </a:xfrm>
          <a:prstGeom prst="rect">
            <a:avLst/>
          </a:prstGeom>
          <a:solidFill>
            <a:srgbClr val="0D1B2A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346704"/>
            <a:ext cx="91440" cy="8229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02920" y="3547872"/>
            <a:ext cx="420624" cy="42062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292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4107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main branch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05840" y="369417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CI/CD → smart-app-prod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solidFill>
            <a:srgbClr val="06D6A0">
              <a:alpha val="3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200400" y="36667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RFC gate required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303520" y="93268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ADLC COMPLIANCE SATISFIED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303520" y="1298448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5303520" y="129844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5376672" y="145389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5376672" y="145389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650992" y="133502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QA vs Prod separation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650992" y="157276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Schema isolation + UC RBAC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303520" y="1883664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303520" y="1883664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376672" y="2039112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376672" y="20391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650992" y="192024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Validation before prod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50992" y="215798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ServiceNow RFC gates CI/CD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303520" y="2468880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5303520" y="2468880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376672" y="2624328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376672" y="2624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650992" y="250545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Test evidence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50992" y="2743200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qTest (unchanged)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03520" y="3054096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5303520" y="3054096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5376672" y="3209544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376672" y="32095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5650992" y="309067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Change tracking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650992" y="3328416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Jira + RFC + Git history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303520" y="3639312"/>
            <a:ext cx="3566160" cy="53035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5303520" y="3639312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5376672" y="3794760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5376672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650992" y="367588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Prod access control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650992" y="3913632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CI/CD service principal only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5303520" y="4224528"/>
            <a:ext cx="3566160" cy="530352"/>
          </a:xfrm>
          <a:prstGeom prst="rect">
            <a:avLst/>
          </a:prstGeom>
          <a:solidFill>
            <a:srgbClr val="F0FDF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Shape 62"/>
          <p:cNvSpPr/>
          <p:nvPr/>
        </p:nvSpPr>
        <p:spPr>
          <a:xfrm>
            <a:off x="5303520" y="4224528"/>
            <a:ext cx="3566160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5376672" y="4379976"/>
            <a:ext cx="219456" cy="2194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376672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650992" y="4261104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Audit trail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5650992" y="4498848"/>
            <a:ext cx="3154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UC audit log + CI/CD runs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5303520" y="48097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ServiceNow RFC process fully preserved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AI Integration Roadmap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560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960120"/>
            <a:ext cx="27432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61872" y="1097280"/>
            <a:ext cx="731520" cy="7315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2618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74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— Post Migration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931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93192" y="254203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937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Flask/FastAPI unchanged on Databricks Apps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93192" y="309067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937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replaces Snowflake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931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93192" y="363931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937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user experience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93192" y="4187952"/>
            <a:ext cx="54864" cy="4754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937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all future AI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278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227832" y="960120"/>
            <a:ext cx="2743200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233672" y="1097280"/>
            <a:ext cx="731520" cy="7315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2336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2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3192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— What-If Analysis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649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364992" y="254203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4655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MLflow: scenario comparison &amp; tracking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364992" y="309067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4655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Workflows: parallel runs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3649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3364992" y="363931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4655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 AI: instant enrollment predictions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649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364992" y="4187952"/>
            <a:ext cx="54864" cy="4754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4655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Feature Store: shared features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199632" y="960120"/>
            <a:ext cx="2743200" cy="400507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205472" y="1097280"/>
            <a:ext cx="731520" cy="73152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7205472" y="10972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B2A"/>
                </a:solidFill>
              </a:rPr>
              <a:t>3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6291072" y="1938528"/>
            <a:ext cx="2560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— Future Enhancements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336792" y="254203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336792" y="254203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437376" y="258775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Genie AI: natural language data queries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09067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336792" y="309067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6437376" y="313639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site activation ML model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336792" y="363931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6336792" y="363931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437376" y="368503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 scenario generation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336792" y="4187952"/>
            <a:ext cx="2468880" cy="47548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6336792" y="4187952"/>
            <a:ext cx="54864" cy="4754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437376" y="4233672"/>
            <a:ext cx="2331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simulation inputs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solidFill>
            <a:srgbClr val="1A2E45"/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56032" y="4828032"/>
            <a:ext cx="8631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0E0EF"/>
                </a:solidFill>
              </a:rPr>
              <a:t>All AI capabilities available at no additional infrastructure cost on Databricks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7132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Migration Plan  —  ~17 Weeks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60920" y="91440"/>
            <a:ext cx="1627632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60920" y="91440"/>
            <a:ext cx="16276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~17 Wks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~4 Months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914400"/>
            <a:ext cx="1682496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82880" y="914400"/>
            <a:ext cx="1682496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95528" y="1024128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95528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37744" y="15727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1316736" cy="256032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148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1.5–2w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" y="243230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B1"/>
                </a:solidFill>
              </a:rPr>
              <a:t>Wks 1–2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651760"/>
            <a:ext cx="1499616" cy="18288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74320" y="26517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00B4D8"/>
                </a:solidFill>
              </a:rPr>
              <a:t>Phase 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2907792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56032" y="2907792"/>
            <a:ext cx="54864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292608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validation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56032" y="3291840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6032" y="3291840"/>
            <a:ext cx="54864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" y="33101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workspace setup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675888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56032" y="3675888"/>
            <a:ext cx="54864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47472" y="36941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Catalog &amp; RBAC design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56032" y="4059936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56032" y="4059936"/>
            <a:ext cx="54864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47472" y="4078224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ADLC &amp; security review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874520" y="2898648"/>
            <a:ext cx="7315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1947672" y="914400"/>
            <a:ext cx="1682496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947672" y="914400"/>
            <a:ext cx="1682496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560320" y="1024128"/>
            <a:ext cx="457200" cy="45720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560320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002536" y="15727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&amp; Data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30552" y="2148840"/>
            <a:ext cx="1316736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130552" y="2148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6w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002536" y="243230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B1"/>
                </a:solidFill>
              </a:rPr>
              <a:t>Wks 3–8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2039112" y="2651760"/>
            <a:ext cx="1499616" cy="18288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2039112" y="26517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D166"/>
                </a:solidFill>
              </a:rPr>
              <a:t>Phases 2 + 3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2020824" y="2907792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2020824" y="2907792"/>
            <a:ext cx="54864" cy="32918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112264" y="292608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+ GitHub Actions setup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020824" y="3291840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2020824" y="3291840"/>
            <a:ext cx="54864" cy="32918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2112264" y="33101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Principals &amp; RBAC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020824" y="3675888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020824" y="3675888"/>
            <a:ext cx="54864" cy="32918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2112264" y="36941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Dev/Stage/Prod configuration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020824" y="4059936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020824" y="4059936"/>
            <a:ext cx="54864" cy="32918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2112264" y="4078224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→ Delta Lake migration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2020824" y="4443984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2020824" y="4443984"/>
            <a:ext cx="54864" cy="32918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2112264" y="446227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&amp; testing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39312" y="2898648"/>
            <a:ext cx="7315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3712464" y="914400"/>
            <a:ext cx="1682496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3712464" y="914400"/>
            <a:ext cx="1682496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4325112" y="1024128"/>
            <a:ext cx="457200" cy="45720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325112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767328" y="15727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Migration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3895344" y="2148840"/>
            <a:ext cx="1316736" cy="256032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3895344" y="2148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5w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3767328" y="243230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B1"/>
                </a:solidFill>
              </a:rPr>
              <a:t>Wks 5–12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3803904" y="2651760"/>
            <a:ext cx="1499616" cy="18288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3803904" y="26517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06D6A0"/>
                </a:solidFill>
              </a:rPr>
              <a:t>Phases 4 + 5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785616" y="2907792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3785616" y="2907792"/>
            <a:ext cx="54864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877056" y="292608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→ Databricks Apps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3785616" y="3291840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3785616" y="3291840"/>
            <a:ext cx="54864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3877056" y="33101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&amp; secrets refactoring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785616" y="3675888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3785616" y="3675888"/>
            <a:ext cx="54864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877056" y="36941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validation &amp; API testing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3785616" y="4059936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3785616" y="4059936"/>
            <a:ext cx="54864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3877056" y="4078224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Env-specific configuration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3785616" y="4443984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3785616" y="4443984"/>
            <a:ext cx="54864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3877056" y="446227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testing &amp; iteration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5404104" y="2898648"/>
            <a:ext cx="7315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5477256" y="914400"/>
            <a:ext cx="1682496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5477256" y="914400"/>
            <a:ext cx="1682496" cy="6400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089904" y="1024128"/>
            <a:ext cx="457200" cy="45720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6089904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86" name="Text 84"/>
          <p:cNvSpPr/>
          <p:nvPr/>
        </p:nvSpPr>
        <p:spPr>
          <a:xfrm>
            <a:off x="5532120" y="15727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UAT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9B5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50" dirty="0"/>
          </a:p>
        </p:txBody>
      </p:sp>
      <p:sp>
        <p:nvSpPr>
          <p:cNvPr id="87" name="Shape 85"/>
          <p:cNvSpPr/>
          <p:nvPr/>
        </p:nvSpPr>
        <p:spPr>
          <a:xfrm>
            <a:off x="5660136" y="2148840"/>
            <a:ext cx="1316736" cy="256032"/>
          </a:xfrm>
          <a:prstGeom prst="rect">
            <a:avLst/>
          </a:prstGeom>
          <a:solidFill>
            <a:srgbClr val="9B5DE5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5660136" y="2148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2.5w</a:t>
            </a:r>
            <a:endParaRPr lang="en-US" sz="1100" dirty="0"/>
          </a:p>
        </p:txBody>
      </p:sp>
      <p:sp>
        <p:nvSpPr>
          <p:cNvPr id="89" name="Text 87"/>
          <p:cNvSpPr/>
          <p:nvPr/>
        </p:nvSpPr>
        <p:spPr>
          <a:xfrm>
            <a:off x="5532120" y="243230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B1"/>
                </a:solidFill>
              </a:rPr>
              <a:t>Wks 13–15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5568696" y="2651760"/>
            <a:ext cx="1499616" cy="182880"/>
          </a:xfrm>
          <a:prstGeom prst="rect">
            <a:avLst/>
          </a:prstGeom>
          <a:solidFill>
            <a:srgbClr val="9B5DE5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5568696" y="26517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9B5DE5"/>
                </a:solidFill>
              </a:rPr>
              <a:t>Phases 6 + 7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5550408" y="2907792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5550408" y="2907792"/>
            <a:ext cx="54864" cy="32918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5641848" y="292608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deployment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5550408" y="3291840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5550408" y="3291840"/>
            <a:ext cx="54864" cy="32918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5641848" y="33101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QA/UAT (qTest)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5550408" y="3675888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5550408" y="3675888"/>
            <a:ext cx="54864" cy="32918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Text 98"/>
          <p:cNvSpPr/>
          <p:nvPr/>
        </p:nvSpPr>
        <p:spPr>
          <a:xfrm>
            <a:off x="5641848" y="36941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RFC raised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5550408" y="4059936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5550408" y="4059936"/>
            <a:ext cx="54864" cy="32918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5641848" y="4078224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 testing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5550408" y="4443984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5550408" y="4443984"/>
            <a:ext cx="54864" cy="32918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Text 104"/>
          <p:cNvSpPr/>
          <p:nvPr/>
        </p:nvSpPr>
        <p:spPr>
          <a:xfrm>
            <a:off x="5641848" y="446227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query &amp; compute tuning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7168896" y="2898648"/>
            <a:ext cx="7315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8" name="Shape 106"/>
          <p:cNvSpPr/>
          <p:nvPr/>
        </p:nvSpPr>
        <p:spPr>
          <a:xfrm>
            <a:off x="7242048" y="914400"/>
            <a:ext cx="1682496" cy="4041648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9" name="Shape 107"/>
          <p:cNvSpPr/>
          <p:nvPr/>
        </p:nvSpPr>
        <p:spPr>
          <a:xfrm>
            <a:off x="7242048" y="914400"/>
            <a:ext cx="1682496" cy="6400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7854696" y="1024128"/>
            <a:ext cx="457200" cy="45720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7854696" y="1024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112" name="Text 110"/>
          <p:cNvSpPr/>
          <p:nvPr/>
        </p:nvSpPr>
        <p:spPr>
          <a:xfrm>
            <a:off x="7296912" y="1572768"/>
            <a:ext cx="15727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 &amp;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424928" y="2148840"/>
            <a:ext cx="1316736" cy="256032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7424928" y="2148840"/>
            <a:ext cx="13167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3w</a:t>
            </a:r>
            <a:endParaRPr lang="en-US" sz="1100" dirty="0"/>
          </a:p>
        </p:txBody>
      </p:sp>
      <p:sp>
        <p:nvSpPr>
          <p:cNvPr id="115" name="Text 113"/>
          <p:cNvSpPr/>
          <p:nvPr/>
        </p:nvSpPr>
        <p:spPr>
          <a:xfrm>
            <a:off x="7296912" y="2432304"/>
            <a:ext cx="15727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8FA3B1"/>
                </a:solidFill>
              </a:rPr>
              <a:t>Wks 15–17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7333488" y="2651760"/>
            <a:ext cx="1499616" cy="182880"/>
          </a:xfrm>
          <a:prstGeom prst="rect">
            <a:avLst/>
          </a:prstGeom>
          <a:solidFill>
            <a:srgbClr val="EF476F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Text 115"/>
          <p:cNvSpPr/>
          <p:nvPr/>
        </p:nvSpPr>
        <p:spPr>
          <a:xfrm>
            <a:off x="7333488" y="2651760"/>
            <a:ext cx="1499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EF476F"/>
                </a:solidFill>
              </a:rPr>
              <a:t>Phases 8 + 9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7315200" y="2907792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7315200" y="2907792"/>
            <a:ext cx="54864" cy="32918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7406640" y="2926080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&amp; rollback strategy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7315200" y="3291840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Shape 120"/>
          <p:cNvSpPr/>
          <p:nvPr/>
        </p:nvSpPr>
        <p:spPr>
          <a:xfrm>
            <a:off x="7315200" y="3291840"/>
            <a:ext cx="54864" cy="32918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3" name="Text 121"/>
          <p:cNvSpPr/>
          <p:nvPr/>
        </p:nvSpPr>
        <p:spPr>
          <a:xfrm>
            <a:off x="7406640" y="3310128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RFC approval → prod deploy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7315200" y="3675888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7315200" y="3675888"/>
            <a:ext cx="54864" cy="32918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7406640" y="3694176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&amp; DBX parallel run (2w)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7315200" y="4059936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Shape 126"/>
          <p:cNvSpPr/>
          <p:nvPr/>
        </p:nvSpPr>
        <p:spPr>
          <a:xfrm>
            <a:off x="7315200" y="4059936"/>
            <a:ext cx="54864" cy="32918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7406640" y="4078224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&amp; sign-off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7315200" y="4443984"/>
            <a:ext cx="1536192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7315200" y="4443984"/>
            <a:ext cx="54864" cy="32918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7406640" y="4462272"/>
            <a:ext cx="1408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decommission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182880" y="5010912"/>
            <a:ext cx="8778240" cy="2926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4" name="Shape 132"/>
          <p:cNvSpPr/>
          <p:nvPr/>
        </p:nvSpPr>
        <p:spPr>
          <a:xfrm>
            <a:off x="182880" y="5010912"/>
            <a:ext cx="73152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320040" y="5010912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FA3B1"/>
                </a:solidFill>
              </a:rPr>
              <a:t>Total ~17 weeks  ·  9 detailed sub-phases  ·  See Effort Estimation slide for full breakdown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6675120" y="5010912"/>
            <a:ext cx="22860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6675120" y="50109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~4 months end-to-end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303520" y="54864"/>
            <a:ext cx="4754880" cy="502920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035040" y="640080"/>
            <a:ext cx="3291840" cy="329184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411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Recommend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896112"/>
            <a:ext cx="5303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with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2920" y="2286000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💰  86% cost saving — $26.7K/yr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16352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2816352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816352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🔗  Strategic platform alignment (GPDIP)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46704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346704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346704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⚙  Operational independence via CI/CD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877056"/>
            <a:ext cx="4663440" cy="438912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877056"/>
            <a:ext cx="73152" cy="43891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02920" y="3877056"/>
            <a:ext cx="4480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🤖  AI-ready without extra infrastructure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462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0B4D8"/>
                </a:solidFill>
              </a:rPr>
              <a:t>IMMEDIATE NEXT STEPS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1.  Confirm workspace with Digital/Platform team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73552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2.  Identify migration lead &amp; confirm team availability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6181344" y="47365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2A"/>
                </a:solidFill>
              </a:rPr>
              <a:t>3.  1-week PoC: deploy Flask app as Databricks App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943600" y="365760"/>
            <a:ext cx="3017520" cy="301752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92240" y="914400"/>
            <a:ext cx="1920240" cy="192024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0" y="365760"/>
            <a:ext cx="30175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90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CLIENT QUESTIONS  — DAN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to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Dan's Queries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65760" y="26060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E0EF"/>
                </a:solidFill>
              </a:rPr>
              <a:t>Feasibility check completed  ·  Migration app built with live UI, APIs &amp; Delta Lake tables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246120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3246120"/>
            <a:ext cx="73152" cy="34747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324612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Q1 — Risks &amp; Cons to consider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666744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666744"/>
            <a:ext cx="73152" cy="34747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666744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Q2 — UI, UX &amp; performance impact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4087368"/>
            <a:ext cx="5120640" cy="34747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4087368"/>
            <a:ext cx="73152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4087368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Q3 — Feature work during migration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Response to Dan's Review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Q1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Risks &amp; Cons to Consider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We are transparent about trade-offs. These are manageable risks — none are blockers, and all have defined mitigations.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730752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20624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Short-term team upskilling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needs to learn Databricks Apps, DAB &amp; CI/CD patterns. Mitigated by feasibility spike already completed — team is hands-on from day one.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389888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38160" y="146304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828032" y="1453896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No physical environment isolation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719072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schema separation replaces physical DSS instances. UC RBAC enforces access boundaries; reviewed and accepted by compliance approach.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2505456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730752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20624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Migration window carries delivery risk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20-week project introduces schedule risk. Phased delivery with parallel-run period and rollback path (DSS stays live until RFC sign-off) contains impact.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663440" y="2505456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663440" y="2505456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138160" y="257860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828032" y="2569464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Usage-based cost variability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2834640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fixed DSS licenses, Databricks costs scale with usage. Auto-shutdown on dev/stage and cost dashboards keep this well within the $4.2K estimate.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56032" y="3621024"/>
            <a:ext cx="82296" cy="10058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3730752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LOW RISK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20624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Data migration validation effort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0624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Snowflake tables must be migrated and verified. Row-count and schema validation scripts are part of Phase 2; feasibility run confirms process works.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621024"/>
            <a:ext cx="42062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663440" y="3621024"/>
            <a:ext cx="82296" cy="10058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38160" y="369417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MED RISK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828032" y="3685032"/>
            <a:ext cx="3246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Dependency on Digital/Platform team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28032" y="3950208"/>
            <a:ext cx="395020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assignment (ATP GPD Expl) needs Digital team confirmation. Already flagged as first action item; planning can proceed in parallel under Option A.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736592"/>
            <a:ext cx="8631936" cy="32918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736592"/>
            <a:ext cx="82296" cy="32918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02336" y="4736592"/>
            <a:ext cx="8321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✓  Overall assessment: No identified cons are blockers. Risk profile is LOW–MEDIUM. Feasibility PoC de-risks the highest-uncertainty items.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Q2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UI, End-User Experience &amp; Performance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50292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2296" cy="5029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✅  Feasibility proven: Migration app built with exact UI, live backend APIs &amp; Delta Lake tables — user experience validated end-to-end.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56032" y="1517904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🖥  UI &amp; Frontend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Redesign needed?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474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 Flask/FastAPI frontend deployed as Databricks App — same screens, same navigation, same URLs.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Functionality loss?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474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features confirmed working in the PoC migration. No capability is removed or degraded.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60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Look &amp; feel change?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474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4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App is a thin hosting wrapper — users will not see any platform change.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517904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2278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⚡  Performance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2278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3192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Calculation speed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3192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Same / Faster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192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Python simulation engine. Databricks serverless compute removes DSS scheduler overhead.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2278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3192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Page load times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33192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 change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3192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layer is unchanged. Delta Lake SQL connector benchmarks comparably to Snowflake at this data volume (&lt;100 GB).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2278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192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Peak load (50 users)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192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Handled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33192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instance (2 vCPU / 6 GB) sized for &lt;100 concurrent. Scale-up to Large available on demand.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199632" y="1517904"/>
            <a:ext cx="2816352" cy="40233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199632" y="1517904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6199632" y="1554480"/>
            <a:ext cx="28163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👤  User Impact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99632" y="2011680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291072" y="2066544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Training required?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291072" y="2286000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None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291072" y="2542032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users interact with the same web application. No Databricks knowledge needed by users.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6199632" y="2999232"/>
            <a:ext cx="281635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91072" y="305409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URL / access change?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solidFill>
            <a:srgbClr val="FFD166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73552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New URL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291072" y="3529584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environment gets a dedicated Databricks App URL. A bookmark update is the only visible change for users.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99632" y="3986784"/>
            <a:ext cx="2816352" cy="914400"/>
          </a:xfrm>
          <a:prstGeom prst="rect">
            <a:avLst/>
          </a:prstGeom>
          <a:solidFill>
            <a:srgbClr val="EEF5FB"/>
          </a:solidFill>
          <a:ln w="12700">
            <a:solidFill>
              <a:srgbClr val="D0DDE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291072" y="4041648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1"/>
                </a:solidFill>
              </a:rPr>
              <a:t>Downtime at cutover?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solidFill>
            <a:srgbClr val="06D6A0">
              <a:alpha val="8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6291072" y="4261104"/>
            <a:ext cx="2633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Zero planned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291072" y="4517136"/>
            <a:ext cx="2633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2-week parallel run means DSS and Databricks run simultaneously. Cutover is a DNS/redirect flip.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56032" y="91440"/>
            <a:ext cx="566928" cy="56692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56032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Q3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60120" y="0"/>
            <a:ext cx="7772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Work During the Migration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475488"/>
          </a:xfrm>
          <a:prstGeom prst="rect">
            <a:avLst/>
          </a:prstGeom>
          <a:solidFill>
            <a:srgbClr val="0A2A0A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96112"/>
            <a:ext cx="82296" cy="47548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02336" y="896112"/>
            <a:ext cx="8321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✅  Short answer: Feature work does NOT need to be paused. Migration and new features can run in parallel.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56032" y="149961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HOW THIS WORKS IN PRACTICE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56032" y="1847088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MIGRATION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TRACK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719072" y="1847088"/>
            <a:ext cx="118872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755648" y="1865376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Foundation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1–4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907792" y="1847088"/>
            <a:ext cx="914400" cy="475488"/>
          </a:xfrm>
          <a:prstGeom prst="rect">
            <a:avLst/>
          </a:prstGeom>
          <a:solidFill>
            <a:srgbClr val="0096B7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44368" y="1865376"/>
            <a:ext cx="8412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Data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5–8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822192" y="1847088"/>
            <a:ext cx="1554480" cy="475488"/>
          </a:xfrm>
          <a:prstGeom prst="rect">
            <a:avLst/>
          </a:prstGeom>
          <a:solidFill>
            <a:srgbClr val="007A96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58768" y="1865376"/>
            <a:ext cx="14813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App Migration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5–12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76672" y="1847088"/>
            <a:ext cx="1005840" cy="475488"/>
          </a:xfrm>
          <a:prstGeom prst="rect">
            <a:avLst/>
          </a:prstGeom>
          <a:solidFill>
            <a:srgbClr val="005F75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413248" y="186537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QA / UAT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13–16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382512" y="1847088"/>
            <a:ext cx="868680" cy="475488"/>
          </a:xfrm>
          <a:prstGeom prst="rect">
            <a:avLst/>
          </a:prstGeom>
          <a:solidFill>
            <a:srgbClr val="00455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19088" y="1865376"/>
            <a:ext cx="79552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Go-Live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Wks 17–20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6032" y="2432304"/>
            <a:ext cx="14173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FEATURE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6D6A0"/>
                </a:solidFill>
              </a:rPr>
              <a:t>TRACK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719072" y="2432304"/>
            <a:ext cx="1188720" cy="475488"/>
          </a:xfrm>
          <a:prstGeom prst="rect">
            <a:avLst/>
          </a:prstGeom>
          <a:solidFill>
            <a:srgbClr val="024A1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1755648" y="2450592"/>
            <a:ext cx="11155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Bug fixes &amp;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maintenance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907792" y="2432304"/>
            <a:ext cx="1828800" cy="475488"/>
          </a:xfrm>
          <a:prstGeom prst="rect">
            <a:avLst/>
          </a:prstGeom>
          <a:solidFill>
            <a:srgbClr val="036028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294436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2432304"/>
            <a:ext cx="1645920" cy="475488"/>
          </a:xfrm>
          <a:prstGeom prst="rect">
            <a:avLst/>
          </a:prstGeom>
          <a:solidFill>
            <a:srgbClr val="047A34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773168" y="2450592"/>
            <a:ext cx="1572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New Feature B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(on DSS)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382512" y="2432304"/>
            <a:ext cx="1828800" cy="475488"/>
          </a:xfrm>
          <a:prstGeom prst="rect">
            <a:avLst/>
          </a:prstGeom>
          <a:solidFill>
            <a:srgbClr val="06D6A0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6419088" y="2450592"/>
            <a:ext cx="175564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Feature C → DBX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</a:rPr>
              <a:t>(new home)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251192" y="1709928"/>
            <a:ext cx="36576" cy="129844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6903720" y="149961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166"/>
                </a:solidFill>
              </a:rPr>
              <a:t>Cutover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56032" y="30906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00B4D8"/>
                </a:solidFill>
              </a:rPr>
              <a:t>THE GUARDRAILS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6032" y="3429000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6032" y="3429000"/>
            <a:ext cx="82296" cy="4572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02336" y="35204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02336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" y="346557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</a:rPr>
              <a:t>New features built on DSS as normal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" y="3666744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During migration, feature development continues on the current DSS platform. No change to today's dev/QA/release workflow for new features.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56032" y="3941064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56032" y="3941064"/>
            <a:ext cx="82296" cy="4572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402336" y="4032504"/>
            <a:ext cx="274320" cy="27432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02336" y="4032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77240" y="39776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D166"/>
                </a:solidFill>
              </a:rPr>
              <a:t>Migration team is a dedicated workstream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777240" y="4178808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Migration is run as a parallel project track — it does not consume the full team. Feature sprints and migration sprints are planned independently.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56032" y="4453128"/>
            <a:ext cx="8631936" cy="45720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256032" y="4453128"/>
            <a:ext cx="82296" cy="4572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02336" y="4544568"/>
            <a:ext cx="274320" cy="27432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402336" y="4544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77240" y="44897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</a:rPr>
              <a:t>Features completed before cutover ship on DSS; after cutover on Databricks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77240" y="4690872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Any feature in flight at Go-Live week is evaluated: if complete → ship on DSS, if not → brief hold during 2-week parallel run, then deliver on Databricks.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AI  —  Natural Language Querying for SMArT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8631936" cy="3840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0E0EF"/>
                </a:solidFill>
              </a:rPr>
              <a:t>Users ask plain-English questions against SMArT's Delta Lake tables — no SQL, no dashboards. Three implementation paths, increasing in capability.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56032" y="1389888"/>
            <a:ext cx="2816352" cy="3611880"/>
          </a:xfrm>
          <a:prstGeom prst="rect">
            <a:avLst/>
          </a:prstGeom>
          <a:solidFill>
            <a:srgbClr val="0A2A1A"/>
          </a:solidFill>
          <a:ln w="12700">
            <a:solidFill>
              <a:srgbClr val="06D6A0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89888"/>
            <a:ext cx="2816352" cy="64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508760"/>
            <a:ext cx="402336" cy="40233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solidFill>
            <a:srgbClr val="06D6A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412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6D6A0"/>
                </a:solidFill>
              </a:rPr>
              <a:t>✅  READY NOW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</a:rPr>
              <a:t>Genie Space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74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Standalone — zero code changes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74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Genie Space in Databricks pointing to smart_poc.smart.* Delta tables. Users ask questions directly in the Databricks workspace UI.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solidFill>
            <a:srgbClr val="06D6A0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6D6A0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474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40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country has the highest P90 days?"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840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activation timelines for Argentina"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840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"Avg site activation rate across countries?"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74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840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Separate UI — users leave the SMArT app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27832" y="1389888"/>
            <a:ext cx="2816352" cy="3611880"/>
          </a:xfrm>
          <a:prstGeom prst="rect">
            <a:avLst/>
          </a:prstGeom>
          <a:solidFill>
            <a:srgbClr val="1A1500"/>
          </a:solidFill>
          <a:ln w="12700">
            <a:solidFill>
              <a:srgbClr val="FFD166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227832" y="1389888"/>
            <a:ext cx="2816352" cy="64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337560" y="1508760"/>
            <a:ext cx="402336" cy="40233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33375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2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solidFill>
            <a:srgbClr val="FFD166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8130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D166"/>
                </a:solidFill>
              </a:rPr>
              <a:t>⚠  REQUIRES WORK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3192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166"/>
                </a:solidFill>
              </a:rPr>
              <a:t>Embed Genie in App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3192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Chat widget inside SMArT webapp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3192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chat widget in the React frontend. Flask backend proxies calls to the Genie Conversation API. Results rendered inline in the app.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solidFill>
            <a:srgbClr val="FFD166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3192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D166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33192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558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Genie Conversation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3192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558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Flask → Genie API proxy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3192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33558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SQL results inline in app UI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3192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33558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Cannot answer questions about live in-memory API results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199632" y="1389888"/>
            <a:ext cx="2816352" cy="3611880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199632" y="1389888"/>
            <a:ext cx="2816352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309360" y="1508760"/>
            <a:ext cx="402336" cy="402336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6309360" y="1508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6784848" y="1536192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762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🔄  BEST OF BOTH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6291072" y="1965960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Write Results → Genie Queries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91072" y="2267712"/>
            <a:ext cx="263347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Most powerful approach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91072" y="2560320"/>
            <a:ext cx="263347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results are saved back to Delta tables (site_activation_details_results etc.). Genie queries saved results — combines live app + historical analysis.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91072" y="3236976"/>
            <a:ext cx="2633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00B4D8"/>
                </a:solidFill>
              </a:rPr>
              <a:t>EXAMPLE QUESTIONS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291072" y="3456432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6327648" y="34564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"Show all plans created this week"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6291072" y="3785616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6327648" y="378561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"Compare P90 dates across my last 3 runs"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291072" y="4114800"/>
            <a:ext cx="26334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27648" y="4114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💬  "Which analysis had the fastest activation?"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291072" y="4462272"/>
            <a:ext cx="2633472" cy="420624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6327648" y="4462272"/>
            <a:ext cx="25603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Requires result-persistence logic in app layer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256032" y="4956048"/>
            <a:ext cx="8631936" cy="128016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201168" y="91440"/>
            <a:ext cx="566928" cy="56692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01168" y="91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0"/>
            <a:ext cx="7955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Genie  —  Recommended Path &amp; Architecture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56032" y="8961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★  RECOMMENDED FOR PoC DEMO  —  OPTION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402336" y="1463040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02336" y="1463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86384" y="1335024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Open ATP GPD Expl workspace → Genie (sidebar)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6032" y="1956816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56032" y="1956816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02336" y="2084832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02336" y="2084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" y="1956816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Create a Genie Space → connect to smart_poc.smart.*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2578608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2578608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02336" y="2706624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02336" y="2706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" y="2578608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Point at smart_category_activation_timelines table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" y="3200400"/>
            <a:ext cx="406908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56032" y="3200400"/>
            <a:ext cx="73152" cy="54864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02336" y="3328416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402336" y="33284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86384" y="32004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Demo alongside app — zero code changes required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6032" y="3840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✓  CAN answer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" y="416052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292608" y="416052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Questions about Delta Lake tables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" y="443484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292608" y="443484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Raw data, saved plans, timelines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" y="4709160"/>
            <a:ext cx="1920240" cy="237744"/>
          </a:xfrm>
          <a:prstGeom prst="rect">
            <a:avLst/>
          </a:prstGeom>
          <a:solidFill>
            <a:srgbClr val="E8FFF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92608" y="4709160"/>
            <a:ext cx="1865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D6A0"/>
                </a:solidFill>
              </a:rPr>
              <a:t>✓  Historical result comparisons (Opt 3)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304288" y="38404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✗  CANNOT answer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304288" y="416052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2340864" y="416052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Live API/in-memory computation results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04288" y="443484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2340864" y="443484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Runtime simulation state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304288" y="4709160"/>
            <a:ext cx="2011680" cy="237744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340864" y="4709160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F476F"/>
                </a:solidFill>
              </a:rPr>
              <a:t>✗  Unless Option 3 (write back) is implemented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4572000" y="896112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OPTION 3  —  TARGET ARCHITECTURE  (Best of Both)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846320" y="1335024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4937760" y="138074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SMArT Web App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937760" y="1627632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React + Flask/FastAPI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675120" y="1883664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846320" y="2029968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0E0EF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937760" y="207568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0E0EF"/>
                </a:solidFill>
              </a:rPr>
              <a:t>Flask Backend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937760" y="2322576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Proxy → Genie Conversation API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675120" y="2578608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4846320" y="2724912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937760" y="277063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Delta Lake Tables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4937760" y="3017520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smart_poc.smart.*  +  results tables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3273552"/>
            <a:ext cx="54864" cy="2377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846320" y="3419856"/>
            <a:ext cx="374904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9B5DE5"/>
            </a:solidFill>
            <a:prstDash val="solid"/>
          </a:ln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937760" y="34655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5DE5"/>
                </a:solidFill>
              </a:rPr>
              <a:t>Genie Space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4937760" y="3712464"/>
            <a:ext cx="3657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D0DDE6"/>
                </a:solidFill>
              </a:rPr>
              <a:t>Natural language → SQL → Delta Lake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846320" y="4114800"/>
            <a:ext cx="3749040" cy="566928"/>
          </a:xfrm>
          <a:prstGeom prst="rect">
            <a:avLst/>
          </a:prstGeom>
          <a:solidFill>
            <a:srgbClr val="001A2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Shape 61"/>
          <p:cNvSpPr/>
          <p:nvPr/>
        </p:nvSpPr>
        <p:spPr>
          <a:xfrm>
            <a:off x="4846320" y="4114800"/>
            <a:ext cx="73152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992624" y="4151376"/>
            <a:ext cx="3520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Result write-back: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4992624" y="435254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0DDE6"/>
                </a:solidFill>
              </a:rPr>
              <a:t>site_activation_details_results  ·  summary_results  →  queryable by Genie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5669280" y="182880"/>
            <a:ext cx="3840480" cy="384048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309360" y="822960"/>
            <a:ext cx="2560320" cy="256032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669280" y="182880"/>
            <a:ext cx="384048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96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2926080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64008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DETAILED COST ANALYSIS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078992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Pricing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Cost Strategies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65760" y="26334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0E0EF"/>
                </a:solidFill>
              </a:rPr>
              <a:t>AWS Premium Tier  ·  All 3 Environments  ·  Pay-as-you-go → Committed pricing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12064" y="315468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Per-environment breakdown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557016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3557016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2064" y="3557016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3 cost scenarios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959352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65760" y="3959352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12064" y="395935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Optimization strategies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65760" y="4361688"/>
            <a:ext cx="4937760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65760" y="4361688"/>
            <a:ext cx="73152" cy="3291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12064" y="4361688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</a:rPr>
              <a:t>Current stack comparison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274320" y="4846320"/>
            <a:ext cx="8595360" cy="297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SMArT Platform Migration  ·  June 2026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DBU Rates &amp; Per-Environment Cost Breakdown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96112"/>
            <a:ext cx="8631936" cy="82296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84048" y="914400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50" dirty="0">
                <a:solidFill>
                  <a:srgbClr val="00B4D8"/>
                </a:solidFill>
              </a:rPr>
              <a:t>DBU RATES  — AWS Premium Tier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84048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Databricks App (Medium)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$0.275/hr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SQL Serverless Warehouse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560320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$1.10/hr active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36592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36592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1-yr commit discount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36592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25–45% saving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12864" y="1188720"/>
            <a:ext cx="2011680" cy="438912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912864" y="119786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3-yr commit discount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912864" y="138988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40–55% saving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60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1810512"/>
            <a:ext cx="2798064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60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474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</a:rPr>
              <a:t>🛠  DEV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017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(10 hrs/day × 22 days)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945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$60–$80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017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657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(~2 hrs/day)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945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$48–$60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017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657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(~10 GB)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1945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$2–$5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017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657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1945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56032" y="4297680"/>
            <a:ext cx="2798064" cy="4023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2560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~$110–$145/mo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278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3227832" y="1810512"/>
            <a:ext cx="2798064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32278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33192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166"/>
                </a:solidFill>
              </a:rPr>
              <a:t>🧪  STAGE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32735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33375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(8 hrs/day × 22 days)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1663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$48–$65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735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3375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(~1 hr/day)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1663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$24–$30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735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33375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(~10 GB)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1663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$2–$5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735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3375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1663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27832" y="4297680"/>
            <a:ext cx="2798064" cy="40233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32278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~$75–$100/mo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199632" y="1810512"/>
            <a:ext cx="2798064" cy="3200400"/>
          </a:xfrm>
          <a:prstGeom prst="rect">
            <a:avLst/>
          </a:prstGeom>
          <a:solidFill>
            <a:srgbClr val="EEF5FB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6199632" y="1810512"/>
            <a:ext cx="2798064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6199632" y="1883664"/>
            <a:ext cx="2798064" cy="4572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291072" y="1883664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D6A0"/>
                </a:solidFill>
              </a:rPr>
              <a:t>🚀  PROD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245352" y="2395728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309360" y="2432304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App (24/7 always-on)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138160" y="2432304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$200–$270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45352" y="2871216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309360" y="290779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SQL Warehouse (~4 hrs/day)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813816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$96–$120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245352" y="3346704"/>
            <a:ext cx="2706624" cy="438912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630936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Delta Lake Storage (50–100 GB)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8138160" y="3383280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$10–$25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245352" y="3822192"/>
            <a:ext cx="2706624" cy="438912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6309360" y="385876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</a:rPr>
              <a:t>Unity Catalog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138160" y="3858768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50" b="1" dirty="0">
                <a:solidFill>
                  <a:srgbClr val="0D1B2A"/>
                </a:solidFill>
              </a:rPr>
              <a:t>Included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199632" y="4297680"/>
            <a:ext cx="2798064" cy="402336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199632" y="4297680"/>
            <a:ext cx="27980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TOTAL  ~$305–$415/mo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256032" y="4773168"/>
            <a:ext cx="8631936" cy="27432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3B1"/>
                </a:solidFill>
              </a:rPr>
              <a:t>ℹ  App size: Medium (0.5 DBU/hr)  ·  DBU rate: $0.55 pay-as-you-go  ·  Region: AWS us-east-1  ·  Unity Catalog included at Premium tier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Cost Optimization Strategies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914400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56032" y="914400"/>
            <a:ext cx="91440" cy="1207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438912" y="1005840"/>
            <a:ext cx="329184" cy="329184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38912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66160" y="1005840"/>
            <a:ext cx="932688" cy="274320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566160" y="1005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40–60% on Dev/Stage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59536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Stop Dev/Stage outside business hours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20624" y="1353312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Auto-shutdown after 30-min idle. Dev/Stage only run ~10 hrs/day instead of 24/7. Biggest single lever for non-prod environments.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56032" y="2249424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56032" y="2249424"/>
            <a:ext cx="91440" cy="120700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38912" y="2340864"/>
            <a:ext cx="329184" cy="329184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38912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340864"/>
            <a:ext cx="932688" cy="274320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566160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25–45% across all envs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59536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Committed DBU pricing (1yr or 3yr)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" y="2688336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commit: ~$0.40–0.50/DBU vs $0.55 pay-as-you-go. 3-year commit: ~$0.30–0.40/DBU. Significant reduction once usage is proven stable.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3584448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3584448"/>
            <a:ext cx="91440" cy="12070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38912" y="3675888"/>
            <a:ext cx="329184" cy="329184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38912" y="3675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566160" y="3675888"/>
            <a:ext cx="932688" cy="274320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566160" y="3675888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50% on App compute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59536" y="367588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Small app size instead of Medium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" y="4023360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Downsize from Medium (0.5 DBU/hr) to Small (0.25 DBU/hr) for Dev/Stage. Halves App compute cost if performance is sufficient for non-prod workloads.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28032" y="914400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828032" y="914400"/>
            <a:ext cx="91440" cy="120700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010912" y="1005840"/>
            <a:ext cx="329184" cy="329184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010912" y="1005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138160" y="1005840"/>
            <a:ext cx="932688" cy="274320"/>
          </a:xfrm>
          <a:prstGeom prst="rect">
            <a:avLst/>
          </a:prstGeom>
          <a:solidFill>
            <a:srgbClr val="9B5DE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138160" y="1005840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Pay only for queries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31536" y="10058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Serverless SQL auto-suspend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92624" y="1353312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Serverless Warehouse behaviour — billing stops immediately when idle. No minimum charge. Combine with query result caching to reduce active hours.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828032" y="2249424"/>
            <a:ext cx="4315968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828032" y="2249424"/>
            <a:ext cx="91440" cy="120700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010912" y="2340864"/>
            <a:ext cx="329184" cy="329184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010912" y="2340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38160" y="2340864"/>
            <a:ext cx="932688" cy="274320"/>
          </a:xfrm>
          <a:prstGeom prst="rect">
            <a:avLst/>
          </a:prstGeom>
          <a:solidFill>
            <a:srgbClr val="FF6B35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8138160" y="2340864"/>
            <a:ext cx="932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D1B2A"/>
                </a:solidFill>
              </a:rPr>
              <a:t>Reduce workspace overhead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31536" y="234086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Dev/Stage share a single workspace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92624" y="2688336"/>
            <a:ext cx="4078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Schema-based isolation within one workspace eliminates duplicate workspace overhead. Unity Catalog RBAC enforces access control between schemas.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663440"/>
            <a:ext cx="8631936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663440"/>
            <a:ext cx="91440" cy="38404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420624" y="466344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B1"/>
                </a:solidFill>
              </a:rPr>
              <a:t>Optimised (off-hours + 1yr commit): </a:t>
            </a:r>
            <a:r>
              <a:rPr lang="en-US" sz="1100" b="1" dirty="0">
                <a:solidFill>
                  <a:srgbClr val="06D6A0"/>
                </a:solidFill>
              </a:rPr>
              <a:t>~$350/mo  (~$4,200/yr)  </a:t>
            </a:r>
            <a:r>
              <a:rPr lang="en-US" sz="1100" dirty="0">
                <a:solidFill>
                  <a:srgbClr val="8FA3B1"/>
                </a:solidFill>
              </a:rPr>
              <a:t>   |   Off-hours + 3yr commit: </a:t>
            </a:r>
            <a:r>
              <a:rPr lang="en-US" sz="1100" b="1" dirty="0">
                <a:solidFill>
                  <a:srgbClr val="00B4D8"/>
                </a:solidFill>
              </a:rPr>
              <a:t>~$280/mo  (~$3,360/yr)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Stack Comparison: Current vs Databricks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468880" y="896112"/>
            <a:ext cx="3017520" cy="347472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468880" y="8961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 — Dataiku + Snowflake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23560" y="896112"/>
            <a:ext cx="3264408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623560" y="896112"/>
            <a:ext cx="32644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PROPOSED  — Databricks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56032" y="13350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0040" y="13350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Platform License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14600" y="13350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license (significant fixed cost)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68112" y="13350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87568" y="13350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Included in DBU consumption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56032" y="17922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56032" y="17922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20040" y="17922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Compute Model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14600" y="17922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infrastructure (fixed)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68112" y="17922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87568" y="17922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Serverless — pay-per-use only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6032" y="22494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56032" y="22494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20040" y="22494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Database Cost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14600" y="22494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Snowflake — separate license + compute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68112" y="22494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87568" y="2249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Delta Lake — S3 storage at $0.023/GB/mo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7066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56032" y="27066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" y="27066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App Hosting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514600" y="27066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Dataiku webapp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468112" y="27066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87568" y="27066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Databricks Apps (0.5 DBU/hr)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56032" y="31638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56032" y="31638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0040" y="31638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Data Governance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514600" y="31638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Manual / limited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68112" y="31638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87568" y="31638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Unity Catalog — included with Premium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56032" y="36210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56032" y="36210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320040" y="36210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CI/CD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14600" y="36210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Custom setup required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468112" y="36210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87568" y="36210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Databricks Asset Bundles (DABs) native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56032" y="4078224"/>
            <a:ext cx="8631936" cy="42062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6032" y="40782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320040" y="40782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Dev/Stage Cost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514600" y="40782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</a:rPr>
              <a:t>Fixed (same as prod license cost)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468112" y="40782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687568" y="40782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D6A0"/>
                </a:solidFill>
              </a:rPr>
              <a:t>Usage-based — auto-shutdown saves 40–60%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256032" y="4535424"/>
            <a:ext cx="8631936" cy="42062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256032" y="453542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20040" y="4535424"/>
            <a:ext cx="20848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Annual Total (est.)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14600" y="4535424"/>
            <a:ext cx="29443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55555"/>
                </a:solidFill>
              </a:rPr>
              <a:t>$30,900/yr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68112" y="4535424"/>
            <a:ext cx="20116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→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687568" y="4535424"/>
            <a:ext cx="31272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</a:rPr>
              <a:t>$4,200–$5,880/yr (optimised–conservative)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56032" y="5010912"/>
            <a:ext cx="8631936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49808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320040" y="0"/>
            <a:ext cx="8503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Recommended Cost Strategy &amp; Savings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01168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01168" y="960120"/>
            <a:ext cx="2084832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292608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92608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Day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</a:rPr>
              <a:t>Go-Live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92608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Pay-as-you-go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Auto-shutdown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~$350/mo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74320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~$4,200/yr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" y="2798064"/>
            <a:ext cx="1444752" cy="237744"/>
          </a:xfrm>
          <a:prstGeom prst="rect">
            <a:avLst/>
          </a:prstGeom>
          <a:solidFill>
            <a:srgbClr val="00B4D8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21208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86% vs DSS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3127248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Medium app (0.5 DBU/hr) all envs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74320" y="3547872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65760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Dev/Stage off-hours auto-shutdown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4320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74320" y="3968496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Serverless SQL, no idle cost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74320" y="438912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Unity Catalog included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286000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2432304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2432304" y="960120"/>
            <a:ext cx="2084832" cy="7315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2523744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2523744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Year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D166"/>
                </a:solidFill>
              </a:rPr>
              <a:t>Review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23744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1-Year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Commit (CUD)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505456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~$230/mo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2505456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~$2,760/yr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52344" y="2798064"/>
            <a:ext cx="1444752" cy="237744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752344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91% vs DSS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505456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505456" y="3127248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596896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Apply 1yr commit after usage proven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505456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2505456" y="3547872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596896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Rate drops to ~$0.40–0.50/DBU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505456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2505456" y="3968496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2596896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Review app sizing (Small vs Medium)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505456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2505456" y="4389120"/>
            <a:ext cx="54864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596896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~25–45% further reduction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4517136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4663440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4663440" y="960120"/>
            <a:ext cx="208483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4754880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754880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Year 2+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Optimised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754880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Small App Size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+ 1yr CUD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36592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~$180/mo</a:t>
            </a:r>
            <a:endParaRPr lang="en-US" sz="2000" dirty="0"/>
          </a:p>
        </p:txBody>
      </p:sp>
      <p:sp>
        <p:nvSpPr>
          <p:cNvPr id="55" name="Text 53"/>
          <p:cNvSpPr/>
          <p:nvPr/>
        </p:nvSpPr>
        <p:spPr>
          <a:xfrm>
            <a:off x="4736592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~$2,160/yr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4983480" y="2798064"/>
            <a:ext cx="1444752" cy="237744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4983480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93% vs DSS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736592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4736592" y="3127248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828032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Downsize Dev/Stage to Small (0.25 DBU)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736592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4736592" y="3547872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828032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Prod stays Medium if load requires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4736592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4736592" y="3968496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4828032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Further 50% App compute reduction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4736592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4736592" y="43891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828032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Dev/Stage share single workspace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748272" y="2231136"/>
            <a:ext cx="146304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894576" y="960120"/>
            <a:ext cx="2084832" cy="4023360"/>
          </a:xfrm>
          <a:prstGeom prst="rect">
            <a:avLst/>
          </a:prstGeom>
          <a:solidFill>
            <a:srgbClr val="243B55"/>
          </a:solidFill>
          <a:ln/>
          <a:effectLst>
            <a:outerShdw blurRad="88900" dist="38100" dir="81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6894576" y="960120"/>
            <a:ext cx="2084832" cy="7315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6986016" y="1078992"/>
            <a:ext cx="1901952" cy="43891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6986016" y="1078992"/>
            <a:ext cx="190195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Year 3+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</a:rPr>
              <a:t>Full Optimised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6986016" y="1600200"/>
            <a:ext cx="1901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3-Year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Commit (CUD)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6967728" y="2103120"/>
            <a:ext cx="193852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~$140/mo</a:t>
            </a:r>
            <a:endParaRPr lang="en-US" sz="2000" dirty="0"/>
          </a:p>
        </p:txBody>
      </p:sp>
      <p:sp>
        <p:nvSpPr>
          <p:cNvPr id="77" name="Text 75"/>
          <p:cNvSpPr/>
          <p:nvPr/>
        </p:nvSpPr>
        <p:spPr>
          <a:xfrm>
            <a:off x="6967728" y="2487168"/>
            <a:ext cx="19385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~$1,680/yr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7214616" y="2798064"/>
            <a:ext cx="1444752" cy="237744"/>
          </a:xfrm>
          <a:prstGeom prst="rect">
            <a:avLst/>
          </a:prstGeom>
          <a:solidFill>
            <a:srgbClr val="06D6A0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7214616" y="2798064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95% vs DSS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967728" y="3127248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6967728" y="3127248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Text 80"/>
          <p:cNvSpPr/>
          <p:nvPr/>
        </p:nvSpPr>
        <p:spPr>
          <a:xfrm>
            <a:off x="7059168" y="312724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3yr commit: ~$0.30–0.40/DBU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967728" y="3547872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6967728" y="3547872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7059168" y="354787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Lowest possible unit cost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6967728" y="3968496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6967728" y="3968496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7059168" y="396849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Full AI stack (Genie, MLflow) included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6967728" y="4389120"/>
            <a:ext cx="1938528" cy="36576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967728" y="4389120"/>
            <a:ext cx="54864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7059168" y="438912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Cost well below any alternative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201168" y="5074920"/>
            <a:ext cx="8741664" cy="594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Migration Effort Estimation  —  9 Phases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91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~17 Weeks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" y="804672"/>
            <a:ext cx="8741664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37744" y="804672"/>
            <a:ext cx="2926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#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804672"/>
            <a:ext cx="18105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Phase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423160" y="804672"/>
            <a:ext cx="376732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Key Activities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236208" y="804672"/>
            <a:ext cx="749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Effort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040880" y="8046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B4D8"/>
                </a:solidFill>
              </a:rPr>
              <a:t>Weeks →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3115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0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54837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1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816559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2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78281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3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9400032" y="804672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4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201168" y="1133856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01168" y="1133856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46888" y="1216152"/>
            <a:ext cx="256032" cy="25603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46888" y="12161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1170432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Architecture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423160" y="1170432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validation · Databricks workspace setup · Unity Catalog design · ADLC &amp; security review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236208" y="1225296"/>
            <a:ext cx="749808" cy="237744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236208" y="12252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1.5–2 wks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658100" y="1133856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8275320" y="1133856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892540" y="1133856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509760" y="1133856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7040880" y="1225296"/>
            <a:ext cx="1080135" cy="237744"/>
          </a:xfrm>
          <a:prstGeom prst="rect">
            <a:avLst/>
          </a:prstGeom>
          <a:solidFill>
            <a:srgbClr val="00B4D8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7040880" y="1225296"/>
            <a:ext cx="10801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1.5–2 wks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01168" y="1569110"/>
            <a:ext cx="8741664" cy="43525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01168" y="1569110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246888" y="1651406"/>
            <a:ext cx="256032" cy="256032"/>
          </a:xfrm>
          <a:prstGeom prst="ellipse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246888" y="165140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66928" y="1605686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CI/CD Setup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423160" y="1605686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DAB setup · GitHub Actions · Service Principals · RBAC · Dev/Stage/Prod configuration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236208" y="1660550"/>
            <a:ext cx="749808" cy="237744"/>
          </a:xfrm>
          <a:prstGeom prst="rect">
            <a:avLst/>
          </a:prstGeom>
          <a:solidFill>
            <a:srgbClr val="0096B7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36208" y="166055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 wks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658100" y="1569110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8275320" y="1569110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8892540" y="1569110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509760" y="1569110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7040880" y="1660550"/>
            <a:ext cx="1851660" cy="237744"/>
          </a:xfrm>
          <a:prstGeom prst="rect">
            <a:avLst/>
          </a:prstGeom>
          <a:solidFill>
            <a:srgbClr val="0096B7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040880" y="1660550"/>
            <a:ext cx="18516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 wks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1168" y="2004365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201168" y="2004365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46888" y="2086661"/>
            <a:ext cx="256032" cy="25603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46888" y="2086661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66928" y="2040941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423160" y="2040941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 schema analysis · Delta Lake design · migration scripts · validation testing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6236208" y="2095805"/>
            <a:ext cx="749808" cy="237744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6236208" y="2095805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 wks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658100" y="2004365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8275320" y="2004365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892540" y="2004365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9509760" y="2004365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7040880" y="2095805"/>
            <a:ext cx="1851660" cy="237744"/>
          </a:xfrm>
          <a:prstGeom prst="rect">
            <a:avLst/>
          </a:prstGeom>
          <a:solidFill>
            <a:srgbClr val="FFD166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040880" y="2095805"/>
            <a:ext cx="18516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3 wks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01168" y="2439619"/>
            <a:ext cx="8741664" cy="43525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201168" y="2439619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246888" y="2521915"/>
            <a:ext cx="256032" cy="25603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246888" y="2521915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66928" y="2476195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Migration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423160" y="2476195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adaptation for Databricks Apps · configuration refactoring · secrets management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6236208" y="2531059"/>
            <a:ext cx="749808" cy="237744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6236208" y="2531059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4 wks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658100" y="2439619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Shape 67"/>
          <p:cNvSpPr/>
          <p:nvPr/>
        </p:nvSpPr>
        <p:spPr>
          <a:xfrm>
            <a:off x="8275320" y="2439619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0" name="Shape 68"/>
          <p:cNvSpPr/>
          <p:nvPr/>
        </p:nvSpPr>
        <p:spPr>
          <a:xfrm>
            <a:off x="8892540" y="2439619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9509760" y="2439619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7040880" y="2531059"/>
            <a:ext cx="2468880" cy="237744"/>
          </a:xfrm>
          <a:prstGeom prst="rect">
            <a:avLst/>
          </a:prstGeom>
          <a:solidFill>
            <a:srgbClr val="06D6A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7040880" y="2531059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4 wks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201168" y="2874874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201168" y="2874874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246888" y="2957170"/>
            <a:ext cx="256032" cy="256032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46888" y="295717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5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566928" y="2911450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Integration Testing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2423160" y="2911450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validation · API testing · environment-specific configuration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6236208" y="2966314"/>
            <a:ext cx="749808" cy="237744"/>
          </a:xfrm>
          <a:prstGeom prst="rect">
            <a:avLst/>
          </a:prstGeom>
          <a:solidFill>
            <a:srgbClr val="9B5DE5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6236208" y="296631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 wk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658100" y="2874874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8275320" y="2874874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8892540" y="2874874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9509760" y="2874874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7040880" y="2966314"/>
            <a:ext cx="617220" cy="237744"/>
          </a:xfrm>
          <a:prstGeom prst="rect">
            <a:avLst/>
          </a:prstGeom>
          <a:solidFill>
            <a:srgbClr val="9B5DE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7040880" y="2966314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 wk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201168" y="3310128"/>
            <a:ext cx="8741664" cy="43525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201168" y="3310128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246888" y="3392424"/>
            <a:ext cx="256032" cy="256032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246888" y="33924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6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566928" y="3346704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UAT Deployment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2423160" y="3346704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deployment · defect fixing · performance testing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6236208" y="3401568"/>
            <a:ext cx="749808" cy="237744"/>
          </a:xfrm>
          <a:prstGeom prst="rect">
            <a:avLst/>
          </a:prstGeom>
          <a:solidFill>
            <a:srgbClr val="FF6B35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6236208" y="340156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 wk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658100" y="3310128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8275320" y="3310128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8892540" y="3310128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9509760" y="3310128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7040880" y="3401568"/>
            <a:ext cx="617220" cy="237744"/>
          </a:xfrm>
          <a:prstGeom prst="rect">
            <a:avLst/>
          </a:prstGeom>
          <a:solidFill>
            <a:srgbClr val="FF6B35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7040880" y="3401568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 wk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201168" y="3745382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201168" y="3745382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246888" y="3827678"/>
            <a:ext cx="256032" cy="256032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246888" y="382767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7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566928" y="3781958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&amp; Load Testing</a:t>
            </a:r>
            <a:endParaRPr lang="en-US" sz="950" dirty="0"/>
          </a:p>
        </p:txBody>
      </p:sp>
      <p:sp>
        <p:nvSpPr>
          <p:cNvPr id="107" name="Text 105"/>
          <p:cNvSpPr/>
          <p:nvPr/>
        </p:nvSpPr>
        <p:spPr>
          <a:xfrm>
            <a:off x="2423160" y="3781958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 testing · Delta query tuning · compute optimization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6236208" y="3836822"/>
            <a:ext cx="749808" cy="237744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6236208" y="383682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0.5 wk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658100" y="3745382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1" name="Shape 109"/>
          <p:cNvSpPr/>
          <p:nvPr/>
        </p:nvSpPr>
        <p:spPr>
          <a:xfrm>
            <a:off x="8275320" y="3745382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8892540" y="3745382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9509760" y="3745382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7040880" y="3836822"/>
            <a:ext cx="308610" cy="237744"/>
          </a:xfrm>
          <a:prstGeom prst="rect">
            <a:avLst/>
          </a:prstGeom>
          <a:solidFill>
            <a:srgbClr val="EF476F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201168" y="4180637"/>
            <a:ext cx="8741664" cy="435254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Shape 114"/>
          <p:cNvSpPr/>
          <p:nvPr/>
        </p:nvSpPr>
        <p:spPr>
          <a:xfrm>
            <a:off x="201168" y="4180637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7" name="Shape 115"/>
          <p:cNvSpPr/>
          <p:nvPr/>
        </p:nvSpPr>
        <p:spPr>
          <a:xfrm>
            <a:off x="246888" y="4262933"/>
            <a:ext cx="256032" cy="256032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246888" y="4262933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8</a:t>
            </a:r>
            <a:endParaRPr lang="en-US" sz="900" dirty="0"/>
          </a:p>
        </p:txBody>
      </p:sp>
      <p:sp>
        <p:nvSpPr>
          <p:cNvPr id="119" name="Text 117"/>
          <p:cNvSpPr/>
          <p:nvPr/>
        </p:nvSpPr>
        <p:spPr>
          <a:xfrm>
            <a:off x="566928" y="4217213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 Prep</a:t>
            </a:r>
            <a:endParaRPr lang="en-US" sz="950" dirty="0"/>
          </a:p>
        </p:txBody>
      </p:sp>
      <p:sp>
        <p:nvSpPr>
          <p:cNvPr id="120" name="Text 118"/>
          <p:cNvSpPr/>
          <p:nvPr/>
        </p:nvSpPr>
        <p:spPr>
          <a:xfrm>
            <a:off x="2423160" y="4217213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· rollback strategy · production readiness review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6236208" y="4272077"/>
            <a:ext cx="749808" cy="237744"/>
          </a:xfrm>
          <a:prstGeom prst="rect">
            <a:avLst/>
          </a:prstGeom>
          <a:solidFill>
            <a:srgbClr val="1A6B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6236208" y="4272077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 wk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7658100" y="4180637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8275320" y="4180637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8892540" y="4180637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Shape 124"/>
          <p:cNvSpPr/>
          <p:nvPr/>
        </p:nvSpPr>
        <p:spPr>
          <a:xfrm>
            <a:off x="9509760" y="4180637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7040880" y="4272077"/>
            <a:ext cx="617220" cy="237744"/>
          </a:xfrm>
          <a:prstGeom prst="rect">
            <a:avLst/>
          </a:prstGeom>
          <a:solidFill>
            <a:srgbClr val="1A6B8A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8" name="Text 126"/>
          <p:cNvSpPr/>
          <p:nvPr/>
        </p:nvSpPr>
        <p:spPr>
          <a:xfrm>
            <a:off x="7040880" y="4272077"/>
            <a:ext cx="6172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1 wk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201168" y="4615891"/>
            <a:ext cx="8741664" cy="43525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0" name="Shape 128"/>
          <p:cNvSpPr/>
          <p:nvPr/>
        </p:nvSpPr>
        <p:spPr>
          <a:xfrm>
            <a:off x="201168" y="4615891"/>
            <a:ext cx="8741664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246888" y="4698187"/>
            <a:ext cx="256032" cy="25603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246888" y="4698187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9</a:t>
            </a:r>
            <a:endParaRPr lang="en-US" sz="900" dirty="0"/>
          </a:p>
        </p:txBody>
      </p:sp>
      <p:sp>
        <p:nvSpPr>
          <p:cNvPr id="133" name="Text 131"/>
          <p:cNvSpPr/>
          <p:nvPr/>
        </p:nvSpPr>
        <p:spPr>
          <a:xfrm>
            <a:off x="566928" y="4652467"/>
            <a:ext cx="1810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&amp; Hypercare</a:t>
            </a:r>
            <a:endParaRPr lang="en-US" sz="950" dirty="0"/>
          </a:p>
        </p:txBody>
      </p:sp>
      <p:sp>
        <p:nvSpPr>
          <p:cNvPr id="134" name="Text 132"/>
          <p:cNvSpPr/>
          <p:nvPr/>
        </p:nvSpPr>
        <p:spPr>
          <a:xfrm>
            <a:off x="2423160" y="4652467"/>
            <a:ext cx="37673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DSS &amp; Databricks side-by-side validation · user acceptance · bug fixes</a:t>
            </a:r>
            <a:endParaRPr lang="en-US" sz="850" dirty="0"/>
          </a:p>
        </p:txBody>
      </p:sp>
      <p:sp>
        <p:nvSpPr>
          <p:cNvPr id="135" name="Shape 133"/>
          <p:cNvSpPr/>
          <p:nvPr/>
        </p:nvSpPr>
        <p:spPr>
          <a:xfrm>
            <a:off x="6236208" y="4707331"/>
            <a:ext cx="749808" cy="237744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Text 134"/>
          <p:cNvSpPr/>
          <p:nvPr/>
        </p:nvSpPr>
        <p:spPr>
          <a:xfrm>
            <a:off x="6236208" y="4707331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 wks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7658100" y="4615891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Shape 136"/>
          <p:cNvSpPr/>
          <p:nvPr/>
        </p:nvSpPr>
        <p:spPr>
          <a:xfrm>
            <a:off x="8275320" y="4615891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Shape 137"/>
          <p:cNvSpPr/>
          <p:nvPr/>
        </p:nvSpPr>
        <p:spPr>
          <a:xfrm>
            <a:off x="8892540" y="4615891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0" name="Shape 138"/>
          <p:cNvSpPr/>
          <p:nvPr/>
        </p:nvSpPr>
        <p:spPr>
          <a:xfrm>
            <a:off x="9509760" y="4615891"/>
            <a:ext cx="7315" cy="43525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1" name="Shape 139"/>
          <p:cNvSpPr/>
          <p:nvPr/>
        </p:nvSpPr>
        <p:spPr>
          <a:xfrm>
            <a:off x="7040880" y="4707331"/>
            <a:ext cx="1234440" cy="237744"/>
          </a:xfrm>
          <a:prstGeom prst="rect">
            <a:avLst/>
          </a:prstGeom>
          <a:solidFill>
            <a:srgbClr val="06D6A0"/>
          </a:solidFill>
          <a:ln/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2" name="Text 140"/>
          <p:cNvSpPr/>
          <p:nvPr/>
        </p:nvSpPr>
        <p:spPr>
          <a:xfrm>
            <a:off x="7040880" y="4707331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</a:rPr>
              <a:t>2 wks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201168" y="5087722"/>
            <a:ext cx="8741664" cy="310896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4" name="Shape 142"/>
          <p:cNvSpPr/>
          <p:nvPr/>
        </p:nvSpPr>
        <p:spPr>
          <a:xfrm>
            <a:off x="201168" y="5087722"/>
            <a:ext cx="54864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5" name="Text 143"/>
          <p:cNvSpPr/>
          <p:nvPr/>
        </p:nvSpPr>
        <p:spPr>
          <a:xfrm>
            <a:off x="320040" y="508772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</a:rPr>
              <a:t>TOTAL ESTIMATED EFFORT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2606040" y="5087722"/>
            <a:ext cx="4023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FFFF"/>
                </a:solidFill>
              </a:rPr>
              <a:t>~17 Weeks  (including 0.5–1 week buffer for risk and ADLC sign-off)</a:t>
            </a:r>
            <a:endParaRPr lang="en-US" sz="1000" dirty="0"/>
          </a:p>
        </p:txBody>
      </p:sp>
      <p:sp>
        <p:nvSpPr>
          <p:cNvPr id="147" name="Shape 145"/>
          <p:cNvSpPr/>
          <p:nvPr/>
        </p:nvSpPr>
        <p:spPr>
          <a:xfrm>
            <a:off x="6766560" y="5087722"/>
            <a:ext cx="2121408" cy="31089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8" name="Text 146"/>
          <p:cNvSpPr/>
          <p:nvPr/>
        </p:nvSpPr>
        <p:spPr>
          <a:xfrm>
            <a:off x="6766560" y="508772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~4 months end-to-end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Effort by Phase  —  Visual Timeline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645920" cy="5029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914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~17 Weeks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Total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" y="1097280"/>
            <a:ext cx="914400" cy="914400"/>
          </a:xfrm>
          <a:prstGeom prst="ellipse">
            <a:avLst/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82880" y="11430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" y="1444752"/>
            <a:ext cx="10972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Discovery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Architecture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048256"/>
            <a:ext cx="731520" cy="20116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" y="204825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1.5–2w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097280" y="152704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207008" y="960120"/>
            <a:ext cx="1188720" cy="1188720"/>
          </a:xfrm>
          <a:prstGeom prst="ellipse">
            <a:avLst/>
          </a:prstGeom>
          <a:solidFill>
            <a:srgbClr val="0096B7">
              <a:alpha val="85000"/>
            </a:srgbClr>
          </a:solidFill>
          <a:ln w="12700">
            <a:solidFill>
              <a:srgbClr val="0096B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1207008" y="1005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Environment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&amp; CI/CD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435608" y="2185416"/>
            <a:ext cx="731520" cy="201168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1435608" y="2185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3w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395728" y="152704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505456" y="960120"/>
            <a:ext cx="1188720" cy="1188720"/>
          </a:xfrm>
          <a:prstGeom prst="ellipse">
            <a:avLst/>
          </a:prstGeom>
          <a:solidFill>
            <a:srgbClr val="FFD166">
              <a:alpha val="8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2505456" y="10058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414016" y="1444752"/>
            <a:ext cx="1371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Data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Migration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734056" y="2185416"/>
            <a:ext cx="731520" cy="20116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2734056" y="21854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3w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94176" y="152704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803904" y="845820"/>
            <a:ext cx="1417320" cy="1417320"/>
          </a:xfrm>
          <a:prstGeom prst="ellipse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803904" y="8915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12464" y="1444752"/>
            <a:ext cx="1600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Backend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Migration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46804" y="2299716"/>
            <a:ext cx="731520" cy="2011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146804" y="229971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4w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221224" y="152704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5330952" y="1152144"/>
            <a:ext cx="804672" cy="804672"/>
          </a:xfrm>
          <a:prstGeom prst="ellipse">
            <a:avLst/>
          </a:prstGeom>
          <a:solidFill>
            <a:srgbClr val="9B5DE5">
              <a:alpha val="85000"/>
            </a:srgbClr>
          </a:solidFill>
          <a:ln w="12700">
            <a:solidFill>
              <a:srgbClr val="9B5DE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30952" y="119786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9512" y="144475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Frontend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Integration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367528" y="1993392"/>
            <a:ext cx="731520" cy="20116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367528" y="19933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1w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02920" y="3255264"/>
            <a:ext cx="804672" cy="804672"/>
          </a:xfrm>
          <a:prstGeom prst="ellipse">
            <a:avLst/>
          </a:prstGeom>
          <a:solidFill>
            <a:srgbClr val="FF6B35">
              <a:alpha val="85000"/>
            </a:srgbClr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02920" y="33009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11480" y="35478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QA &amp; UAT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Deployment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539496" y="4096512"/>
            <a:ext cx="731520" cy="20116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539496" y="4096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1w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1307592" y="363016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1655064" y="3314700"/>
            <a:ext cx="685800" cy="685800"/>
          </a:xfrm>
          <a:prstGeom prst="ellipse">
            <a:avLst/>
          </a:prstGeom>
          <a:solidFill>
            <a:srgbClr val="EF476F">
              <a:alpha val="85000"/>
            </a:srgbClr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1655064" y="3360420"/>
            <a:ext cx="685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563624" y="3547872"/>
            <a:ext cx="868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Perf &amp;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Load Test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1632204" y="4037076"/>
            <a:ext cx="731520" cy="20116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1632204" y="403707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0.5w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340864" y="363016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2688336" y="3255264"/>
            <a:ext cx="804672" cy="804672"/>
          </a:xfrm>
          <a:prstGeom prst="ellipse">
            <a:avLst/>
          </a:prstGeom>
          <a:solidFill>
            <a:srgbClr val="1A6B8A">
              <a:alpha val="85000"/>
            </a:srgbClr>
          </a:solidFill>
          <a:ln w="12700">
            <a:solidFill>
              <a:srgbClr val="1A6B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688336" y="3300984"/>
            <a:ext cx="8046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596896" y="3547872"/>
            <a:ext cx="9875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Prod Prep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724912" y="4096512"/>
            <a:ext cx="731520" cy="201168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2724912" y="409651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1w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3493008" y="3630168"/>
            <a:ext cx="73152" cy="54864"/>
          </a:xfrm>
          <a:prstGeom prst="rect">
            <a:avLst/>
          </a:prstGeom>
          <a:solidFill>
            <a:srgbClr val="8FA3B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3840480" y="3154680"/>
            <a:ext cx="1005840" cy="1005840"/>
          </a:xfrm>
          <a:prstGeom prst="ellipse">
            <a:avLst/>
          </a:prstGeom>
          <a:solidFill>
            <a:srgbClr val="06D6A0">
              <a:alpha val="8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3840480" y="320040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3749040" y="3547872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Parallel Run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</a:rPr>
              <a:t>&amp; Hypercare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977640" y="4197096"/>
            <a:ext cx="731520" cy="20116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3977640" y="4197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2w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56032" y="4809744"/>
            <a:ext cx="164592" cy="16459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457200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Critical Path (Backend 4w)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020824" y="4809744"/>
            <a:ext cx="164592" cy="164592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2221992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Infrastructure (Env+CI/CD 3w)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3785616" y="4809744"/>
            <a:ext cx="164592" cy="16459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986784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Data (Migration 3w)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550408" y="4809744"/>
            <a:ext cx="164592" cy="164592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751576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Validation (QA+Parallel 3w)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315200" y="4809744"/>
            <a:ext cx="164592" cy="16459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7516368" y="477316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0DDE6"/>
                </a:solidFill>
              </a:rPr>
              <a:t>Other phases (4w)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109728" cy="501548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5120640" y="-365760"/>
            <a:ext cx="5029200" cy="5029200"/>
          </a:xfrm>
          <a:prstGeom prst="ellipse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5852160" y="365760"/>
            <a:ext cx="3566160" cy="3566160"/>
          </a:xfrm>
          <a:prstGeom prst="ellipse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6492240" y="1005840"/>
            <a:ext cx="2286000" cy="2286000"/>
          </a:xfrm>
          <a:prstGeom prst="ellipse">
            <a:avLst/>
          </a:prstGeom>
          <a:solidFill>
            <a:srgbClr val="00B4D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754880" y="3657600"/>
            <a:ext cx="502920" cy="5029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297680" y="4297680"/>
            <a:ext cx="274320" cy="274320"/>
          </a:xfrm>
          <a:prstGeom prst="ellipse">
            <a:avLst/>
          </a:prstGeom>
          <a:solidFill>
            <a:srgbClr val="FFD166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394960" y="4114800"/>
            <a:ext cx="182880" cy="182880"/>
          </a:xfrm>
          <a:prstGeom prst="ellipse">
            <a:avLst/>
          </a:prstGeom>
          <a:solidFill>
            <a:srgbClr val="06D6A0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65760" y="82296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12" name="Shape 10"/>
          <p:cNvSpPr/>
          <p:nvPr/>
        </p:nvSpPr>
        <p:spPr>
          <a:xfrm>
            <a:off x="365760" y="2176272"/>
            <a:ext cx="292608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Platform Migration Proposal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65760" y="2761488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0DD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Dataiku DSS + Snowflake  →  Databricks Apps + Delta Lake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310128"/>
            <a:ext cx="4389120" cy="36576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3310128"/>
            <a:ext cx="64008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02920" y="33101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📋  Questions — raise with the team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67328"/>
            <a:ext cx="4389120" cy="36576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767328"/>
            <a:ext cx="64008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502920" y="37673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📅  Next: Confirm workspace with Digital/Platform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224528"/>
            <a:ext cx="4389120" cy="365760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365760" y="4224528"/>
            <a:ext cx="64008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02920" y="422452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🚀  Target: 1-week PoC proof of concept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9728" y="4736592"/>
            <a:ext cx="9034272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74320" y="473659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FA3B1"/>
                </a:solidFill>
              </a:rPr>
              <a:t>Prepared by the SMArT Engineering Team  ·  May 2026  ·  Confidential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0"/>
            <a:ext cx="9144000" cy="45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56032" y="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Project Plan  —  SMArT Migration  (15 Jun → 28 Sept 2026)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903720" y="73152"/>
            <a:ext cx="1051560" cy="49377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903720" y="73152"/>
            <a:ext cx="1051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</a:rPr>
              <a:t>▶  Start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0B4D8"/>
                </a:solidFill>
              </a:rPr>
              <a:t>15 Jun 2026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991856" y="73152"/>
            <a:ext cx="1078992" cy="493776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991856" y="73152"/>
            <a:ext cx="107899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✓  End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28 Sept 2026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176272" y="694944"/>
            <a:ext cx="808975" cy="237744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76272" y="694944"/>
            <a:ext cx="80897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June 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85247" y="694944"/>
            <a:ext cx="1617950" cy="237744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985247" y="694944"/>
            <a:ext cx="16179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July 2026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03197" y="694944"/>
            <a:ext cx="1617950" cy="237744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03197" y="694944"/>
            <a:ext cx="16179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August 2026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21147" y="694944"/>
            <a:ext cx="1617950" cy="237744"/>
          </a:xfrm>
          <a:prstGeom prst="rect">
            <a:avLst/>
          </a:prstGeom>
          <a:solidFill>
            <a:srgbClr val="0F192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221147" y="694944"/>
            <a:ext cx="161795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September 2026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39097" y="694944"/>
            <a:ext cx="1213463" cy="237744"/>
          </a:xfrm>
          <a:prstGeom prst="rect">
            <a:avLst/>
          </a:prstGeom>
          <a:solidFill>
            <a:srgbClr val="14202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839097" y="694944"/>
            <a:ext cx="121346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</a:rPr>
              <a:t>October 2026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176272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176272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176272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W3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580760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580760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2580760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W4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985247" y="932688"/>
            <a:ext cx="404488" cy="237744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2985247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985247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W1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3389735" y="932688"/>
            <a:ext cx="404488" cy="237744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389735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3389735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794222" y="932688"/>
            <a:ext cx="404488" cy="237744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794222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3794222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W3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198710" y="932688"/>
            <a:ext cx="404488" cy="237744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198710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4198710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W4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4603197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603197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603197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W1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5007685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007685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007685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W2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5412172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5412172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5412172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W3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5816660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5816660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5816660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W4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221147" y="932688"/>
            <a:ext cx="404488" cy="237744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6221147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221147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W1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6625635" y="932688"/>
            <a:ext cx="404488" cy="237744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6625635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6625635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W2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030122" y="932688"/>
            <a:ext cx="404488" cy="237744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7030122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7030122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W3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7434610" y="932688"/>
            <a:ext cx="404488" cy="237744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7434610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434610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W4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7839097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7839097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839097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W1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8243585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5" name="Shape 63"/>
          <p:cNvSpPr/>
          <p:nvPr/>
        </p:nvSpPr>
        <p:spPr>
          <a:xfrm>
            <a:off x="8243585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8243585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W2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8648072" y="932688"/>
            <a:ext cx="404488" cy="237744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8648072" y="694944"/>
            <a:ext cx="9144" cy="47548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8648072" y="932688"/>
            <a:ext cx="4044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8FA3B1"/>
                </a:solidFill>
              </a:rPr>
              <a:t>W3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176272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2176272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Shape 70"/>
          <p:cNvSpPr/>
          <p:nvPr/>
        </p:nvSpPr>
        <p:spPr>
          <a:xfrm>
            <a:off x="2580760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3" name="Shape 71"/>
          <p:cNvSpPr/>
          <p:nvPr/>
        </p:nvSpPr>
        <p:spPr>
          <a:xfrm>
            <a:off x="2580760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Shape 72"/>
          <p:cNvSpPr/>
          <p:nvPr/>
        </p:nvSpPr>
        <p:spPr>
          <a:xfrm>
            <a:off x="2985247" y="1170432"/>
            <a:ext cx="404488" cy="3584448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2985247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Shape 74"/>
          <p:cNvSpPr/>
          <p:nvPr/>
        </p:nvSpPr>
        <p:spPr>
          <a:xfrm>
            <a:off x="3389735" y="1170432"/>
            <a:ext cx="404488" cy="3584448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7" name="Shape 75"/>
          <p:cNvSpPr/>
          <p:nvPr/>
        </p:nvSpPr>
        <p:spPr>
          <a:xfrm>
            <a:off x="3389735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3794222" y="1170432"/>
            <a:ext cx="404488" cy="3584448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9" name="Shape 77"/>
          <p:cNvSpPr/>
          <p:nvPr/>
        </p:nvSpPr>
        <p:spPr>
          <a:xfrm>
            <a:off x="3794222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Shape 78"/>
          <p:cNvSpPr/>
          <p:nvPr/>
        </p:nvSpPr>
        <p:spPr>
          <a:xfrm>
            <a:off x="4198710" y="1170432"/>
            <a:ext cx="404488" cy="3584448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1" name="Shape 79"/>
          <p:cNvSpPr/>
          <p:nvPr/>
        </p:nvSpPr>
        <p:spPr>
          <a:xfrm>
            <a:off x="4198710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4603197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4603197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Shape 82"/>
          <p:cNvSpPr/>
          <p:nvPr/>
        </p:nvSpPr>
        <p:spPr>
          <a:xfrm>
            <a:off x="5007685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5" name="Shape 83"/>
          <p:cNvSpPr/>
          <p:nvPr/>
        </p:nvSpPr>
        <p:spPr>
          <a:xfrm>
            <a:off x="5007685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6" name="Shape 84"/>
          <p:cNvSpPr/>
          <p:nvPr/>
        </p:nvSpPr>
        <p:spPr>
          <a:xfrm>
            <a:off x="5412172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7" name="Shape 85"/>
          <p:cNvSpPr/>
          <p:nvPr/>
        </p:nvSpPr>
        <p:spPr>
          <a:xfrm>
            <a:off x="5412172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Shape 86"/>
          <p:cNvSpPr/>
          <p:nvPr/>
        </p:nvSpPr>
        <p:spPr>
          <a:xfrm>
            <a:off x="5816660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9" name="Shape 87"/>
          <p:cNvSpPr/>
          <p:nvPr/>
        </p:nvSpPr>
        <p:spPr>
          <a:xfrm>
            <a:off x="5816660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Shape 88"/>
          <p:cNvSpPr/>
          <p:nvPr/>
        </p:nvSpPr>
        <p:spPr>
          <a:xfrm>
            <a:off x="6221147" y="1170432"/>
            <a:ext cx="404488" cy="3584448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1" name="Shape 89"/>
          <p:cNvSpPr/>
          <p:nvPr/>
        </p:nvSpPr>
        <p:spPr>
          <a:xfrm>
            <a:off x="6221147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Shape 90"/>
          <p:cNvSpPr/>
          <p:nvPr/>
        </p:nvSpPr>
        <p:spPr>
          <a:xfrm>
            <a:off x="6625635" y="1170432"/>
            <a:ext cx="404488" cy="3584448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3" name="Shape 91"/>
          <p:cNvSpPr/>
          <p:nvPr/>
        </p:nvSpPr>
        <p:spPr>
          <a:xfrm>
            <a:off x="6625635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Shape 92"/>
          <p:cNvSpPr/>
          <p:nvPr/>
        </p:nvSpPr>
        <p:spPr>
          <a:xfrm>
            <a:off x="7030122" y="1170432"/>
            <a:ext cx="404488" cy="3584448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5" name="Shape 93"/>
          <p:cNvSpPr/>
          <p:nvPr/>
        </p:nvSpPr>
        <p:spPr>
          <a:xfrm>
            <a:off x="7030122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6" name="Shape 94"/>
          <p:cNvSpPr/>
          <p:nvPr/>
        </p:nvSpPr>
        <p:spPr>
          <a:xfrm>
            <a:off x="7434610" y="1170432"/>
            <a:ext cx="404488" cy="3584448"/>
          </a:xfrm>
          <a:prstGeom prst="rect">
            <a:avLst/>
          </a:prstGeom>
          <a:solidFill>
            <a:srgbClr val="0A16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7434610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7839097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Shape 97"/>
          <p:cNvSpPr/>
          <p:nvPr/>
        </p:nvSpPr>
        <p:spPr>
          <a:xfrm>
            <a:off x="7839097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0" name="Shape 98"/>
          <p:cNvSpPr/>
          <p:nvPr/>
        </p:nvSpPr>
        <p:spPr>
          <a:xfrm>
            <a:off x="8243585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1" name="Shape 99"/>
          <p:cNvSpPr/>
          <p:nvPr/>
        </p:nvSpPr>
        <p:spPr>
          <a:xfrm>
            <a:off x="8243585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2" name="Shape 100"/>
          <p:cNvSpPr/>
          <p:nvPr/>
        </p:nvSpPr>
        <p:spPr>
          <a:xfrm>
            <a:off x="8648072" y="1170432"/>
            <a:ext cx="404488" cy="35844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Shape 101"/>
          <p:cNvSpPr/>
          <p:nvPr/>
        </p:nvSpPr>
        <p:spPr>
          <a:xfrm>
            <a:off x="8648072" y="1170432"/>
            <a:ext cx="7315" cy="3584448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4" name="Shape 102"/>
          <p:cNvSpPr/>
          <p:nvPr/>
        </p:nvSpPr>
        <p:spPr>
          <a:xfrm>
            <a:off x="0" y="1170432"/>
            <a:ext cx="2121408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Shape 103"/>
          <p:cNvSpPr/>
          <p:nvPr/>
        </p:nvSpPr>
        <p:spPr>
          <a:xfrm>
            <a:off x="0" y="1170432"/>
            <a:ext cx="73152" cy="40233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6" name="Shape 104"/>
          <p:cNvSpPr/>
          <p:nvPr/>
        </p:nvSpPr>
        <p:spPr>
          <a:xfrm>
            <a:off x="128016" y="1261872"/>
            <a:ext cx="228600" cy="22860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128016" y="12618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1</a:t>
            </a:r>
            <a:endParaRPr lang="en-US" sz="850" dirty="0"/>
          </a:p>
        </p:txBody>
      </p:sp>
      <p:sp>
        <p:nvSpPr>
          <p:cNvPr id="108" name="Text 106"/>
          <p:cNvSpPr/>
          <p:nvPr/>
        </p:nvSpPr>
        <p:spPr>
          <a:xfrm>
            <a:off x="420624" y="1170432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&amp; Architecture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2176272" y="1234440"/>
            <a:ext cx="6876288" cy="274320"/>
          </a:xfrm>
          <a:prstGeom prst="rect">
            <a:avLst/>
          </a:prstGeom>
          <a:solidFill>
            <a:srgbClr val="1A2E4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0" name="Shape 108"/>
          <p:cNvSpPr/>
          <p:nvPr/>
        </p:nvSpPr>
        <p:spPr>
          <a:xfrm>
            <a:off x="2176272" y="1234440"/>
            <a:ext cx="808975" cy="274320"/>
          </a:xfrm>
          <a:prstGeom prst="rect">
            <a:avLst/>
          </a:prstGeom>
          <a:solidFill>
            <a:srgbClr val="00B4D8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1" name="Text 109"/>
          <p:cNvSpPr/>
          <p:nvPr/>
        </p:nvSpPr>
        <p:spPr>
          <a:xfrm>
            <a:off x="2637775" y="123444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2w</a:t>
            </a:r>
            <a:endParaRPr lang="en-US" sz="800" dirty="0"/>
          </a:p>
        </p:txBody>
      </p:sp>
      <p:sp>
        <p:nvSpPr>
          <p:cNvPr id="112" name="Shape 110"/>
          <p:cNvSpPr/>
          <p:nvPr/>
        </p:nvSpPr>
        <p:spPr>
          <a:xfrm rot="2700000">
            <a:off x="2912095" y="1298448"/>
            <a:ext cx="118872" cy="118872"/>
          </a:xfrm>
          <a:prstGeom prst="rect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0" y="1618488"/>
            <a:ext cx="2121408" cy="402336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Shape 112"/>
          <p:cNvSpPr/>
          <p:nvPr/>
        </p:nvSpPr>
        <p:spPr>
          <a:xfrm>
            <a:off x="0" y="1618488"/>
            <a:ext cx="73152" cy="402336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5" name="Shape 113"/>
          <p:cNvSpPr/>
          <p:nvPr/>
        </p:nvSpPr>
        <p:spPr>
          <a:xfrm>
            <a:off x="128016" y="1709928"/>
            <a:ext cx="228600" cy="228600"/>
          </a:xfrm>
          <a:prstGeom prst="ellipse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6" name="Text 114"/>
          <p:cNvSpPr/>
          <p:nvPr/>
        </p:nvSpPr>
        <p:spPr>
          <a:xfrm>
            <a:off x="128016" y="170992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2</a:t>
            </a:r>
            <a:endParaRPr lang="en-US" sz="850" dirty="0"/>
          </a:p>
        </p:txBody>
      </p:sp>
      <p:sp>
        <p:nvSpPr>
          <p:cNvPr id="117" name="Text 115"/>
          <p:cNvSpPr/>
          <p:nvPr/>
        </p:nvSpPr>
        <p:spPr>
          <a:xfrm>
            <a:off x="420624" y="1618488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CI/CD &amp; Infra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2176272" y="1682496"/>
            <a:ext cx="6876288" cy="274320"/>
          </a:xfrm>
          <a:prstGeom prst="rect">
            <a:avLst/>
          </a:prstGeom>
          <a:solidFill>
            <a:srgbClr val="1A2E4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9" name="Shape 117"/>
          <p:cNvSpPr/>
          <p:nvPr/>
        </p:nvSpPr>
        <p:spPr>
          <a:xfrm>
            <a:off x="2985247" y="1682496"/>
            <a:ext cx="1213463" cy="274320"/>
          </a:xfrm>
          <a:prstGeom prst="rect">
            <a:avLst/>
          </a:prstGeom>
          <a:solidFill>
            <a:srgbClr val="0096B7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3851238" y="1682496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3w</a:t>
            </a:r>
            <a:endParaRPr lang="en-US" sz="800" dirty="0"/>
          </a:p>
        </p:txBody>
      </p:sp>
      <p:sp>
        <p:nvSpPr>
          <p:cNvPr id="121" name="Text 119"/>
          <p:cNvSpPr/>
          <p:nvPr/>
        </p:nvSpPr>
        <p:spPr>
          <a:xfrm>
            <a:off x="3040111" y="1682496"/>
            <a:ext cx="792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Environment, CI/CD &amp; Infra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 rot="2700000">
            <a:off x="4125558" y="1746504"/>
            <a:ext cx="118872" cy="118872"/>
          </a:xfrm>
          <a:prstGeom prst="rect">
            <a:avLst/>
          </a:prstGeom>
          <a:solidFill>
            <a:srgbClr val="0096B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3" name="Shape 121"/>
          <p:cNvSpPr/>
          <p:nvPr/>
        </p:nvSpPr>
        <p:spPr>
          <a:xfrm>
            <a:off x="0" y="2066544"/>
            <a:ext cx="2121408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Shape 122"/>
          <p:cNvSpPr/>
          <p:nvPr/>
        </p:nvSpPr>
        <p:spPr>
          <a:xfrm>
            <a:off x="0" y="2066544"/>
            <a:ext cx="73152" cy="402336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5" name="Shape 123"/>
          <p:cNvSpPr/>
          <p:nvPr/>
        </p:nvSpPr>
        <p:spPr>
          <a:xfrm>
            <a:off x="128016" y="2157984"/>
            <a:ext cx="228600" cy="228600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6" name="Text 124"/>
          <p:cNvSpPr/>
          <p:nvPr/>
        </p:nvSpPr>
        <p:spPr>
          <a:xfrm>
            <a:off x="128016" y="215798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3</a:t>
            </a:r>
            <a:endParaRPr lang="en-US" sz="850" dirty="0"/>
          </a:p>
        </p:txBody>
      </p:sp>
      <p:sp>
        <p:nvSpPr>
          <p:cNvPr id="127" name="Text 125"/>
          <p:cNvSpPr/>
          <p:nvPr/>
        </p:nvSpPr>
        <p:spPr>
          <a:xfrm>
            <a:off x="420624" y="2066544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1700784" y="2176272"/>
            <a:ext cx="402336" cy="182880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1700784" y="2176272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D166"/>
                </a:solidFill>
              </a:rPr>
              <a:t>⚡parallel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2176272" y="2130552"/>
            <a:ext cx="6876288" cy="274320"/>
          </a:xfrm>
          <a:prstGeom prst="rect">
            <a:avLst/>
          </a:prstGeom>
          <a:solidFill>
            <a:srgbClr val="1A2E4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1" name="Shape 129"/>
          <p:cNvSpPr/>
          <p:nvPr/>
        </p:nvSpPr>
        <p:spPr>
          <a:xfrm>
            <a:off x="4198710" y="2130552"/>
            <a:ext cx="1213463" cy="274320"/>
          </a:xfrm>
          <a:prstGeom prst="rect">
            <a:avLst/>
          </a:prstGeom>
          <a:solidFill>
            <a:srgbClr val="FFD166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2" name="Text 130"/>
          <p:cNvSpPr/>
          <p:nvPr/>
        </p:nvSpPr>
        <p:spPr>
          <a:xfrm>
            <a:off x="5064700" y="213055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3w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4253574" y="2130552"/>
            <a:ext cx="792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Migration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 rot="2700000">
            <a:off x="5339020" y="2194560"/>
            <a:ext cx="118872" cy="1188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5" name="Shape 133"/>
          <p:cNvSpPr/>
          <p:nvPr/>
        </p:nvSpPr>
        <p:spPr>
          <a:xfrm>
            <a:off x="0" y="2514600"/>
            <a:ext cx="2121408" cy="402336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6" name="Shape 134"/>
          <p:cNvSpPr/>
          <p:nvPr/>
        </p:nvSpPr>
        <p:spPr>
          <a:xfrm>
            <a:off x="0" y="2514600"/>
            <a:ext cx="73152" cy="402336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7" name="Shape 135"/>
          <p:cNvSpPr/>
          <p:nvPr/>
        </p:nvSpPr>
        <p:spPr>
          <a:xfrm>
            <a:off x="128016" y="2606040"/>
            <a:ext cx="228600" cy="228600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8" name="Text 136"/>
          <p:cNvSpPr/>
          <p:nvPr/>
        </p:nvSpPr>
        <p:spPr>
          <a:xfrm>
            <a:off x="128016" y="260604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4</a:t>
            </a:r>
            <a:endParaRPr lang="en-US" sz="850" dirty="0"/>
          </a:p>
        </p:txBody>
      </p:sp>
      <p:sp>
        <p:nvSpPr>
          <p:cNvPr id="139" name="Text 137"/>
          <p:cNvSpPr/>
          <p:nvPr/>
        </p:nvSpPr>
        <p:spPr>
          <a:xfrm>
            <a:off x="420624" y="2514600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Migration</a:t>
            </a:r>
            <a:endParaRPr lang="en-US" sz="950" dirty="0"/>
          </a:p>
        </p:txBody>
      </p:sp>
      <p:sp>
        <p:nvSpPr>
          <p:cNvPr id="140" name="Shape 138"/>
          <p:cNvSpPr/>
          <p:nvPr/>
        </p:nvSpPr>
        <p:spPr>
          <a:xfrm>
            <a:off x="1700784" y="2624328"/>
            <a:ext cx="402336" cy="182880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1" name="Text 139"/>
          <p:cNvSpPr/>
          <p:nvPr/>
        </p:nvSpPr>
        <p:spPr>
          <a:xfrm>
            <a:off x="1700784" y="26243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D166"/>
                </a:solidFill>
              </a:rPr>
              <a:t>⚡parallel</a:t>
            </a:r>
            <a:endParaRPr lang="en-US" sz="650" dirty="0"/>
          </a:p>
        </p:txBody>
      </p:sp>
      <p:sp>
        <p:nvSpPr>
          <p:cNvPr id="142" name="Shape 140"/>
          <p:cNvSpPr/>
          <p:nvPr/>
        </p:nvSpPr>
        <p:spPr>
          <a:xfrm>
            <a:off x="2176272" y="2578608"/>
            <a:ext cx="6876288" cy="274320"/>
          </a:xfrm>
          <a:prstGeom prst="rect">
            <a:avLst/>
          </a:prstGeom>
          <a:solidFill>
            <a:srgbClr val="1A2E4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Shape 141"/>
          <p:cNvSpPr/>
          <p:nvPr/>
        </p:nvSpPr>
        <p:spPr>
          <a:xfrm>
            <a:off x="4198710" y="2578608"/>
            <a:ext cx="1617950" cy="274320"/>
          </a:xfrm>
          <a:prstGeom prst="rect">
            <a:avLst/>
          </a:prstGeom>
          <a:solidFill>
            <a:srgbClr val="06D6A0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4" name="Text 142"/>
          <p:cNvSpPr/>
          <p:nvPr/>
        </p:nvSpPr>
        <p:spPr>
          <a:xfrm>
            <a:off x="5469188" y="2578608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4w</a:t>
            </a:r>
            <a:endParaRPr lang="en-US" sz="800" dirty="0"/>
          </a:p>
        </p:txBody>
      </p:sp>
      <p:sp>
        <p:nvSpPr>
          <p:cNvPr id="145" name="Text 143"/>
          <p:cNvSpPr/>
          <p:nvPr/>
        </p:nvSpPr>
        <p:spPr>
          <a:xfrm>
            <a:off x="4253574" y="2578608"/>
            <a:ext cx="119732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Migration</a:t>
            </a:r>
            <a:endParaRPr lang="en-US" sz="800" dirty="0"/>
          </a:p>
        </p:txBody>
      </p:sp>
      <p:sp>
        <p:nvSpPr>
          <p:cNvPr id="146" name="Shape 144"/>
          <p:cNvSpPr/>
          <p:nvPr/>
        </p:nvSpPr>
        <p:spPr>
          <a:xfrm rot="2700000">
            <a:off x="5743508" y="2642616"/>
            <a:ext cx="118872" cy="118872"/>
          </a:xfrm>
          <a:prstGeom prst="rect">
            <a:avLst/>
          </a:prstGeom>
          <a:solidFill>
            <a:srgbClr val="06D6A0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7" name="Shape 145"/>
          <p:cNvSpPr/>
          <p:nvPr/>
        </p:nvSpPr>
        <p:spPr>
          <a:xfrm>
            <a:off x="0" y="2962656"/>
            <a:ext cx="2121408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8" name="Shape 146"/>
          <p:cNvSpPr/>
          <p:nvPr/>
        </p:nvSpPr>
        <p:spPr>
          <a:xfrm>
            <a:off x="0" y="2962656"/>
            <a:ext cx="73152" cy="402336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9" name="Shape 147"/>
          <p:cNvSpPr/>
          <p:nvPr/>
        </p:nvSpPr>
        <p:spPr>
          <a:xfrm>
            <a:off x="128016" y="3054096"/>
            <a:ext cx="228600" cy="228600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0" name="Text 148"/>
          <p:cNvSpPr/>
          <p:nvPr/>
        </p:nvSpPr>
        <p:spPr>
          <a:xfrm>
            <a:off x="128016" y="3054096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5</a:t>
            </a:r>
            <a:endParaRPr lang="en-US" sz="850" dirty="0"/>
          </a:p>
        </p:txBody>
      </p:sp>
      <p:sp>
        <p:nvSpPr>
          <p:cNvPr id="151" name="Text 149"/>
          <p:cNvSpPr/>
          <p:nvPr/>
        </p:nvSpPr>
        <p:spPr>
          <a:xfrm>
            <a:off x="420624" y="2962656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&amp; Integration</a:t>
            </a:r>
            <a:endParaRPr lang="en-US" sz="950" dirty="0"/>
          </a:p>
        </p:txBody>
      </p:sp>
      <p:sp>
        <p:nvSpPr>
          <p:cNvPr id="152" name="Shape 150"/>
          <p:cNvSpPr/>
          <p:nvPr/>
        </p:nvSpPr>
        <p:spPr>
          <a:xfrm>
            <a:off x="2176272" y="3026664"/>
            <a:ext cx="6876288" cy="274320"/>
          </a:xfrm>
          <a:prstGeom prst="rect">
            <a:avLst/>
          </a:prstGeom>
          <a:solidFill>
            <a:srgbClr val="1A2E4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3" name="Shape 151"/>
          <p:cNvSpPr/>
          <p:nvPr/>
        </p:nvSpPr>
        <p:spPr>
          <a:xfrm>
            <a:off x="5816660" y="3026664"/>
            <a:ext cx="404488" cy="274320"/>
          </a:xfrm>
          <a:prstGeom prst="rect">
            <a:avLst/>
          </a:prstGeom>
          <a:solidFill>
            <a:srgbClr val="9B5DE5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4" name="Shape 152"/>
          <p:cNvSpPr/>
          <p:nvPr/>
        </p:nvSpPr>
        <p:spPr>
          <a:xfrm rot="2700000">
            <a:off x="6147995" y="3090672"/>
            <a:ext cx="118872" cy="118872"/>
          </a:xfrm>
          <a:prstGeom prst="rect">
            <a:avLst/>
          </a:prstGeom>
          <a:solidFill>
            <a:srgbClr val="9B5DE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5" name="Shape 153"/>
          <p:cNvSpPr/>
          <p:nvPr/>
        </p:nvSpPr>
        <p:spPr>
          <a:xfrm>
            <a:off x="0" y="3410712"/>
            <a:ext cx="2121408" cy="402336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6" name="Shape 154"/>
          <p:cNvSpPr/>
          <p:nvPr/>
        </p:nvSpPr>
        <p:spPr>
          <a:xfrm>
            <a:off x="0" y="3410712"/>
            <a:ext cx="73152" cy="402336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7" name="Shape 155"/>
          <p:cNvSpPr/>
          <p:nvPr/>
        </p:nvSpPr>
        <p:spPr>
          <a:xfrm>
            <a:off x="128016" y="3502152"/>
            <a:ext cx="228600" cy="228600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8" name="Text 156"/>
          <p:cNvSpPr/>
          <p:nvPr/>
        </p:nvSpPr>
        <p:spPr>
          <a:xfrm>
            <a:off x="128016" y="350215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6</a:t>
            </a:r>
            <a:endParaRPr lang="en-US" sz="850" dirty="0"/>
          </a:p>
        </p:txBody>
      </p:sp>
      <p:sp>
        <p:nvSpPr>
          <p:cNvPr id="159" name="Text 157"/>
          <p:cNvSpPr/>
          <p:nvPr/>
        </p:nvSpPr>
        <p:spPr>
          <a:xfrm>
            <a:off x="420624" y="3410712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QA, UAT &amp; Perf Testing</a:t>
            </a:r>
            <a:endParaRPr lang="en-US" sz="950" dirty="0"/>
          </a:p>
        </p:txBody>
      </p:sp>
      <p:sp>
        <p:nvSpPr>
          <p:cNvPr id="160" name="Shape 158"/>
          <p:cNvSpPr/>
          <p:nvPr/>
        </p:nvSpPr>
        <p:spPr>
          <a:xfrm>
            <a:off x="2176272" y="3474720"/>
            <a:ext cx="6876288" cy="274320"/>
          </a:xfrm>
          <a:prstGeom prst="rect">
            <a:avLst/>
          </a:prstGeom>
          <a:solidFill>
            <a:srgbClr val="1A2E4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1" name="Shape 159"/>
          <p:cNvSpPr/>
          <p:nvPr/>
        </p:nvSpPr>
        <p:spPr>
          <a:xfrm>
            <a:off x="6221147" y="3474720"/>
            <a:ext cx="808975" cy="274320"/>
          </a:xfrm>
          <a:prstGeom prst="rect">
            <a:avLst/>
          </a:prstGeom>
          <a:solidFill>
            <a:srgbClr val="FF6B35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2" name="Text 160"/>
          <p:cNvSpPr/>
          <p:nvPr/>
        </p:nvSpPr>
        <p:spPr>
          <a:xfrm>
            <a:off x="6682650" y="3474720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2w</a:t>
            </a:r>
            <a:endParaRPr lang="en-US" sz="800" dirty="0"/>
          </a:p>
        </p:txBody>
      </p:sp>
      <p:sp>
        <p:nvSpPr>
          <p:cNvPr id="163" name="Shape 161"/>
          <p:cNvSpPr/>
          <p:nvPr/>
        </p:nvSpPr>
        <p:spPr>
          <a:xfrm rot="2700000">
            <a:off x="6956970" y="3538728"/>
            <a:ext cx="118872" cy="1188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4" name="Shape 162"/>
          <p:cNvSpPr/>
          <p:nvPr/>
        </p:nvSpPr>
        <p:spPr>
          <a:xfrm>
            <a:off x="0" y="3858768"/>
            <a:ext cx="2121408" cy="402336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5" name="Shape 163"/>
          <p:cNvSpPr/>
          <p:nvPr/>
        </p:nvSpPr>
        <p:spPr>
          <a:xfrm>
            <a:off x="0" y="3858768"/>
            <a:ext cx="73152" cy="402336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6" name="Shape 164"/>
          <p:cNvSpPr/>
          <p:nvPr/>
        </p:nvSpPr>
        <p:spPr>
          <a:xfrm>
            <a:off x="128016" y="3950208"/>
            <a:ext cx="228600" cy="228600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7" name="Text 165"/>
          <p:cNvSpPr/>
          <p:nvPr/>
        </p:nvSpPr>
        <p:spPr>
          <a:xfrm>
            <a:off x="128016" y="395020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7</a:t>
            </a:r>
            <a:endParaRPr lang="en-US" sz="850" dirty="0"/>
          </a:p>
        </p:txBody>
      </p:sp>
      <p:sp>
        <p:nvSpPr>
          <p:cNvPr id="168" name="Text 166"/>
          <p:cNvSpPr/>
          <p:nvPr/>
        </p:nvSpPr>
        <p:spPr>
          <a:xfrm>
            <a:off x="420624" y="3858768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 Prep &amp; Go-Live</a:t>
            </a:r>
            <a:endParaRPr lang="en-US" sz="950" dirty="0"/>
          </a:p>
        </p:txBody>
      </p:sp>
      <p:sp>
        <p:nvSpPr>
          <p:cNvPr id="169" name="Shape 167"/>
          <p:cNvSpPr/>
          <p:nvPr/>
        </p:nvSpPr>
        <p:spPr>
          <a:xfrm>
            <a:off x="2176272" y="3922776"/>
            <a:ext cx="6876288" cy="274320"/>
          </a:xfrm>
          <a:prstGeom prst="rect">
            <a:avLst/>
          </a:prstGeom>
          <a:solidFill>
            <a:srgbClr val="1A2E4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0" name="Shape 168"/>
          <p:cNvSpPr/>
          <p:nvPr/>
        </p:nvSpPr>
        <p:spPr>
          <a:xfrm>
            <a:off x="7030122" y="3922776"/>
            <a:ext cx="404488" cy="274320"/>
          </a:xfrm>
          <a:prstGeom prst="rect">
            <a:avLst/>
          </a:prstGeom>
          <a:solidFill>
            <a:srgbClr val="EF476F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1" name="Shape 169"/>
          <p:cNvSpPr/>
          <p:nvPr/>
        </p:nvSpPr>
        <p:spPr>
          <a:xfrm rot="2700000">
            <a:off x="7361458" y="3986784"/>
            <a:ext cx="118872" cy="118872"/>
          </a:xfrm>
          <a:prstGeom prst="rect">
            <a:avLst/>
          </a:prstGeom>
          <a:solidFill>
            <a:srgbClr val="EF476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2" name="Shape 170"/>
          <p:cNvSpPr/>
          <p:nvPr/>
        </p:nvSpPr>
        <p:spPr>
          <a:xfrm>
            <a:off x="0" y="4306824"/>
            <a:ext cx="2121408" cy="402336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3" name="Shape 171"/>
          <p:cNvSpPr/>
          <p:nvPr/>
        </p:nvSpPr>
        <p:spPr>
          <a:xfrm>
            <a:off x="0" y="4306824"/>
            <a:ext cx="73152" cy="402336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4" name="Shape 172"/>
          <p:cNvSpPr/>
          <p:nvPr/>
        </p:nvSpPr>
        <p:spPr>
          <a:xfrm>
            <a:off x="128016" y="4398264"/>
            <a:ext cx="228600" cy="228600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5" name="Text 173"/>
          <p:cNvSpPr/>
          <p:nvPr/>
        </p:nvSpPr>
        <p:spPr>
          <a:xfrm>
            <a:off x="128016" y="4398264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D1B2A"/>
                </a:solidFill>
              </a:rPr>
              <a:t>8</a:t>
            </a:r>
            <a:endParaRPr lang="en-US" sz="850" dirty="0"/>
          </a:p>
        </p:txBody>
      </p:sp>
      <p:sp>
        <p:nvSpPr>
          <p:cNvPr id="176" name="Text 174"/>
          <p:cNvSpPr/>
          <p:nvPr/>
        </p:nvSpPr>
        <p:spPr>
          <a:xfrm>
            <a:off x="420624" y="4306824"/>
            <a:ext cx="16642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 &amp; Hypercare</a:t>
            </a:r>
            <a:endParaRPr lang="en-US" sz="950" dirty="0"/>
          </a:p>
        </p:txBody>
      </p:sp>
      <p:sp>
        <p:nvSpPr>
          <p:cNvPr id="177" name="Shape 175"/>
          <p:cNvSpPr/>
          <p:nvPr/>
        </p:nvSpPr>
        <p:spPr>
          <a:xfrm>
            <a:off x="2176272" y="4370832"/>
            <a:ext cx="6876288" cy="274320"/>
          </a:xfrm>
          <a:prstGeom prst="rect">
            <a:avLst/>
          </a:prstGeom>
          <a:solidFill>
            <a:srgbClr val="1A2E45">
              <a:alpha val="5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8" name="Shape 176"/>
          <p:cNvSpPr/>
          <p:nvPr/>
        </p:nvSpPr>
        <p:spPr>
          <a:xfrm>
            <a:off x="7282210" y="4370832"/>
            <a:ext cx="808975" cy="274320"/>
          </a:xfrm>
          <a:prstGeom prst="rect">
            <a:avLst/>
          </a:prstGeom>
          <a:solidFill>
            <a:srgbClr val="1A6B8A"/>
          </a:solidFill>
          <a:ln/>
          <a:effectLst>
            <a:outerShdw blurRad="635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9" name="Text 177"/>
          <p:cNvSpPr/>
          <p:nvPr/>
        </p:nvSpPr>
        <p:spPr>
          <a:xfrm>
            <a:off x="7743713" y="4370832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2w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 rot="2700000">
            <a:off x="8018033" y="4434840"/>
            <a:ext cx="118872" cy="118872"/>
          </a:xfrm>
          <a:prstGeom prst="rect">
            <a:avLst/>
          </a:prstGeom>
          <a:solidFill>
            <a:srgbClr val="1A6B8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1" name="Shape 179"/>
          <p:cNvSpPr/>
          <p:nvPr/>
        </p:nvSpPr>
        <p:spPr>
          <a:xfrm>
            <a:off x="4162134" y="2103120"/>
            <a:ext cx="27432" cy="77724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2" name="Shape 180"/>
          <p:cNvSpPr/>
          <p:nvPr/>
        </p:nvSpPr>
        <p:spPr>
          <a:xfrm>
            <a:off x="4162134" y="2103120"/>
            <a:ext cx="201168" cy="2743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3" name="Shape 181"/>
          <p:cNvSpPr/>
          <p:nvPr/>
        </p:nvSpPr>
        <p:spPr>
          <a:xfrm>
            <a:off x="4162134" y="2880360"/>
            <a:ext cx="201168" cy="27432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4" name="Shape 182"/>
          <p:cNvSpPr/>
          <p:nvPr/>
        </p:nvSpPr>
        <p:spPr>
          <a:xfrm>
            <a:off x="3313000" y="2360168"/>
            <a:ext cx="822960" cy="201168"/>
          </a:xfrm>
          <a:prstGeom prst="rect">
            <a:avLst/>
          </a:prstGeom>
          <a:solidFill>
            <a:srgbClr val="FFD166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5" name="Text 183"/>
          <p:cNvSpPr/>
          <p:nvPr/>
        </p:nvSpPr>
        <p:spPr>
          <a:xfrm>
            <a:off x="3364275" y="23550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D166"/>
                </a:solidFill>
              </a:rPr>
              <a:t>Parallel</a:t>
            </a:r>
            <a:endParaRPr lang="en-US" sz="650" dirty="0"/>
          </a:p>
          <a:p>
            <a:pPr marL="0" indent="0" algn="ctr">
              <a:buNone/>
            </a:pPr>
            <a:r>
              <a:rPr lang="en-US" sz="650" b="1" dirty="0">
                <a:solidFill>
                  <a:srgbClr val="FFD166"/>
                </a:solidFill>
              </a:rPr>
              <a:t>execution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0" y="4791456"/>
            <a:ext cx="9144000" cy="274320"/>
          </a:xfrm>
          <a:prstGeom prst="rect">
            <a:avLst/>
          </a:prstGeom>
          <a:solidFill>
            <a:srgbClr val="1A2E4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7" name="Shape 185"/>
          <p:cNvSpPr/>
          <p:nvPr/>
        </p:nvSpPr>
        <p:spPr>
          <a:xfrm>
            <a:off x="0" y="4791456"/>
            <a:ext cx="9144000" cy="27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8" name="Text 186"/>
          <p:cNvSpPr/>
          <p:nvPr/>
        </p:nvSpPr>
        <p:spPr>
          <a:xfrm>
            <a:off x="182880" y="4818888"/>
            <a:ext cx="8778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0E0EF"/>
                </a:solidFill>
              </a:rPr>
              <a:t>Start: 15 Jun 2026  ·  3 Resources (Tech Lead, Backend Dev, Data Eng)  ·  Completion: 28 Sept 2026  ·  ⚡ Phases 3 &amp; 4 parallel — saves ~3 weeks</a:t>
            </a:r>
            <a:endParaRPr lang="en-US" sz="850" dirty="0"/>
          </a:p>
        </p:txBody>
      </p:sp>
      <p:sp>
        <p:nvSpPr>
          <p:cNvPr id="190" name="Text 160">
            <a:extLst>
              <a:ext uri="{FF2B5EF4-FFF2-40B4-BE49-F238E27FC236}">
                <a16:creationId xmlns:a16="http://schemas.microsoft.com/office/drawing/2014/main" id="{265D1CD6-35E7-A9CE-4090-6B7EB46ED159}"/>
              </a:ext>
            </a:extLst>
          </p:cNvPr>
          <p:cNvSpPr/>
          <p:nvPr/>
        </p:nvSpPr>
        <p:spPr>
          <a:xfrm>
            <a:off x="5854311" y="3026664"/>
            <a:ext cx="3291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r>
              <a:rPr lang="en-US" sz="800" b="1">
                <a:solidFill>
                  <a:srgbClr val="FFFFFF"/>
                </a:solidFill>
              </a:rPr>
              <a:t>w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713232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4320" y="0"/>
            <a:ext cx="6858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Resource Allocation &amp; Phase Schedule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223760" y="91440"/>
            <a:ext cx="1737360" cy="5303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223760" y="914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Done by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</a:rPr>
              <a:t>28 Sept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841248"/>
            <a:ext cx="8631936" cy="347472"/>
          </a:xfrm>
          <a:prstGeom prst="rect">
            <a:avLst/>
          </a:prstGeom>
          <a:solidFill>
            <a:srgbClr val="001A1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56032" y="841248"/>
            <a:ext cx="73152" cy="34747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84048" y="841248"/>
            <a:ext cx="8366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⚡  Key parallelism: Phases 3 (Data Migration) and 4 (Backend Migration) run simultaneously — Data Eng on Delta Lake while Tech Lead + Backend Dev work on Flask. Saves ~3 weeks vs sequential.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" y="1261872"/>
            <a:ext cx="8631936" cy="329184"/>
          </a:xfrm>
          <a:prstGeom prst="rect">
            <a:avLst/>
          </a:prstGeom>
          <a:solidFill>
            <a:srgbClr val="243B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" y="12618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Phase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84832" y="1261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Start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90672" y="12618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End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96512" y="1261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Duration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9472" y="126187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Tech Lead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035040" y="126187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Backend Dev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50608" y="1261872"/>
            <a:ext cx="1115568" cy="32918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Data Eng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66176" y="1261872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5080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</a:rPr>
              <a:t>Parallel?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56032" y="1627632"/>
            <a:ext cx="8631936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56032" y="1627632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56032" y="1691640"/>
            <a:ext cx="73152" cy="24688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84048" y="1627632"/>
            <a:ext cx="166420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Discovery &amp; Architecture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84832" y="162763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15 Jun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090672" y="162763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26 Jun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133088" y="1700784"/>
            <a:ext cx="713232" cy="237744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33088" y="170078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2w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30952" y="17282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5330952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46520" y="17282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446520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62088" y="1728216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7562088" y="17282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02752" y="170078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—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56032" y="2029968"/>
            <a:ext cx="8631936" cy="37490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256032" y="2029968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256032" y="2093976"/>
            <a:ext cx="73152" cy="246888"/>
          </a:xfrm>
          <a:prstGeom prst="rect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84048" y="2029968"/>
            <a:ext cx="166420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Environment, CI/CD &amp; Infra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084832" y="202996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29 Jun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090672" y="202996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17 Jul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133088" y="2103120"/>
            <a:ext cx="713232" cy="237744"/>
          </a:xfrm>
          <a:prstGeom prst="rect">
            <a:avLst/>
          </a:prstGeom>
          <a:solidFill>
            <a:srgbClr val="0096B7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133088" y="210312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3w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330952" y="2130552"/>
            <a:ext cx="201168" cy="201168"/>
          </a:xfrm>
          <a:prstGeom prst="ellipse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5330952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446520" y="2130552"/>
            <a:ext cx="201168" cy="201168"/>
          </a:xfrm>
          <a:prstGeom prst="ellipse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46520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7562088" y="2130552"/>
            <a:ext cx="201168" cy="201168"/>
          </a:xfrm>
          <a:prstGeom prst="ellipse">
            <a:avLst/>
          </a:prstGeom>
          <a:solidFill>
            <a:srgbClr val="0096B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562088" y="21305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302752" y="210312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—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6032" y="2432304"/>
            <a:ext cx="8631936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256032" y="243230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256032" y="2496312"/>
            <a:ext cx="73152" cy="246888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384048" y="2432304"/>
            <a:ext cx="166420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Data Migration (Snowflake→Delta)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2084832" y="243230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20 Jul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3090672" y="243230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07 Aug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133088" y="2505456"/>
            <a:ext cx="713232" cy="237744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4133088" y="25054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3w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330952" y="2532888"/>
            <a:ext cx="201168" cy="201168"/>
          </a:xfrm>
          <a:prstGeom prst="ellipse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5330952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</a:rPr>
              <a:t>–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6446520" y="2532888"/>
            <a:ext cx="201168" cy="201168"/>
          </a:xfrm>
          <a:prstGeom prst="ellipse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6446520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</a:rPr>
              <a:t>–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7562088" y="2532888"/>
            <a:ext cx="201168" cy="20116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562088" y="253288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302752" y="2505456"/>
            <a:ext cx="713232" cy="237744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8302752" y="250545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166"/>
                </a:solidFill>
              </a:rPr>
              <a:t>⚡ YES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56032" y="2834640"/>
            <a:ext cx="8631936" cy="37490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6" name="Shape 64"/>
          <p:cNvSpPr/>
          <p:nvPr/>
        </p:nvSpPr>
        <p:spPr>
          <a:xfrm>
            <a:off x="256032" y="2834640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256032" y="2898648"/>
            <a:ext cx="73152" cy="24688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384048" y="2834640"/>
            <a:ext cx="166420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Backend Migration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2084832" y="2834640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20 Jul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3090672" y="2834640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14 Aug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133088" y="2907792"/>
            <a:ext cx="713232" cy="237744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4133088" y="290779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4w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330952" y="2935224"/>
            <a:ext cx="201168" cy="20116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5330952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6446520" y="2935224"/>
            <a:ext cx="201168" cy="20116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446520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77" name="Shape 75"/>
          <p:cNvSpPr/>
          <p:nvPr/>
        </p:nvSpPr>
        <p:spPr>
          <a:xfrm>
            <a:off x="7562088" y="2935224"/>
            <a:ext cx="201168" cy="201168"/>
          </a:xfrm>
          <a:prstGeom prst="ellipse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8" name="Text 76"/>
          <p:cNvSpPr/>
          <p:nvPr/>
        </p:nvSpPr>
        <p:spPr>
          <a:xfrm>
            <a:off x="7562088" y="2935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FA3B1"/>
                </a:solidFill>
              </a:rPr>
              <a:t>–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8302752" y="2907792"/>
            <a:ext cx="713232" cy="237744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0" name="Text 78"/>
          <p:cNvSpPr/>
          <p:nvPr/>
        </p:nvSpPr>
        <p:spPr>
          <a:xfrm>
            <a:off x="8302752" y="290779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D166"/>
                </a:solidFill>
              </a:rPr>
              <a:t>⚡ YES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256032" y="3236976"/>
            <a:ext cx="8631936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2" name="Shape 80"/>
          <p:cNvSpPr/>
          <p:nvPr/>
        </p:nvSpPr>
        <p:spPr>
          <a:xfrm>
            <a:off x="256032" y="3236976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3" name="Shape 81"/>
          <p:cNvSpPr/>
          <p:nvPr/>
        </p:nvSpPr>
        <p:spPr>
          <a:xfrm>
            <a:off x="256032" y="3300984"/>
            <a:ext cx="73152" cy="246888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384048" y="3236976"/>
            <a:ext cx="166420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Frontend &amp; Integration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2084832" y="323697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17 Aug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3090672" y="3236976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21 Aug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4133088" y="3310128"/>
            <a:ext cx="713232" cy="237744"/>
          </a:xfrm>
          <a:prstGeom prst="rect">
            <a:avLst/>
          </a:prstGeom>
          <a:solidFill>
            <a:srgbClr val="9B5DE5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4133088" y="331012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1w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5330952" y="3337560"/>
            <a:ext cx="201168" cy="20116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0" name="Text 88"/>
          <p:cNvSpPr/>
          <p:nvPr/>
        </p:nvSpPr>
        <p:spPr>
          <a:xfrm>
            <a:off x="5330952" y="3337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6446520" y="3337560"/>
            <a:ext cx="201168" cy="20116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2" name="Text 90"/>
          <p:cNvSpPr/>
          <p:nvPr/>
        </p:nvSpPr>
        <p:spPr>
          <a:xfrm>
            <a:off x="6446520" y="3337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7562088" y="3337560"/>
            <a:ext cx="201168" cy="201168"/>
          </a:xfrm>
          <a:prstGeom prst="ellipse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4" name="Text 92"/>
          <p:cNvSpPr/>
          <p:nvPr/>
        </p:nvSpPr>
        <p:spPr>
          <a:xfrm>
            <a:off x="7562088" y="3337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8302752" y="3310128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—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256032" y="3639312"/>
            <a:ext cx="8631936" cy="37490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7" name="Shape 95"/>
          <p:cNvSpPr/>
          <p:nvPr/>
        </p:nvSpPr>
        <p:spPr>
          <a:xfrm>
            <a:off x="256032" y="3639312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8" name="Shape 96"/>
          <p:cNvSpPr/>
          <p:nvPr/>
        </p:nvSpPr>
        <p:spPr>
          <a:xfrm>
            <a:off x="256032" y="3703320"/>
            <a:ext cx="73152" cy="2468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384048" y="3639312"/>
            <a:ext cx="166420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QA, UAT &amp; Perf Testing</a:t>
            </a:r>
            <a:endParaRPr lang="en-US" sz="950" dirty="0"/>
          </a:p>
        </p:txBody>
      </p:sp>
      <p:sp>
        <p:nvSpPr>
          <p:cNvPr id="100" name="Text 98"/>
          <p:cNvSpPr/>
          <p:nvPr/>
        </p:nvSpPr>
        <p:spPr>
          <a:xfrm>
            <a:off x="2084832" y="363931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24 Aug</a:t>
            </a:r>
            <a:endParaRPr lang="en-US" sz="950" dirty="0"/>
          </a:p>
        </p:txBody>
      </p:sp>
      <p:sp>
        <p:nvSpPr>
          <p:cNvPr id="101" name="Text 99"/>
          <p:cNvSpPr/>
          <p:nvPr/>
        </p:nvSpPr>
        <p:spPr>
          <a:xfrm>
            <a:off x="3090672" y="3639312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04 Sept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4133088" y="3712464"/>
            <a:ext cx="713232" cy="237744"/>
          </a:xfrm>
          <a:prstGeom prst="rect">
            <a:avLst/>
          </a:prstGeom>
          <a:solidFill>
            <a:srgbClr val="FF6B35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4133088" y="3712464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2w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330952" y="373989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5" name="Text 103"/>
          <p:cNvSpPr/>
          <p:nvPr/>
        </p:nvSpPr>
        <p:spPr>
          <a:xfrm>
            <a:off x="5330952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6446520" y="373989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7" name="Text 105"/>
          <p:cNvSpPr/>
          <p:nvPr/>
        </p:nvSpPr>
        <p:spPr>
          <a:xfrm>
            <a:off x="6446520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08" name="Shape 106"/>
          <p:cNvSpPr/>
          <p:nvPr/>
        </p:nvSpPr>
        <p:spPr>
          <a:xfrm>
            <a:off x="7562088" y="3739896"/>
            <a:ext cx="201168" cy="201168"/>
          </a:xfrm>
          <a:prstGeom prst="ellipse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9" name="Text 107"/>
          <p:cNvSpPr/>
          <p:nvPr/>
        </p:nvSpPr>
        <p:spPr>
          <a:xfrm>
            <a:off x="7562088" y="37398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8302752" y="3712464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—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256032" y="4041648"/>
            <a:ext cx="8631936" cy="37490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2" name="Shape 110"/>
          <p:cNvSpPr/>
          <p:nvPr/>
        </p:nvSpPr>
        <p:spPr>
          <a:xfrm>
            <a:off x="256032" y="4041648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3" name="Shape 111"/>
          <p:cNvSpPr/>
          <p:nvPr/>
        </p:nvSpPr>
        <p:spPr>
          <a:xfrm>
            <a:off x="256032" y="4105656"/>
            <a:ext cx="73152" cy="246888"/>
          </a:xfrm>
          <a:prstGeom prst="rect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4" name="Text 112"/>
          <p:cNvSpPr/>
          <p:nvPr/>
        </p:nvSpPr>
        <p:spPr>
          <a:xfrm>
            <a:off x="384048" y="4041648"/>
            <a:ext cx="166420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Prod Prep &amp; Go-Live</a:t>
            </a:r>
            <a:endParaRPr lang="en-US" sz="950" dirty="0"/>
          </a:p>
        </p:txBody>
      </p:sp>
      <p:sp>
        <p:nvSpPr>
          <p:cNvPr id="115" name="Text 113"/>
          <p:cNvSpPr/>
          <p:nvPr/>
        </p:nvSpPr>
        <p:spPr>
          <a:xfrm>
            <a:off x="2084832" y="404164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07 Sept</a:t>
            </a:r>
            <a:endParaRPr lang="en-US" sz="950" dirty="0"/>
          </a:p>
        </p:txBody>
      </p:sp>
      <p:sp>
        <p:nvSpPr>
          <p:cNvPr id="116" name="Text 114"/>
          <p:cNvSpPr/>
          <p:nvPr/>
        </p:nvSpPr>
        <p:spPr>
          <a:xfrm>
            <a:off x="3090672" y="4041648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11 Sept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4133088" y="4114800"/>
            <a:ext cx="713232" cy="237744"/>
          </a:xfrm>
          <a:prstGeom prst="rect">
            <a:avLst/>
          </a:prstGeom>
          <a:solidFill>
            <a:srgbClr val="EF476F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8" name="Text 116"/>
          <p:cNvSpPr/>
          <p:nvPr/>
        </p:nvSpPr>
        <p:spPr>
          <a:xfrm>
            <a:off x="4133088" y="4114800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1w</a:t>
            </a:r>
            <a:endParaRPr lang="en-US" sz="900" dirty="0"/>
          </a:p>
        </p:txBody>
      </p:sp>
      <p:sp>
        <p:nvSpPr>
          <p:cNvPr id="119" name="Shape 117"/>
          <p:cNvSpPr/>
          <p:nvPr/>
        </p:nvSpPr>
        <p:spPr>
          <a:xfrm>
            <a:off x="5330952" y="4142232"/>
            <a:ext cx="201168" cy="20116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0" name="Text 118"/>
          <p:cNvSpPr/>
          <p:nvPr/>
        </p:nvSpPr>
        <p:spPr>
          <a:xfrm>
            <a:off x="5330952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1" name="Shape 119"/>
          <p:cNvSpPr/>
          <p:nvPr/>
        </p:nvSpPr>
        <p:spPr>
          <a:xfrm>
            <a:off x="6446520" y="4142232"/>
            <a:ext cx="201168" cy="20116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2" name="Text 120"/>
          <p:cNvSpPr/>
          <p:nvPr/>
        </p:nvSpPr>
        <p:spPr>
          <a:xfrm>
            <a:off x="6446520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7562088" y="4142232"/>
            <a:ext cx="201168" cy="201168"/>
          </a:xfrm>
          <a:prstGeom prst="ellipse">
            <a:avLst/>
          </a:prstGeom>
          <a:solidFill>
            <a:srgbClr val="EF476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4" name="Text 122"/>
          <p:cNvSpPr/>
          <p:nvPr/>
        </p:nvSpPr>
        <p:spPr>
          <a:xfrm>
            <a:off x="7562088" y="41422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25" name="Text 123"/>
          <p:cNvSpPr/>
          <p:nvPr/>
        </p:nvSpPr>
        <p:spPr>
          <a:xfrm>
            <a:off x="8302752" y="4114800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—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256032" y="4443984"/>
            <a:ext cx="8631936" cy="374904"/>
          </a:xfrm>
          <a:prstGeom prst="rect">
            <a:avLst/>
          </a:prstGeom>
          <a:solidFill>
            <a:srgbClr val="EEF5F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7" name="Shape 125"/>
          <p:cNvSpPr/>
          <p:nvPr/>
        </p:nvSpPr>
        <p:spPr>
          <a:xfrm>
            <a:off x="256032" y="4443984"/>
            <a:ext cx="8631936" cy="9144"/>
          </a:xfrm>
          <a:prstGeom prst="rect">
            <a:avLst/>
          </a:prstGeom>
          <a:solidFill>
            <a:srgbClr val="D0DDE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8" name="Shape 126"/>
          <p:cNvSpPr/>
          <p:nvPr/>
        </p:nvSpPr>
        <p:spPr>
          <a:xfrm>
            <a:off x="256032" y="4507992"/>
            <a:ext cx="73152" cy="246888"/>
          </a:xfrm>
          <a:prstGeom prst="rect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9" name="Text 127"/>
          <p:cNvSpPr/>
          <p:nvPr/>
        </p:nvSpPr>
        <p:spPr>
          <a:xfrm>
            <a:off x="384048" y="4443984"/>
            <a:ext cx="1664208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</a:rPr>
              <a:t>Parallel Run &amp; Hypercare</a:t>
            </a:r>
            <a:endParaRPr lang="en-US" sz="950" dirty="0"/>
          </a:p>
        </p:txBody>
      </p:sp>
      <p:sp>
        <p:nvSpPr>
          <p:cNvPr id="130" name="Text 128"/>
          <p:cNvSpPr/>
          <p:nvPr/>
        </p:nvSpPr>
        <p:spPr>
          <a:xfrm>
            <a:off x="2084832" y="444398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14 Sept</a:t>
            </a:r>
            <a:endParaRPr lang="en-US" sz="950" dirty="0"/>
          </a:p>
        </p:txBody>
      </p:sp>
      <p:sp>
        <p:nvSpPr>
          <p:cNvPr id="131" name="Text 129"/>
          <p:cNvSpPr/>
          <p:nvPr/>
        </p:nvSpPr>
        <p:spPr>
          <a:xfrm>
            <a:off x="3090672" y="4443984"/>
            <a:ext cx="100584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4444"/>
                </a:solidFill>
              </a:rPr>
              <a:t>25 Sept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4133088" y="4517136"/>
            <a:ext cx="713232" cy="237744"/>
          </a:xfrm>
          <a:prstGeom prst="rect">
            <a:avLst/>
          </a:prstGeom>
          <a:solidFill>
            <a:srgbClr val="1A6B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3" name="Text 131"/>
          <p:cNvSpPr/>
          <p:nvPr/>
        </p:nvSpPr>
        <p:spPr>
          <a:xfrm>
            <a:off x="4133088" y="4517136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2w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5330952" y="4544568"/>
            <a:ext cx="201168" cy="201168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5" name="Text 133"/>
          <p:cNvSpPr/>
          <p:nvPr/>
        </p:nvSpPr>
        <p:spPr>
          <a:xfrm>
            <a:off x="5330952" y="4544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36" name="Shape 134"/>
          <p:cNvSpPr/>
          <p:nvPr/>
        </p:nvSpPr>
        <p:spPr>
          <a:xfrm>
            <a:off x="6446520" y="4544568"/>
            <a:ext cx="201168" cy="201168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7" name="Text 135"/>
          <p:cNvSpPr/>
          <p:nvPr/>
        </p:nvSpPr>
        <p:spPr>
          <a:xfrm>
            <a:off x="6446520" y="4544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38" name="Shape 136"/>
          <p:cNvSpPr/>
          <p:nvPr/>
        </p:nvSpPr>
        <p:spPr>
          <a:xfrm>
            <a:off x="7562088" y="4544568"/>
            <a:ext cx="201168" cy="201168"/>
          </a:xfrm>
          <a:prstGeom prst="ellipse">
            <a:avLst/>
          </a:prstGeom>
          <a:solidFill>
            <a:srgbClr val="1A6B8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9" name="Text 137"/>
          <p:cNvSpPr/>
          <p:nvPr/>
        </p:nvSpPr>
        <p:spPr>
          <a:xfrm>
            <a:off x="7562088" y="4544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✓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8302752" y="4517136"/>
            <a:ext cx="713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FA3B1"/>
                </a:solidFill>
              </a:rPr>
              <a:t>—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256032" y="4736592"/>
            <a:ext cx="1664208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2" name="Shape 140"/>
          <p:cNvSpPr/>
          <p:nvPr/>
        </p:nvSpPr>
        <p:spPr>
          <a:xfrm>
            <a:off x="256032" y="4736592"/>
            <a:ext cx="1664208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3" name="Text 141"/>
          <p:cNvSpPr/>
          <p:nvPr/>
        </p:nvSpPr>
        <p:spPr>
          <a:xfrm>
            <a:off x="329184" y="4773168"/>
            <a:ext cx="15179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</a:rPr>
              <a:t>Project Start</a:t>
            </a:r>
            <a:endParaRPr lang="en-US" sz="750" dirty="0"/>
          </a:p>
        </p:txBody>
      </p:sp>
      <p:sp>
        <p:nvSpPr>
          <p:cNvPr id="144" name="Text 142"/>
          <p:cNvSpPr/>
          <p:nvPr/>
        </p:nvSpPr>
        <p:spPr>
          <a:xfrm>
            <a:off x="329184" y="4901184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15 Jun 2026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2011680" y="4736592"/>
            <a:ext cx="1664208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6" name="Shape 144"/>
          <p:cNvSpPr/>
          <p:nvPr/>
        </p:nvSpPr>
        <p:spPr>
          <a:xfrm>
            <a:off x="2011680" y="4736592"/>
            <a:ext cx="1664208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7" name="Text 145"/>
          <p:cNvSpPr/>
          <p:nvPr/>
        </p:nvSpPr>
        <p:spPr>
          <a:xfrm>
            <a:off x="2084832" y="4773168"/>
            <a:ext cx="15179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</a:rPr>
              <a:t>Project End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2084832" y="4901184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</a:rPr>
              <a:t>28 Sept 2026</a:t>
            </a:r>
            <a:endParaRPr lang="en-US" sz="1000" dirty="0"/>
          </a:p>
        </p:txBody>
      </p:sp>
      <p:sp>
        <p:nvSpPr>
          <p:cNvPr id="149" name="Shape 147"/>
          <p:cNvSpPr/>
          <p:nvPr/>
        </p:nvSpPr>
        <p:spPr>
          <a:xfrm>
            <a:off x="3767328" y="4736592"/>
            <a:ext cx="1664208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0" name="Shape 148"/>
          <p:cNvSpPr/>
          <p:nvPr/>
        </p:nvSpPr>
        <p:spPr>
          <a:xfrm>
            <a:off x="3767328" y="4736592"/>
            <a:ext cx="1664208" cy="5486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1" name="Text 149"/>
          <p:cNvSpPr/>
          <p:nvPr/>
        </p:nvSpPr>
        <p:spPr>
          <a:xfrm>
            <a:off x="3840480" y="4773168"/>
            <a:ext cx="15179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</a:rPr>
              <a:t>Total Duration</a:t>
            </a:r>
            <a:endParaRPr lang="en-US" sz="750" dirty="0"/>
          </a:p>
        </p:txBody>
      </p:sp>
      <p:sp>
        <p:nvSpPr>
          <p:cNvPr id="152" name="Text 150"/>
          <p:cNvSpPr/>
          <p:nvPr/>
        </p:nvSpPr>
        <p:spPr>
          <a:xfrm>
            <a:off x="3840480" y="4901184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D166"/>
                </a:solidFill>
              </a:rPr>
              <a:t>~17 weeks</a:t>
            </a:r>
            <a:endParaRPr lang="en-US" sz="1000" dirty="0"/>
          </a:p>
        </p:txBody>
      </p:sp>
      <p:sp>
        <p:nvSpPr>
          <p:cNvPr id="153" name="Shape 151"/>
          <p:cNvSpPr/>
          <p:nvPr/>
        </p:nvSpPr>
        <p:spPr>
          <a:xfrm>
            <a:off x="5522976" y="4736592"/>
            <a:ext cx="1664208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4" name="Shape 152"/>
          <p:cNvSpPr/>
          <p:nvPr/>
        </p:nvSpPr>
        <p:spPr>
          <a:xfrm>
            <a:off x="5522976" y="4736592"/>
            <a:ext cx="1664208" cy="54864"/>
          </a:xfrm>
          <a:prstGeom prst="rect">
            <a:avLst/>
          </a:prstGeom>
          <a:solidFill>
            <a:srgbClr val="9B5DE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5" name="Text 153"/>
          <p:cNvSpPr/>
          <p:nvPr/>
        </p:nvSpPr>
        <p:spPr>
          <a:xfrm>
            <a:off x="5596128" y="4773168"/>
            <a:ext cx="15179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</a:rPr>
              <a:t>Team Size</a:t>
            </a:r>
            <a:endParaRPr lang="en-US" sz="750" dirty="0"/>
          </a:p>
        </p:txBody>
      </p:sp>
      <p:sp>
        <p:nvSpPr>
          <p:cNvPr id="156" name="Text 154"/>
          <p:cNvSpPr/>
          <p:nvPr/>
        </p:nvSpPr>
        <p:spPr>
          <a:xfrm>
            <a:off x="5596128" y="4901184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B5DE5"/>
                </a:solidFill>
              </a:rPr>
              <a:t>3 resources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7278624" y="4736592"/>
            <a:ext cx="1664208" cy="347472"/>
          </a:xfrm>
          <a:prstGeom prst="rect">
            <a:avLst/>
          </a:prstGeom>
          <a:solidFill>
            <a:srgbClr val="0D1B2A"/>
          </a:solidFill>
          <a:ln/>
          <a:effectLst>
            <a:outerShdw blurRad="76200" dist="254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8" name="Shape 156"/>
          <p:cNvSpPr/>
          <p:nvPr/>
        </p:nvSpPr>
        <p:spPr>
          <a:xfrm>
            <a:off x="7278624" y="4736592"/>
            <a:ext cx="1664208" cy="54864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9" name="Text 157"/>
          <p:cNvSpPr/>
          <p:nvPr/>
        </p:nvSpPr>
        <p:spPr>
          <a:xfrm>
            <a:off x="7351776" y="4773168"/>
            <a:ext cx="1517904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FA3B1"/>
                </a:solidFill>
              </a:rPr>
              <a:t>Parallel Saving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7351776" y="4901184"/>
            <a:ext cx="1517904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</a:rPr>
              <a:t>~3 weeks saved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3526</Words>
  <Application>Microsoft Office PowerPoint</Application>
  <PresentationFormat>On-screen Show (16:9)</PresentationFormat>
  <Paragraphs>783</Paragraphs>
  <Slides>25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Platform Migration – Dataiku to Databricks</dc:title>
  <dc:subject>PptxGenJS Presentation</dc:subject>
  <dc:creator>PptxGenJS</dc:creator>
  <cp:lastModifiedBy>Pramod Naik</cp:lastModifiedBy>
  <cp:revision>2</cp:revision>
  <dcterms:created xsi:type="dcterms:W3CDTF">2026-06-02T20:27:30Z</dcterms:created>
  <dcterms:modified xsi:type="dcterms:W3CDTF">2026-06-10T07:12:33Z</dcterms:modified>
</cp:coreProperties>
</file>