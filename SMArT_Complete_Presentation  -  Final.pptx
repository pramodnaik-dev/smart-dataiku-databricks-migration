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4" r:id="rId10"/>
    <p:sldId id="265" r:id="rId11"/>
    <p:sldId id="266" r:id="rId12"/>
    <p:sldId id="267" r:id="rId13"/>
    <p:sldId id="262" r:id="rId14"/>
    <p:sldId id="263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Dataiku DSS (Current)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Licensing</c:v>
                </c:pt>
                <c:pt idx="1">
                  <c:v>Compute</c:v>
                </c:pt>
                <c:pt idx="2">
                  <c:v>Storage</c:v>
                </c:pt>
                <c:pt idx="3">
                  <c:v>Support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30900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EF-4128-AE9A-D00A91DB50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Databricks (Proposed)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Licensing</c:v>
                </c:pt>
                <c:pt idx="1">
                  <c:v>Compute</c:v>
                </c:pt>
                <c:pt idx="2">
                  <c:v>Storage</c:v>
                </c:pt>
                <c:pt idx="3">
                  <c:v>Support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4009</c:v>
                </c:pt>
                <c:pt idx="2">
                  <c:v>28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EF-4128-AE9A-D00A91DB50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4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3B5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349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92240" y="457200"/>
            <a:ext cx="2377440" cy="237744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040880" y="1005840"/>
            <a:ext cx="1280160" cy="1280160"/>
          </a:xfrm>
          <a:prstGeom prst="ellipse">
            <a:avLst/>
          </a:prstGeom>
          <a:solidFill>
            <a:srgbClr val="00B4D8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731520"/>
            <a:ext cx="2560320" cy="31089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731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PLATFORM MIGRATION PROPOSAL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Dataiku DSS + Snowflake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Databricks Apps + Delta Lake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1"/>
                </a:solidFill>
              </a:rPr>
              <a:t>May 2026  ·  v1.0  ·  Draft for Review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Business Owners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19072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719072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Dev Team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72384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072384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Management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25696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425696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Digital/Platform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28016" y="4846320"/>
            <a:ext cx="9015984" cy="29718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686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</a:rPr>
              <a:t>ATP GPD Expl Workspace  ·  Unity Catalog: gpdip_smart_us_east_1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Case for Change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24912" cy="731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Cost Reduction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DDE6"/>
                </a:solidFill>
              </a:rPr>
              <a:t>$30,900 → ~$4,200/yr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64408" y="960120"/>
            <a:ext cx="2724912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64408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$26.7K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64408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Annual Savings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DDE6"/>
                </a:solidFill>
              </a:rPr>
              <a:t>Break-even within year 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08776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08776" y="960120"/>
            <a:ext cx="2724912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08776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wks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208776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Migration Timeline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08776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DDE6"/>
                </a:solidFill>
              </a:rPr>
              <a:t>Existing team, phased delivery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WHY MIGRATE NOW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090672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3090672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4632" y="31455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High Fixed Cost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34107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3 DSS Designer licenses @ $10,300 each — fixed regardless of usage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96849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3968496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4632" y="40233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Platform Dependency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" y="4288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Every deployment needs Platform Support team scheduling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090672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00600" y="3090672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65192" y="31455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Limited AI Ecosystem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65192" y="34107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No native LLMs, MLflow, model serving, or vector search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396849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800600" y="3968496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65192" y="40233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Strategic Misalignment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65192" y="4288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DSS + Snowflake outside GPDIP platform direction — growing technical debt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Current  →  Target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3931920" cy="365760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932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 (Dataiku DSS + Snowflake)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138988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92608" y="1444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16459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Dataiku DSS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956816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28600" y="1956816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92608" y="2011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Framework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22128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Python Flask / FastAPI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523744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28600" y="2523744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92608" y="25786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Database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" y="27797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Snowflake  (14 tables, &lt;100 GB)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3090672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28600" y="3090672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92608" y="31455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Deployment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" y="33467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Manual DSS Bundle — Platform Team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3657600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28600" y="3657600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92608" y="37124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Environments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2608" y="39136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3 physically isolated DSS instances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4224528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28600" y="422452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92608" y="42793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AI / ML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2608" y="44805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Not available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97680" y="2286000"/>
            <a:ext cx="54864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251960" y="2103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4983480" y="932688"/>
            <a:ext cx="39319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83480" y="932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TARGET  (Databricks Apps + Delta Lake)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83480" y="1389888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983480" y="138988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047488" y="1444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47488" y="16459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Databricks Apps  (ATP GPD Expl)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83480" y="1956816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983480" y="1956816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47488" y="2011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Framework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47488" y="22128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Python Flask / FastAPI  (unchanged)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83480" y="2523744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983480" y="2523744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47488" y="25786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Database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47488" y="27797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Delta Lake  (Unity Catalog, dedicated)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983480" y="3090672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983480" y="3090672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047488" y="31455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Deployment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47488" y="33467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CI/CD  (GitHub Actions + DAB, automated)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983480" y="3657600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983480" y="3657600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047488" y="37124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Environments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47488" y="39136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3 schemas in one catalog  (RBAC isolated)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983480" y="4224528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983480" y="422452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047488" y="42793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AI / ML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47488" y="44805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MLflow · Model Serving · Genie AI  ✓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Cost Analysis &amp; ROI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68680"/>
          <a:ext cx="5303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960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</a:rPr>
              <a:t>DATABRICKS BREAKDOWN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60720" y="12984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852160" y="1353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6"/>
                </a:solidFill>
              </a:rPr>
              <a:t>Prod App compute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63840" y="13533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~$2,964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17556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852160" y="18105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6"/>
                </a:solidFill>
              </a:rPr>
              <a:t>Dev App compute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863840" y="1810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~$494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2128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852160" y="2267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6"/>
                </a:solidFill>
              </a:rPr>
              <a:t>Stage App compute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863840" y="22677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~$76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26700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852160" y="27249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6"/>
                </a:solidFill>
              </a:rPr>
              <a:t>Dev notebooks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63840" y="2724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~$475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60720" y="31272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852160" y="31821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6"/>
                </a:solidFill>
              </a:rPr>
              <a:t>Delta Lake storage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863840" y="31821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~$28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760720" y="35844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85216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6"/>
                </a:solidFill>
              </a:rPr>
              <a:t>SQL Warehouse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863840" y="36393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~$200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760720" y="4069080"/>
            <a:ext cx="3108960" cy="502920"/>
          </a:xfrm>
          <a:prstGeom prst="rect">
            <a:avLst/>
          </a:prstGeom>
          <a:solidFill>
            <a:srgbClr val="06D6A0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760720" y="4069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TOTAL  ~$4,237 / year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274320" y="4498848"/>
            <a:ext cx="8595360" cy="512064"/>
          </a:xfrm>
          <a:prstGeom prst="rect">
            <a:avLst/>
          </a:prstGeom>
          <a:solidFill>
            <a:srgbClr val="243B55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365760" y="449884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💰  Annual Savings: ~$26,700  (86% reduction)  ·  All 3 environments included  ·  Break-even within Year 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Deployment Model &amp; ADLC Compliance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CI/CD DEPLOYMENT WORKFLOW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91440" cy="822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499616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49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624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develop branch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645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smart-app-dev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618488"/>
            <a:ext cx="1737360" cy="27432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0" y="1618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Dev self-testing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121408"/>
            <a:ext cx="54864" cy="201168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322576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322576"/>
            <a:ext cx="91440" cy="8229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2920" y="2523744"/>
            <a:ext cx="420624" cy="420624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3865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stage branch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700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smart-app-stage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642616"/>
            <a:ext cx="1737360" cy="274320"/>
          </a:xfrm>
          <a:prstGeom prst="rect">
            <a:avLst/>
          </a:prstGeom>
          <a:solidFill>
            <a:srgbClr val="FFD16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0" y="26426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QA / UAT (qTest)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145536"/>
            <a:ext cx="54864" cy="201168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4320" y="3346704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346704"/>
            <a:ext cx="91440" cy="8229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02920" y="3547872"/>
            <a:ext cx="420624" cy="420624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4107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main branch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69417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smart-app-prod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666744"/>
            <a:ext cx="1737360" cy="274320"/>
          </a:xfrm>
          <a:prstGeom prst="rect">
            <a:avLst/>
          </a:prstGeom>
          <a:solidFill>
            <a:srgbClr val="06D6A0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00400" y="36667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RFC gate required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0" y="932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ADLC COMPLIANCE SATISFIED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03520" y="1298448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303520" y="1298448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376672" y="1453896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376672" y="14538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50992" y="133502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QA vs Prod separation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50992" y="157276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Schema isolation + UC RBAC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03520" y="1883664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303520" y="1883664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376672" y="2039112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376672" y="2039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50992" y="192024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Validation before prod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50992" y="215798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ServiceNow RFC gates CI/CD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03520" y="2468880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5303520" y="2468880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376672" y="2624328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376672" y="2624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50992" y="250545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Test evidence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50992" y="274320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qTest (unchanged)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03520" y="3054096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303520" y="3054096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5376672" y="3209544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376672" y="32095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50992" y="309067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Change tracking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650992" y="332841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Jira + RFC + Git history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303520" y="3639312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5303520" y="3639312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5376672" y="3794760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376672" y="3794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650992" y="367588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Prod access control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650992" y="391363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CI/CD service principal only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303520" y="4224528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5303520" y="4224528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5376672" y="4379976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5376672" y="4379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650992" y="426110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Audit trail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650992" y="449884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UC audit log + CI/CD runs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303520" y="4809744"/>
            <a:ext cx="3566160" cy="21945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5303520" y="48097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ServiceNow RFC process fully preserved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 Integration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27432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261872" y="109728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618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74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Post Migration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93192" y="254203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37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Flask/FastAPI unchanged on Databricks Apps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31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93192" y="309067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937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replaces Snowflake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31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93192" y="363931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37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 experience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31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93192" y="418795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all future AI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278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227832" y="960120"/>
            <a:ext cx="2743200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233672" y="1097280"/>
            <a:ext cx="731520" cy="73152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2336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3192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What-If Analysis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649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364992" y="254203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655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MLflow: scenario comparison &amp; tracking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649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364992" y="309067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655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Workflows: parallel runs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649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364992" y="363931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4655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AI: instant enrollment predictions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649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364992" y="418795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4655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Feature Store: shared features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996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199632" y="960120"/>
            <a:ext cx="2743200" cy="73152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205472" y="1097280"/>
            <a:ext cx="731520" cy="731520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2054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3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2910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— Future Enhancements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367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336792" y="254203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373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AI: natural language data queries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367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336792" y="309067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4373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site activation ML model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367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336792" y="363931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373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scenario generation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367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336792" y="418795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4373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on simulation inputs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solidFill>
            <a:srgbClr val="1A2E4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E0EF"/>
                </a:solidFill>
              </a:rPr>
              <a:t>All AI capabilities available at no additional infrastructure cost on Databricks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" y="91440"/>
            <a:ext cx="566928" cy="566928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01168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Genie AI  —  Natural Language Querying for SMArT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3840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E0EF"/>
                </a:solidFill>
              </a:rPr>
              <a:t>Users ask plain-English questions against SMArT's Delta Lake tables — no SQL, no dashboards. Three implementation paths, increasing in capability.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2816352" cy="3611880"/>
          </a:xfrm>
          <a:prstGeom prst="rect">
            <a:avLst/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1389888"/>
            <a:ext cx="2816352" cy="64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402336" cy="40233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1536192"/>
            <a:ext cx="2139696" cy="320040"/>
          </a:xfrm>
          <a:prstGeom prst="rect">
            <a:avLst/>
          </a:prstGeom>
          <a:solidFill>
            <a:srgbClr val="06D6A0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12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</a:rPr>
              <a:t>✅  READY NOW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</a:rPr>
              <a:t>Genie Space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Standalone — zero code changes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Genie Space in Databricks pointing to smart_poc.smart.* Delta tables. Users ask questions directly in the Databricks workspace UI.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236976"/>
            <a:ext cx="2633472" cy="182880"/>
          </a:xfrm>
          <a:prstGeom prst="rect">
            <a:avLst/>
          </a:prstGeom>
          <a:solidFill>
            <a:srgbClr val="06D6A0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74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6D6A0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74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"Which country has the highest P90 days?"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840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"Show activation timelines for Argentina"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840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"Avg site activation rate across countries?"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840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Separate UI — users leave the SMArT app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27832" y="1389888"/>
            <a:ext cx="2816352" cy="3611880"/>
          </a:xfrm>
          <a:prstGeom prst="rect">
            <a:avLst/>
          </a:prstGeom>
          <a:solidFill>
            <a:srgbClr val="1A1500"/>
          </a:solidFill>
          <a:ln w="12700">
            <a:solidFill>
              <a:srgbClr val="FFD166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27832" y="1389888"/>
            <a:ext cx="2816352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337560" y="1508760"/>
            <a:ext cx="402336" cy="40233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3375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13048" y="1536192"/>
            <a:ext cx="2139696" cy="320040"/>
          </a:xfrm>
          <a:prstGeom prst="rect">
            <a:avLst/>
          </a:prstGeom>
          <a:solidFill>
            <a:srgbClr val="FFD166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8130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</a:rPr>
              <a:t>⚠  REQUIRES WORK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192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Embed Genie in App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3192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Chat widget inside SMArT webapp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192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chat widget in the React frontend. Flask backend proxies calls to the Genie Conversation API. Results rendered inline in the app.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19272" y="3236976"/>
            <a:ext cx="2633472" cy="182880"/>
          </a:xfrm>
          <a:prstGeom prst="rect">
            <a:avLst/>
          </a:prstGeom>
          <a:solidFill>
            <a:srgbClr val="FFD16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3192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D166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192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3558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Genie Conversation API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192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3558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Flask → Genie API proxy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192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3558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SQL results inline in app UI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192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3558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Cannot answer questions about live in-memory API results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99632" y="1389888"/>
            <a:ext cx="2816352" cy="3611880"/>
          </a:xfrm>
          <a:prstGeom prst="rect">
            <a:avLst/>
          </a:prstGeom>
          <a:solidFill>
            <a:srgbClr val="001A20"/>
          </a:solidFill>
          <a:ln w="1270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199632" y="1389888"/>
            <a:ext cx="2816352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309360" y="1508760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3093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784848" y="1536192"/>
            <a:ext cx="2139696" cy="32004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7848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🔄  BEST OF BOTH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910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Write Results → Genie Queries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2910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Most powerful approach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910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results are saved back to Delta tables (site_activation_details_results etc.). Genie queries saved results — combines live app + historical analysis.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91072" y="3236976"/>
            <a:ext cx="2633472" cy="18288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2910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0B4D8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2910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3276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"Show all plans created this week"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2910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3276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"Compare P90 dates across my last 3 runs"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910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3276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"Which analysis had the fastest activation?"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910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3276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Requires result-persistence logic in app layer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56032" y="4956048"/>
            <a:ext cx="8631936" cy="128016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" y="91440"/>
            <a:ext cx="566928" cy="566928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01168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Genie  —  Recommended Path &amp; Architecture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4069080" cy="34747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6032" y="8961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★  RECOMMENDED FOR PoC DEMO  —  OPTION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1335024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02336" y="1463040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02336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" y="133502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Open ATP GPD Expl workspace → Genie (sidebar)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1956816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56032" y="1956816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02336" y="2084832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02336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" y="195681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Create a Genie Space → connect to smart_poc.smart.*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578608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56032" y="2578608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02336" y="2706624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02336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" y="257860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Point at smart_category_activation_timelines table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3200400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56032" y="3200400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02336" y="3328416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02336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" y="3200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Demo alongside app — zero code changes required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3840480"/>
            <a:ext cx="1920240" cy="274320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56032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  CAN answer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416052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92608" y="416052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✓  Questions about Delta Lake tables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443484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92608" y="443484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✓  Raw data, saved plans, timelines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470916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92608" y="470916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✓  Historical result comparisons (Opt 3)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304288" y="3840480"/>
            <a:ext cx="2011680" cy="274320"/>
          </a:xfrm>
          <a:prstGeom prst="rect">
            <a:avLst/>
          </a:prstGeom>
          <a:solidFill>
            <a:srgbClr val="EF476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304288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✗  CANNOT answer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04288" y="416052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340864" y="416052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76F"/>
                </a:solidFill>
              </a:rPr>
              <a:t>✗  Live API/in-memory computation results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304288" y="443484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340864" y="443484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76F"/>
                </a:solidFill>
              </a:rPr>
              <a:t>✗  Runtime simulation state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304288" y="470916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340864" y="470916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76F"/>
                </a:solidFill>
              </a:rPr>
              <a:t>✗  Unless Option 3 (write back) is implemented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896112"/>
            <a:ext cx="4315968" cy="347472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572000" y="896112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OPTION 3  —  TARGET ARCHITECTURE  (Best of Both)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1335024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937760" y="13807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SMArT Web App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937760" y="16276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React + Flask/FastAPI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675120" y="1883664"/>
            <a:ext cx="54864" cy="2377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846320" y="2029968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0E0EF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37760" y="20756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</a:rPr>
              <a:t>Flask Backend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937760" y="23225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Proxy → Genie Conversation API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675120" y="2578608"/>
            <a:ext cx="54864" cy="2377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846320" y="2724912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B5DE5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937760" y="27706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DE5"/>
                </a:solidFill>
              </a:rPr>
              <a:t>Delta Lake Tables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937760" y="3017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smart_poc.smart.*  +  results tables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675120" y="3273552"/>
            <a:ext cx="54864" cy="2377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846320" y="3419856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B5DE5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937760" y="34655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DE5"/>
                </a:solidFill>
              </a:rPr>
              <a:t>Genie Space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937760" y="37124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Natural language → SQL → Delta Lake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846320" y="4114800"/>
            <a:ext cx="3749040" cy="566928"/>
          </a:xfrm>
          <a:prstGeom prst="rect">
            <a:avLst/>
          </a:prstGeom>
          <a:solidFill>
            <a:srgbClr val="001A2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846320" y="4114800"/>
            <a:ext cx="73152" cy="56692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92624" y="415137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Result write-back: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992624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DDE6"/>
                </a:solidFill>
              </a:rPr>
              <a:t>site_activation_details_results  ·  summary_results  →  queryable by Genie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0" y="365760"/>
            <a:ext cx="3017520" cy="3017520"/>
          </a:xfrm>
          <a:prstGeom prst="ellipse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92240" y="914400"/>
            <a:ext cx="1920240" cy="192024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"/>
            <a:ext cx="2743200" cy="31089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CLIENT QUESTIONS  — DAN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to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Dan's Queries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</a:rPr>
              <a:t>Feasibility check completed  ·  Migration app built with live UI, APIs &amp; Delta Lake tables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5120640" cy="34747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73152" cy="347472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2064" y="32461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Q1 — Risks &amp; Cons to consider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666744"/>
            <a:ext cx="5120640" cy="34747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666744"/>
            <a:ext cx="73152" cy="34747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064" y="366674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Q2 — UI, UX &amp; performance impact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87368"/>
            <a:ext cx="5120640" cy="34747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4087368"/>
            <a:ext cx="73152" cy="34747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2064" y="40873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Q3 — Feature work during migration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</a:rPr>
              <a:t>SMArT Platform Migration  ·  Response to Dan's Review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&amp; Cons to Consider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3840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E0EF"/>
                </a:solidFill>
              </a:rPr>
              <a:t>We are transparent about trade-offs. These are manageable risks — none are blockers, and all have defined mitigations.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1389888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730752" y="1463040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30752" y="1463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0624" y="145389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Short-term team upskilling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" y="1719072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needs to learn Databricks Apps, DAB &amp; CI/CD patterns. Mitigated by feasibility spike already completed — team is hands-on from day one.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389888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1389888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138160" y="1463040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138160" y="1463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28032" y="145389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No physical environment isolation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1719072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schema separation replaces physical DSS instances. UC RBAC enforces access boundaries; reviewed and accepted by compliance approach.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505456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56032" y="2505456"/>
            <a:ext cx="82296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730752" y="2578608"/>
            <a:ext cx="658368" cy="201168"/>
          </a:xfrm>
          <a:prstGeom prst="rect">
            <a:avLst/>
          </a:prstGeom>
          <a:solidFill>
            <a:srgbClr val="FF6B35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30752" y="25786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MED RISK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20624" y="256946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Migration window carries delivery risk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" y="2834640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20-week project introduces schedule risk. Phased delivery with parallel-run period and rollback path (DSS stays live until RFC sign-off) contains impact.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505456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63440" y="2505456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138160" y="2578608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138160" y="25786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28032" y="256946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Usage-based cost variability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2834640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fixed DSS licenses, Databricks costs scale with usage. Auto-shutdown on dev/stage and cost dashboards keep this well within the $4.2K estimate.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621024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56032" y="3621024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730752" y="3694176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730752" y="36941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20624" y="368503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Data migration validation effort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0624" y="3950208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Snowflake tables must be migrated and verified. Row-count and schema validation scripts are part of Phase 2; feasibility run confirms process works.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621024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663440" y="3621024"/>
            <a:ext cx="82296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138160" y="3694176"/>
            <a:ext cx="658368" cy="201168"/>
          </a:xfrm>
          <a:prstGeom prst="rect">
            <a:avLst/>
          </a:prstGeom>
          <a:solidFill>
            <a:srgbClr val="FF6B35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138160" y="36941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MED RISK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28032" y="368503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Dependency on Digital/Platform team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28032" y="3950208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assignment (ATP GPD Expl) needs Digital team confirmation. Already flagged as first action item; planning can proceed in parallel under Option A.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4736592"/>
            <a:ext cx="8631936" cy="32918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56032" y="4736592"/>
            <a:ext cx="82296" cy="32918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02336" y="473659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✓  Overall assessment: No identified cons are blockers. Risk profile is LOW–MEDIUM. Feasibility PoC de-risks the highest-uncertainty items.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Q2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UI, End-User Experience &amp; Performance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502920"/>
          </a:xfrm>
          <a:prstGeom prst="rect">
            <a:avLst/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56032" y="896112"/>
            <a:ext cx="82296" cy="5029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02336" y="8961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✅  Feasibility proven: Migration app built with exact UI, live backend APIs &amp; Delta Lake tables — user experience validated end-to-end.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517904"/>
            <a:ext cx="2816352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6032" y="1517904"/>
            <a:ext cx="2816352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" y="1554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  UI &amp; Frontend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2011680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7472" y="2066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Redesign needed?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286000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747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" y="254203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Flask/FastAPI frontend deployed as Databricks App — same screens, same navigation, same URLs.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999232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7472" y="3054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Functionality loss?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273552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confirmed working in the PoC migration. No capability is removed or degraded.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986784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Look &amp; feel change?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4261104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7472" y="42611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45171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 is a thin hosting wrapper — users will not see any platform change.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27832" y="1517904"/>
            <a:ext cx="2816352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27832" y="1517904"/>
            <a:ext cx="2816352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27832" y="1554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Performance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27832" y="2011680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319272" y="2066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Calculation speed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19272" y="2286000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31927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Same / Faster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9272" y="254203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Python simulation engine. Databricks serverless compute removes DSS scheduler overhead.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27832" y="2999232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319272" y="3054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Page load times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19272" y="3273552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319272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 change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19272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is unchanged. Delta Lake SQL connector benchmarks comparably to Snowflake at this data volume (&lt;100 GB).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27832" y="3986784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319272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Peak load (50 users)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19272" y="4261104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319272" y="42611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Handled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19272" y="45171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instance (2 vCPU / 6 GB) sized for &lt;100 concurrent. Scale-up to Large available on demand.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99632" y="1517904"/>
            <a:ext cx="2816352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199632" y="1517904"/>
            <a:ext cx="2816352" cy="64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199632" y="1554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User Impact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199632" y="2011680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291072" y="2066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Training required?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91072" y="2286000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29107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91072" y="254203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interact with the same web application. No Databricks knowledge needed by users.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99632" y="2999232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291072" y="3054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URL / access change?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91072" y="3273552"/>
            <a:ext cx="2633472" cy="219456"/>
          </a:xfrm>
          <a:prstGeom prst="rect">
            <a:avLst/>
          </a:prstGeom>
          <a:solidFill>
            <a:srgbClr val="FFD166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291072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New URL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91072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environment gets a dedicated Databricks App URL. A bookmark update is the only visible change for users.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199632" y="3986784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291072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Downtime at cutover?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91072" y="4261104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291072" y="42611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 planned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291072" y="45171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parallel run means DSS and Databricks run simultaneously. Cutover is a DNS/redirect flip.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Q3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Work During the Migration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475488"/>
          </a:xfrm>
          <a:prstGeom prst="rect">
            <a:avLst/>
          </a:prstGeom>
          <a:solidFill>
            <a:srgbClr val="0A2A0A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56032" y="896112"/>
            <a:ext cx="82296" cy="47548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02336" y="8961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✅  Short answer: Feature work does NOT need to be paused. Migration and new features can run in parallel.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" y="14996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HOW THIS WORKS IN PRACTICE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847088"/>
            <a:ext cx="1417320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" y="184708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MIGRATION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TRACK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19072" y="1847088"/>
            <a:ext cx="118872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755648" y="1865376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Foundation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1–4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07792" y="1847088"/>
            <a:ext cx="914400" cy="475488"/>
          </a:xfrm>
          <a:prstGeom prst="rect">
            <a:avLst/>
          </a:prstGeom>
          <a:solidFill>
            <a:srgbClr val="0096B7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944368" y="1865376"/>
            <a:ext cx="841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Data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5–8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22192" y="1847088"/>
            <a:ext cx="1554480" cy="475488"/>
          </a:xfrm>
          <a:prstGeom prst="rect">
            <a:avLst/>
          </a:prstGeom>
          <a:solidFill>
            <a:srgbClr val="007A96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58768" y="1865376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App Migration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5–12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76672" y="1847088"/>
            <a:ext cx="1005840" cy="475488"/>
          </a:xfrm>
          <a:prstGeom prst="rect">
            <a:avLst/>
          </a:prstGeom>
          <a:solidFill>
            <a:srgbClr val="005F75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13248" y="1865376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QA / UAT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13–16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382512" y="1847088"/>
            <a:ext cx="868680" cy="475488"/>
          </a:xfrm>
          <a:prstGeom prst="rect">
            <a:avLst/>
          </a:prstGeom>
          <a:solidFill>
            <a:srgbClr val="004558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19088" y="1865376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Go-Live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17–20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6032" y="2432304"/>
            <a:ext cx="1417320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56032" y="2432304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TRACK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19072" y="2432304"/>
            <a:ext cx="1188720" cy="475488"/>
          </a:xfrm>
          <a:prstGeom prst="rect">
            <a:avLst/>
          </a:prstGeom>
          <a:solidFill>
            <a:srgbClr val="024A1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755648" y="245059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Bug fixes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maintenance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07792" y="2432304"/>
            <a:ext cx="1828800" cy="475488"/>
          </a:xfrm>
          <a:prstGeom prst="rect">
            <a:avLst/>
          </a:prstGeom>
          <a:solidFill>
            <a:srgbClr val="036028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944368" y="2450592"/>
            <a:ext cx="1755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New Feature 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(on DSS)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36592" y="2432304"/>
            <a:ext cx="1645920" cy="475488"/>
          </a:xfrm>
          <a:prstGeom prst="rect">
            <a:avLst/>
          </a:prstGeom>
          <a:solidFill>
            <a:srgbClr val="047A34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73168" y="245059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New Feature 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(on DSS)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82512" y="2432304"/>
            <a:ext cx="1828800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19088" y="2450592"/>
            <a:ext cx="1755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Feature C → DBX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(new home)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51192" y="1709928"/>
            <a:ext cx="36576" cy="129844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903720" y="149961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D166"/>
                </a:solidFill>
              </a:rPr>
              <a:t>Cutover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6032" y="30906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THE GUARDRAILS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429000"/>
            <a:ext cx="8631936" cy="45720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56032" y="3429000"/>
            <a:ext cx="82296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02336" y="352044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02336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" y="346557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New features built on DSS as normal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77240" y="366674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During migration, feature development continues on the current DSS platform. No change to today's dev/QA/release workflow for new features.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6032" y="3941064"/>
            <a:ext cx="8631936" cy="45720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256032" y="3941064"/>
            <a:ext cx="82296" cy="4572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02336" y="4032504"/>
            <a:ext cx="274320" cy="27432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02336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" y="39776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</a:rPr>
              <a:t>Migration team is a dedicated workstream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77240" y="417880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Migration is run as a parallel project track — it does not consume the full team. Feature sprints and migration sprints are planned independently.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" y="4453128"/>
            <a:ext cx="8631936" cy="45720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56032" y="4453128"/>
            <a:ext cx="82296" cy="4572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02336" y="4544568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02336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7240" y="44897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Features completed before cutover ship on DSS; after cutover on Databricks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77240" y="4690872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Any feature in flight at Go-Live week is evaluated: if complete → ship on DSS, if not → brief hold during 2-week parallel run, then deliver on Databricks.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Migration Plan  —  20 Weeks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1627632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68096" y="107899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68096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</a:rPr>
              <a:t>Foundation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" y="2084832"/>
            <a:ext cx="1335024" cy="256032"/>
          </a:xfrm>
          <a:prstGeom prst="rect">
            <a:avLst/>
          </a:prstGeom>
          <a:solidFill>
            <a:srgbClr val="00B4D8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1–4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54864" cy="6583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Unity Catalog + RBAC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3218688"/>
            <a:ext cx="54864" cy="6583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setup (DAB)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3968496"/>
            <a:ext cx="54864" cy="6583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ADLC compliance sign-off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56816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956816" y="960120"/>
            <a:ext cx="1627632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542032" y="1078992"/>
            <a:ext cx="457200" cy="45720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542032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11680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166"/>
                </a:solidFill>
              </a:rPr>
              <a:t>Data Migration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03120" y="2084832"/>
            <a:ext cx="1335024" cy="256032"/>
          </a:xfrm>
          <a:prstGeom prst="rect">
            <a:avLst/>
          </a:prstGeom>
          <a:solidFill>
            <a:srgbClr val="FFD166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103120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5–8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48256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048256" y="2468880"/>
            <a:ext cx="54864" cy="65836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139696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14 Snowflake tables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48256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048256" y="3218688"/>
            <a:ext cx="54864" cy="65836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139696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schema validation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48256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048256" y="3968496"/>
            <a:ext cx="54864" cy="65836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139696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connector update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30752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730752" y="960120"/>
            <a:ext cx="1627632" cy="64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315968" y="1078992"/>
            <a:ext cx="457200" cy="457200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315968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785616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</a:rPr>
              <a:t>App Migration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877056" y="2084832"/>
            <a:ext cx="1335024" cy="256032"/>
          </a:xfrm>
          <a:prstGeom prst="rect">
            <a:avLst/>
          </a:prstGeom>
          <a:solidFill>
            <a:srgbClr val="06D6A0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877056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5–12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822192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3822192" y="2468880"/>
            <a:ext cx="54864" cy="65836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913632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Flask app on Databricks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22192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822192" y="3218688"/>
            <a:ext cx="54864" cy="65836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913632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 config adaptation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22192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3822192" y="3968496"/>
            <a:ext cx="54864" cy="65836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913632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testing iteration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04688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5504688" y="960120"/>
            <a:ext cx="1627632" cy="6400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089904" y="1078992"/>
            <a:ext cx="457200" cy="457200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08990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559552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5DE5"/>
                </a:solidFill>
              </a:rPr>
              <a:t>QA &amp; Validation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650992" y="2084832"/>
            <a:ext cx="1335024" cy="256032"/>
          </a:xfrm>
          <a:prstGeom prst="rect">
            <a:avLst/>
          </a:prstGeom>
          <a:solidFill>
            <a:srgbClr val="9B5DE5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650992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13–16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96128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5596128" y="2468880"/>
            <a:ext cx="54864" cy="65836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5687568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QA/UAT in stage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96128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5596128" y="3218688"/>
            <a:ext cx="54864" cy="65836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5687568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qTest evidence capture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596128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5596128" y="3968496"/>
            <a:ext cx="54864" cy="65836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5687568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RFC raised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278624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7278624" y="960120"/>
            <a:ext cx="1627632" cy="640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7863840" y="1078992"/>
            <a:ext cx="457200" cy="457200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786384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7333488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76F"/>
                </a:solidFill>
              </a:rPr>
              <a:t>Go-Live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424928" y="2084832"/>
            <a:ext cx="1335024" cy="256032"/>
          </a:xfrm>
          <a:prstGeom prst="rect">
            <a:avLst/>
          </a:prstGeom>
          <a:solidFill>
            <a:srgbClr val="EF476F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7424928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17–20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370064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7370064" y="2468880"/>
            <a:ext cx="54864" cy="65836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7461504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approval → prod deploy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370064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7370064" y="3218688"/>
            <a:ext cx="54864" cy="65836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7461504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parallel run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370064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7370064" y="3968496"/>
            <a:ext cx="54864" cy="65836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7461504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decommission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303520" y="54864"/>
            <a:ext cx="4754880" cy="5029200"/>
          </a:xfrm>
          <a:prstGeom prst="ellipse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35040" y="640080"/>
            <a:ext cx="3291840" cy="329184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411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Recommend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896112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💰  86% cost saving — $26.7K/yr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2816352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81635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🔗  Strategic platform alignment (GPDIP)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46704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346704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346704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⚙  Operational independence via CI/CD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77056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3877056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🤖  AI-ready without extra infrastructure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4622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</a:rPr>
              <a:t>IMMEDIATE NEXT STEPS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1.  Confirm workspace with Digital/Platform team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73552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73552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2.  Identify migration lead &amp; confirm team availability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81344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81344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3.  1-week PoC: deploy Flask app as Databricks 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1853</Words>
  <Application>Microsoft Office PowerPoint</Application>
  <PresentationFormat>On-screen Show (16:9)</PresentationFormat>
  <Paragraphs>341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Platform Migration – Dataiku to Databricks</dc:title>
  <dc:subject>PptxGenJS Presentation</dc:subject>
  <dc:creator>PptxGenJS</dc:creator>
  <cp:lastModifiedBy>Pramod Naik</cp:lastModifiedBy>
  <cp:revision>2</cp:revision>
  <dcterms:created xsi:type="dcterms:W3CDTF">2026-06-02T20:27:30Z</dcterms:created>
  <dcterms:modified xsi:type="dcterms:W3CDTF">2026-06-03T07:10:54Z</dcterms:modified>
</cp:coreProperties>
</file>