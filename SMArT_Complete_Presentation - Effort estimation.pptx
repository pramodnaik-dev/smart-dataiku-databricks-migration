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78" d="100"/>
          <a:sy n="78" d="100"/>
        </p:scale>
        <p:origin x="1531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Dataiku DSS (Current)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30900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3E-48A6-960C-59A15A2E1E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Databricks (Proposed — Conservative)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5516</c:v>
                </c:pt>
                <c:pt idx="2">
                  <c:v>336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3E-48A6-960C-59A15A2E1E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3B5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26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0" y="1005840"/>
            <a:ext cx="1280160" cy="128016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PLATFORM MIGRATION PROPOSAL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Apps + Delta Lake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</a:rPr>
              <a:t>May 2026  ·  v1.0  ·  Draft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Business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Dev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Digital/Platform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ATP GPD Expl Workspace  ·  Unity Catalog: gpdip_smart_us_east_1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Case for Change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2491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$30,900 → ~$4,200/yr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2491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Break-even within year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2491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8776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wks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Migration 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Existing team, phased delivery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WHY MIGRATE NOW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Fixed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3 DSS Designer licenses @ $10,300 each — fixed regardless of usage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Platform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Every deployment needs Platform Support team scheduling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6519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Limited AI Ecosystem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No native LLMs, MLflow, model serving, or 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Misalignment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DSS + Snowflake outside GPDIP platform direction — growing technical debt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 →  Target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(Dataiku DSS + Snowflake)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Dataiku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260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Snowflake  (14 tables, &lt;100 GB)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Manual DSS Bundle — Platform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physically isolated DSS instances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5486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 (Databricks Apps + Delta Lake)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1389888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8348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4748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Databricks Apps  (ATP GPD Expl)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8348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4748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  (unchanged)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523744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98348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4748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Delta Lake  (Unity Catalog, dedicated)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8348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98348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4748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CI/CD  (GitHub Actions + DAB, automated)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3657600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98348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4748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schemas in one catalog  (RBAC isolated)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8348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4748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MLflow · Model Serving · Genie AI  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 Analysis &amp; ROI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56032" y="868680"/>
          <a:ext cx="51206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14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DATABRICKS BREAKDOWN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77840" y="11704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3B1"/>
                </a:solidFill>
              </a:rPr>
              <a:t>Conservative scenario · annual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1389888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577840" y="138988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0" y="14264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Prod App compute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0" y="16093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24/7, $305/mo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98080" y="1444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~$3,660/yr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865376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577840" y="1865376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669280" y="1901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Dev App compute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0" y="20848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10h/day, $110/mo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98080" y="1920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~$1,320/yr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2340864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577840" y="2340864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Stage App compute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0" y="25603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8h/day, $75/mo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98080" y="239572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~$900/yr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2816352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577840" y="2816352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66928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SQL Warehouses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0" y="303580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All envs combined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498080" y="28712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~$2,880/yr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0" y="3291840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5577840" y="3291840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669280" y="3328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Delta Lake storage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0" y="35112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~70GB avg, $14/mo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98080" y="33467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~$168/yr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3767328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577840" y="376732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669280" y="3803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Unity Catalog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669280" y="398678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Premium tier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98080" y="3822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4D8"/>
                </a:solidFill>
              </a:rPr>
              <a:t>Included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577840" y="4261104"/>
            <a:ext cx="3291840" cy="475488"/>
          </a:xfrm>
          <a:prstGeom prst="rect">
            <a:avLst/>
          </a:prstGeom>
          <a:solidFill>
            <a:srgbClr val="06D6A0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577840" y="42611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TOTAL  ~$5,880 / year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💰  Annual Savings: ~$25,020  (81% reduction)  ·  Conservative scenario  ·  Optimised (off-hours + 1yr CUD): ~$4,200/yr  (86% saving)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Model &amp; ADLC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CI/CD DEPLOYMENT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9144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9961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62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develop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Dev self-testing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121408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91440" cy="8229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523744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stage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smart-app-stage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UAT (qTest)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45536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91440" cy="8229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354787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94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smart-app-prod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RFC gate 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ADLC COMPLIANCE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1298448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03520" y="129844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76672" y="145389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76672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1335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QA vs Prod separation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157276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Schema isolation + UC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1883664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03520" y="1883664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376672" y="2039112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7667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920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Validation before prod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157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ServiceNow RFC gates CI/CD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24688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03520" y="2468880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376672" y="2624328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37667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5054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evidence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27432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qTest (unchanged)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054096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303520" y="3054096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376672" y="3209544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76672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30906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Change tracking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50992" y="33284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Jira + RFC + Git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03520" y="3639312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303520" y="3639312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376672" y="3794760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3766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50992" y="367588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Prod access control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50992" y="39136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CI/CD service principal only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03520" y="4224528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303520" y="422452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376672" y="437997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37667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42611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50992" y="44988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UC audit log + CI/CD runs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ServiceNow RFC process fully preserved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Integration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61872" y="10972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18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Post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3192" y="254203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unchanged on Databricks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93192" y="309067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37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replaces Snowflake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93192" y="363931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experience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192" y="418795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future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33672" y="10972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33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What-If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64992" y="254203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655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scenario comparison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64992" y="309067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Workflows: parallel runs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64992" y="36393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655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AI: instant enrollment predictions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364992" y="418795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655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Feature Store: shared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205472" y="1097280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2054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910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Future Enhancements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36792" y="254203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373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AI: natural language data queries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36792" y="309067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373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activation ML model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336792" y="363931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373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36792" y="418795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373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simulation inputs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E0EF"/>
                </a:solidFill>
              </a:rPr>
              <a:t>All AI capabilities available at no additional infrastructure cost on Databricks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Migration Plan  —  20 Weeks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162763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0789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809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Foundation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solidFill>
            <a:srgbClr val="00B4D8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Unity Catalog + RBAC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 (DAB)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compliance sign-off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6816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956816" y="960120"/>
            <a:ext cx="162763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42032" y="1078992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4203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</a:rPr>
              <a:t>Data Migration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solidFill>
            <a:srgbClr val="FFD166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048256" y="2468880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139696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14 Snowflake tables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48256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048256" y="3218688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139696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schema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48256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048256" y="3968496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139696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 update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730752" y="960120"/>
            <a:ext cx="162763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315968" y="1078992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159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85616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</a:rPr>
              <a:t>App Migration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solidFill>
            <a:srgbClr val="06D6A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822192" y="246888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913632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Flask app on Databricks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822192" y="321868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913632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 config adaptation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822192" y="396849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913632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iteration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04688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504688" y="960120"/>
            <a:ext cx="1627632" cy="64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089904" y="1078992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899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59552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</a:rPr>
              <a:t>QA &amp; Validation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solidFill>
            <a:srgbClr val="9B5DE5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13–16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96128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596128" y="2468880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687568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QA/UAT in stage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96128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596128" y="3218688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687568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 evidence capture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96128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596128" y="3968496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687568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RFC raised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78624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278624" y="960120"/>
            <a:ext cx="1627632" cy="640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863840" y="1078992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8638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33488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76F"/>
                </a:solidFill>
              </a:rPr>
              <a:t>Go-Live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solidFill>
            <a:srgbClr val="EF476F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17–20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70064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370064" y="246888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461504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approval → prod deploy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70064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370064" y="3218688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461504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70064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7370064" y="3968496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461504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decommission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54864"/>
            <a:ext cx="4754880" cy="502920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0" y="640080"/>
            <a:ext cx="3291840" cy="32918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💰  86% cost saving — $26.7K/yr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163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🔗  Strategic platform alignment (GPDIP)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⚙  Operational independence via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🤖  AI-ready without extra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IMMEDIATE NEXT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 Confirm workspace with Digital/Platform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 Identify migration lead &amp; confirm team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 1-week PoC: deploy Flask app as Databricks 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365760"/>
            <a:ext cx="3017520" cy="301752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914400"/>
            <a:ext cx="1920240" cy="1920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CLIENT QUESTIONS  — DAN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Dan's Queries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</a:rPr>
              <a:t>Feasibility check completed  ·  Migration app built with live UI, APIs &amp; Delta Lake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73152" cy="34747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3246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Q1 — Risks &amp; Cons to consider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73152" cy="34747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6667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Q2 — UI, UX &amp; performance impact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4087368"/>
            <a:ext cx="73152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Q3 — Feature work during migration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Response to Dan's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Cons to Consider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We are transparent about trade-offs. These are manageable risks — none are blockers, and all have defined mitigations.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Short-term team upskilling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to learn Databricks Apps, DAB &amp; CI/CD patterns. Mitigated by feasibility spike already completed — team is hands-on from day 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physical environment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separation replaces physical DSS instances. UC RBAC enforces access boundaries; reviewed and accepted by compliance approach.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2505456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Migration window carries delivery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project introduces schedule risk. Phased delivery with parallel-run period and rollback path (DSS stays live until RFC sign-off) contains impact.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2505456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Usage-based cost variability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fixed DSS licenses, Databricks costs scale with usage. Auto-shutdown on dev/stage and cost dashboards keep this well within the $4.2K estimate.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6032" y="3621024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0624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migration validation effort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Snowflake tables must be migrated and verified. Row-count and schema validation scripts are part of Phase 2; feasibility run confirms process works.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63440" y="3621024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8032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Dependency on Digital/Platform team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assignment (ATP GPD Expl) needs Digital team confirmation. Already flagged as first action item; planning can proceed in parallel under Option 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736592"/>
            <a:ext cx="82296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02336" y="47365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✓  Overall assessment: No identified cons are blockers. Risk profile is LOW–MEDIUM. Feasibility PoC de-risks the highest-uncertainty items.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UI, End-User Experience &amp;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5029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Feasibility proven: Migration app built with exact UI, live backend APIs &amp; Delta Lake tables — user experience validated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517904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UI &amp; 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Redesign needed?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Flask/FastAPI frontend deployed as Databricks App — same screens, same navigation, same URLs.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Functionality loss?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confirmed working in the PoC migration. No capability is removed or degraded.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Look &amp; feel change?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is a thin hosting wrapper — users will not see any platform change.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517904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278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Performance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278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92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Calculation speed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/ Faster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simulation engine. Databricks serverless compute removes DSS scheduler overhead.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278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192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Page load times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change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92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is unchanged. Delta Lake SQL connector benchmarks comparably to Snowflake at this data volume (&lt;100 GB).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278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192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Peak load (50 users)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Handled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92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instance (2 vCPU / 6 GB) sized for &lt;100 concurrent. Scale-up to Large available on demand.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996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199632" y="1517904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996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 Impact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996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910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Training required?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 with the same web application. No Databricks knowledge needed by users.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910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URL / access change?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solidFill>
            <a:srgbClr val="FFD166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New URL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910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gets a dedicated Databricks App URL. A bookmark update is the only visible change for users.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996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2910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Downtime at cutover?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planned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910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 means DSS and Databricks run simultaneously. Cutover is a DNS/redirect flip.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Work During the Migration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475488"/>
          </a:xfrm>
          <a:prstGeom prst="rect">
            <a:avLst/>
          </a:prstGeom>
          <a:solidFill>
            <a:srgbClr val="0A2A0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47548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Short answer: Feature work does NOT need to be paused. Migration and new features can run in parallel.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499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HOW THIS WORKS IN PRACTICE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MIGRATION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TRACK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1847088"/>
            <a:ext cx="1188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55648" y="186537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1847088"/>
            <a:ext cx="914400" cy="475488"/>
          </a:xfrm>
          <a:prstGeom prst="rect">
            <a:avLst/>
          </a:prstGeom>
          <a:solidFill>
            <a:srgbClr val="0096B7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44368" y="1865376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22192" y="1847088"/>
            <a:ext cx="1554480" cy="475488"/>
          </a:xfrm>
          <a:prstGeom prst="rect">
            <a:avLst/>
          </a:prstGeom>
          <a:solidFill>
            <a:srgbClr val="007A96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58768" y="186537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App Migration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76672" y="1847088"/>
            <a:ext cx="1005840" cy="475488"/>
          </a:xfrm>
          <a:prstGeom prst="rect">
            <a:avLst/>
          </a:prstGeom>
          <a:solidFill>
            <a:srgbClr val="005F75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13248" y="186537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QA / UAT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13–16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82512" y="1847088"/>
            <a:ext cx="868680" cy="475488"/>
          </a:xfrm>
          <a:prstGeom prst="rect">
            <a:avLst/>
          </a:prstGeom>
          <a:solidFill>
            <a:srgbClr val="00455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19088" y="186537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Go-Live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17–20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TRACK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2432304"/>
            <a:ext cx="1188720" cy="475488"/>
          </a:xfrm>
          <a:prstGeom prst="rect">
            <a:avLst/>
          </a:prstGeom>
          <a:solidFill>
            <a:srgbClr val="024A1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55648" y="24505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Bug fixes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2432304"/>
            <a:ext cx="1828800" cy="475488"/>
          </a:xfrm>
          <a:prstGeom prst="rect">
            <a:avLst/>
          </a:prstGeom>
          <a:solidFill>
            <a:srgbClr val="03602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4436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2432304"/>
            <a:ext cx="1645920" cy="475488"/>
          </a:xfrm>
          <a:prstGeom prst="rect">
            <a:avLst/>
          </a:prstGeom>
          <a:solidFill>
            <a:srgbClr val="047A34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73168" y="24505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82512" y="2432304"/>
            <a:ext cx="182880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1908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Feature C → DBX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(new home)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51192" y="1709928"/>
            <a:ext cx="36576" cy="12984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03720" y="14996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</a:rPr>
              <a:t>Cutover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THE GUARDRAILS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429000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6032" y="3429000"/>
            <a:ext cx="82296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2336" y="35204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023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465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New features built on DSS as normal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" y="36667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During migration, feature development continues on the current DSS platform. No change to today's dev/QA/release workflow for new features.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941064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6032" y="3941064"/>
            <a:ext cx="82296" cy="4572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02336" y="4032504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02336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3977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Migration team is a dedicated workstream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41788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Migration is run as a parallel project track — it does not consume the full team. Feature sprints and migration sprints are planned independently.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453128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6032" y="4453128"/>
            <a:ext cx="82296" cy="4572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02336" y="4544568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02336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" y="4489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Features completed before cutover ship on DSS; after cutover on Databricks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" y="46908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Any feature in flight at Go-Live week is evaluated: if complete → ship on DSS, if not → brief hold during 2-week parallel run, then deliver on Databricks.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AI  —  Natural Language Querying for SMArT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Users ask plain-English questions against SMArT's Delta Lake tables — no SQL, no dashboards. Three implementation paths, increasing in capability.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816352" cy="361188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READY NOW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Genie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Standalone — zero code changes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Genie Space in Databricks pointing to smart_poc.smart.* Delta tables. Users ask questions directly in the Databricks workspace UI.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6D6A0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country has the highest P90 days?"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activation timelines for Argentina"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"Avg site activation rate across countries?"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Separate UI — users leave the SMArT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389888"/>
            <a:ext cx="2816352" cy="361188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389888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337560" y="1508760"/>
            <a:ext cx="402336" cy="40233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375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</a:rPr>
              <a:t>⚠  REQUIRES 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Embed Genie in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Chat widget inside SMArT webapp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 widget in the React frontend. Flask backend proxies calls to the Genie Conversation API. Results rendered inline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166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558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Genie Conversation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558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Flask → Genie API proxy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92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558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SQL results inline in app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92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558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Cannot answer questions about live in-memory API results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9632" y="1389888"/>
            <a:ext cx="2816352" cy="36118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199632" y="1389888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9360" y="150876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093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🔄  BEST OF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Write Results → Genie Queries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910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Most powerful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910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are saved back to Delta tables (site_activation_details_results etc.). Genie queries saved results — combines live app + historical analysis.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910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276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all plans created this week"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910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276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"Compare P90 dates across my last 3 runs"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276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analysis had the fastest activation?"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276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Requires result-persistence logic in app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956048"/>
            <a:ext cx="8631936" cy="128016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 —  Recommended Path &amp;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★  RECOMMENDED FOR PoC DEMO  —  OPTION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2336" y="146304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335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Open ATP GPD Expl workspace → Genie (sidebar)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1956816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2336" y="2084832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36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Create a Genie Space → connect to smart_poc.smart.*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2578608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02336" y="2706624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578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Point at smart_category_activation_timelines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56032" y="320040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2336" y="332841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Demo alongside app — zero code changes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  CAN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2608" y="416052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Questions about Delta Lake tables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3484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443484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Raw data, saved plans, timelines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0916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92608" y="470916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Historical result comparisons (Opt 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✗  CANNOT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416052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340864" y="41605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Live API/in-memory computation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04288" y="443484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340864" y="44348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Runtime simulation state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04288" y="470916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340864" y="47091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Unless Option 3 (write back) is implemented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OPTION 3  —  TARGET ARCHITECTURE  (Best of Both)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335024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37760" y="1380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SMArT Web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React + Flask/FastAPI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1883664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46320" y="2029968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3776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Flask Backend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937760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Proxy → Genie Conversation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578608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Delta Lake Tables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smart_poc.smart.*  +  results tables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73552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46320" y="3419856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37760" y="3465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Genie Space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937760" y="3712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Natural language → SQL → Delta 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4114800"/>
            <a:ext cx="3749040" cy="566928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92624" y="41513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Result write-back: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92624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DDE6"/>
                </a:solidFill>
              </a:rPr>
              <a:t>site_activation_details_results  ·  summary_results  →  queryable by Genie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69280" y="182880"/>
            <a:ext cx="3840480" cy="384048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09360" y="82296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0" y="18288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DETAILED COST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Pricing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Cost Strategies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</a:rPr>
              <a:t>AWS Premium Tier  ·  All 3 Environments  ·  Pay-as-you-go → Committed pricing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31546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Per-environment breakdown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5570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3 cost scenarios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39593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Optimization strategies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361688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4361688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064" y="43616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Current stack comparison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DBU Rates &amp; Per-Environment Cost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8631936" cy="8229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</a:rPr>
              <a:t>DBU RATES  — AWS Premium Tier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Databricks App (Medium)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$0.275/hr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SQL Serverless Warehouse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$1.10/hr 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36592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1-yr commit discount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36592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25–45% saving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12864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12864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3-yr commit discount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12864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40–55% saving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1810512"/>
            <a:ext cx="2798064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60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🛠  DEV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017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(10 hrs/day × 22 days)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$60–$80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(~2 hrs/day)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17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57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~$110–$145/mo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278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27832" y="1810512"/>
            <a:ext cx="2798064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278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192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🧪  STAGE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2735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375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(8 hrs/day × 22 days)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735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3375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(~1 hr/day)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$24–$30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3375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735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3375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~$75–$100/mo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996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199632" y="1810512"/>
            <a:ext cx="2798064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1996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2910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</a:rPr>
              <a:t>🚀  PROD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2453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3093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(24/7 always-on)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381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$200–$270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453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093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(~4 hrs/day)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381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$96–$120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453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309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(50–100 GB)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381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$10–$25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453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3093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381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~$305–$415/mo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3B1"/>
                </a:solidFill>
              </a:rPr>
              <a:t>ℹ  App size: Medium (0.5 DBU/hr)  ·  DBU rate: $0.55 pay-as-you-go  ·  Region: AWS us-east-1  ·  Unity Catalog included at Premium tier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Cost Optimization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91440" cy="1207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38912" y="1005840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40–60% on Dev/Stage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Stop Dev/Stage outside business hours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Auto-shutdown after 30-min idle. Dev/Stage only run ~10 hrs/day instead of 24/7. Biggest single lever for non-prod environments.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6032" y="2249424"/>
            <a:ext cx="91440" cy="1207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8912" y="2340864"/>
            <a:ext cx="329184" cy="32918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25–45% across all envs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9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Committed DBU pricing (1yr or 3yr)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commit: ~$0.40–0.50/DBU vs $0.55 pay-as-you-go. 3-year commit: ~$0.30–0.40/DBU. Significant reduction once usage is proven stable.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584448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3584448"/>
            <a:ext cx="91440" cy="1207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3675888"/>
            <a:ext cx="329184" cy="32918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8912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50% on App compute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Small app size instead of Medium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4023360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Downsize from Medium (0.5 DBU/hr) to Small (0.25 DBU/hr) for Dev/Stage. Halves App compute cost if performance is sufficient for non-prod workloads.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28032" y="914400"/>
            <a:ext cx="91440" cy="1207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010912" y="1005840"/>
            <a:ext cx="329184" cy="329184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10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solidFill>
            <a:srgbClr val="9B5DE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Pay only for queries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Serverless SQL auto-suspend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92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Serverless Warehouse behaviour — billing stops immediately when idle. No minimum charge. Combine with query result caching to reduce active hours.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28032" y="2249424"/>
            <a:ext cx="91440" cy="12070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010912" y="2340864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10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Reduce workspace overhead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31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Dev/Stage share a single workspace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92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isolation within one workspace eliminates duplicate workspace overhead. Unity Catalog RBAC enforces access control between schemas.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663440"/>
            <a:ext cx="8631936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663440"/>
            <a:ext cx="91440" cy="38404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20624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Optimised (off-hours + 1yr commit): </a:t>
            </a:r>
            <a:r>
              <a:rPr lang="en-US" sz="1100" b="1" dirty="0">
                <a:solidFill>
                  <a:srgbClr val="06D6A0"/>
                </a:solidFill>
              </a:rPr>
              <a:t>~$350/mo  (~$4,200/yr)  </a:t>
            </a:r>
            <a:r>
              <a:rPr lang="en-US" sz="1100" dirty="0">
                <a:solidFill>
                  <a:srgbClr val="8FA3B1"/>
                </a:solidFill>
              </a:rPr>
              <a:t>   |   Off-hours + 3yr commit: </a:t>
            </a:r>
            <a:r>
              <a:rPr lang="en-US" sz="1100" b="1" dirty="0">
                <a:solidFill>
                  <a:srgbClr val="00B4D8"/>
                </a:solidFill>
              </a:rPr>
              <a:t>~$280/mo  (~$3,360/yr)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 Comparison: Current vs Databricks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— Dataiku + Snowflake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PROPOSED  — Databricks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335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Platform License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335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license (significant fixed cost)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68112" y="1335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87568" y="1335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Included in DBU consumption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56032" y="1792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1792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Compute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1792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infrastructure (fixed)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68112" y="1792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1792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Serverless — pay-per-use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2494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2249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2249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Database Cost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2249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Snowflake — separate license + compute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68112" y="2249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87568" y="2249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Delta Lake — S3 storage at $0.023/GB/mo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7066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56032" y="27066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27066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App Hosting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27066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webapp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68112" y="27066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87568" y="27066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Databricks Apps (0.5 DBU/hr)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1638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6032" y="31638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1638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 Governance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14600" y="31638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Manual / limited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68112" y="31638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87568" y="31638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Unity Catalog — included with Premium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6210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56032" y="3621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0040" y="3621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CI/CD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3621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Custom setup required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68112" y="3621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87568" y="3621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Databricks Asset Bundles (DABs) native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0782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078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4078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Dev/Stage Cost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14600" y="4078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Fixed (same as prod license cost)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68112" y="4078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87568" y="4078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Usage-based — auto-shutdown saves 40–60%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45354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256032" y="4535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4535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Annual Total (est.)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14600" y="4535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$30,900/yr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68112" y="4535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687568" y="4535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$4,200–$5,880/yr (optimised–conservative)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" y="5010912"/>
            <a:ext cx="8631936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Cost Strategy &amp; Savings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208483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Day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Go-Live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Pay-as-you-go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Auto-shutdown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~$350/mo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~$4,200/yr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86% vs DSS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Medium app (0.5 DBU/hr) all envs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547872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off-hours auto-shutdown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968496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Serverless SQL, no idle cost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438912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Unity Catalog included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432304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432304" y="960120"/>
            <a:ext cx="208483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Year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23744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1-Year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05456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~$230/mo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05456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~$2,760/yr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91% vs DSS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05456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05456" y="3127248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596896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Apply 1yr commit after usage proven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05456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505456" y="3547872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596896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Rate drops to ~$0.40–0.50/DBU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05456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05456" y="3968496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96896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Review app sizing (Small vs Medium)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05456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05456" y="4389120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596896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~25–45% further reduction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17136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63440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63440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2+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Optimised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Small App Size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+ 1yr CUD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36592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~$180/mo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4736592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~$2,160/yr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93% vs DSS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36592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36592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28032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Downsize Dev/Stage to Small (0.25 DBU)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36592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36592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828032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Prod stays Medium if load requires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36592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36592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828032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Further 50% App compute reduction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36592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36592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828032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share single workspace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748272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894576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894576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3+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Full Optimised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986016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3-Year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967728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~$140/mo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6967728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~$1,680/yr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95% vs DSS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967728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967728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059168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3yr commit: ~$0.30–0.40/DBU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967728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967728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059168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Lowest possible unit cost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967728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6967728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7059168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Full AI stack (Genie, MLflow) included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967728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967728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7059168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Cost well below any alternative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01168" y="5074920"/>
            <a:ext cx="8741664" cy="594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Migration Effort Estimation  —  9 Phases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~17 Weeks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0D1B2A"/>
                </a:solidFill>
              </a:rPr>
              <a:t>POC </a:t>
            </a:r>
            <a:r>
              <a:rPr lang="en-US" sz="1100" b="1">
                <a:solidFill>
                  <a:srgbClr val="0D1B2A"/>
                </a:solidFill>
              </a:rPr>
              <a:t>+ Migration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804672"/>
            <a:ext cx="8741664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7744" y="80467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8046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Phase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804672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36208" y="80467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Effort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0" y="8046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Weeks →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3115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54837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16559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8281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40003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" y="1133856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01168" y="1133856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46888" y="121615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46888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1704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Architecture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1170432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validation · Databricks workspace setup · Unity Catalog design · ADLC &amp; security review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36208" y="1225296"/>
            <a:ext cx="749808" cy="237744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36208" y="12252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1.5–2 wks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5810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27532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89254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0976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040880" y="1225296"/>
            <a:ext cx="1080135" cy="237744"/>
          </a:xfrm>
          <a:prstGeom prst="rect">
            <a:avLst/>
          </a:prstGeom>
          <a:solidFill>
            <a:srgbClr val="00B4D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040880" y="1225296"/>
            <a:ext cx="1080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1.5–2 wks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1168" y="1569110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01168" y="1569110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6888" y="1651406"/>
            <a:ext cx="256032" cy="256032"/>
          </a:xfrm>
          <a:prstGeom prst="ellipse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6888" y="16514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160568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CI/CD Setup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23160" y="1605686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setup · GitHub Actions · Service Principals · RBAC · Dev/Stage/Prod configuration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36208" y="1660550"/>
            <a:ext cx="749808" cy="237744"/>
          </a:xfrm>
          <a:prstGeom prst="rect">
            <a:avLst/>
          </a:prstGeom>
          <a:solidFill>
            <a:srgbClr val="0096B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36208" y="166055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 wks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5810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27532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89254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50976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040880" y="1660550"/>
            <a:ext cx="1851660" cy="237744"/>
          </a:xfrm>
          <a:prstGeom prst="rect">
            <a:avLst/>
          </a:prstGeom>
          <a:solidFill>
            <a:srgbClr val="0096B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040880" y="1660550"/>
            <a:ext cx="18516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 wks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" y="2004365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01168" y="2004365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46888" y="2086661"/>
            <a:ext cx="256032" cy="25603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46888" y="20866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6928" y="2040941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23160" y="2040941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 analysis · Delta Lake design · migration scripts · validation testing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36208" y="2095805"/>
            <a:ext cx="749808" cy="237744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236208" y="2095805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 wks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65810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27532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89254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50976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040880" y="2095805"/>
            <a:ext cx="1851660" cy="237744"/>
          </a:xfrm>
          <a:prstGeom prst="rect">
            <a:avLst/>
          </a:prstGeom>
          <a:solidFill>
            <a:srgbClr val="FFD16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040880" y="2095805"/>
            <a:ext cx="18516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 wks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01168" y="2439619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01168" y="2439619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46888" y="2521915"/>
            <a:ext cx="256032" cy="25603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46888" y="25219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6928" y="2476195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423160" y="2476195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adaptation for Databricks Apps · configuration refactoring · secrets management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36208" y="2531059"/>
            <a:ext cx="749808" cy="237744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236208" y="253105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4 wks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65810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827532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89254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950976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040880" y="2531059"/>
            <a:ext cx="2468880" cy="237744"/>
          </a:xfrm>
          <a:prstGeom prst="rect">
            <a:avLst/>
          </a:prstGeom>
          <a:solidFill>
            <a:srgbClr val="06D6A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040880" y="2531059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 wks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01168" y="2874874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201168" y="2874874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6888" y="2957170"/>
            <a:ext cx="256032" cy="256032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6888" y="29571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66928" y="291145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Integration Testing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2423160" y="2911450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validation · API testing · environment-specific configuration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236208" y="2966314"/>
            <a:ext cx="749808" cy="237744"/>
          </a:xfrm>
          <a:prstGeom prst="rect">
            <a:avLst/>
          </a:prstGeom>
          <a:solidFill>
            <a:srgbClr val="9B5DE5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6236208" y="296631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 wk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65810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827532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889254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950976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7040880" y="2966314"/>
            <a:ext cx="617220" cy="237744"/>
          </a:xfrm>
          <a:prstGeom prst="rect">
            <a:avLst/>
          </a:prstGeom>
          <a:solidFill>
            <a:srgbClr val="9B5DE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040880" y="2966314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 wk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01168" y="3310128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01168" y="3310128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46888" y="3392424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246888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66928" y="3346704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UAT Deployment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2423160" y="3346704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deployment · defect fixing · performance testing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236208" y="3401568"/>
            <a:ext cx="749808" cy="237744"/>
          </a:xfrm>
          <a:prstGeom prst="rect">
            <a:avLst/>
          </a:prstGeom>
          <a:solidFill>
            <a:srgbClr val="FF6B35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6236208" y="34015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 wk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65810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827532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889254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950976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7040880" y="3401568"/>
            <a:ext cx="617220" cy="237744"/>
          </a:xfrm>
          <a:prstGeom prst="rect">
            <a:avLst/>
          </a:prstGeom>
          <a:solidFill>
            <a:srgbClr val="FF6B3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7040880" y="3401568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 wk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01168" y="3745382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01168" y="3745382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246888" y="3827678"/>
            <a:ext cx="256032" cy="256032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246888" y="38276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566928" y="378195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Load Testing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2423160" y="3781958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 testing · Delta query tuning · compute optimization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236208" y="3836822"/>
            <a:ext cx="749808" cy="237744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6236208" y="383682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0.5 wk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65810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827532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889254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950976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7040880" y="3836822"/>
            <a:ext cx="308610" cy="237744"/>
          </a:xfrm>
          <a:prstGeom prst="rect">
            <a:avLst/>
          </a:prstGeom>
          <a:solidFill>
            <a:srgbClr val="EF476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201168" y="4180637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201168" y="4180637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246888" y="4262933"/>
            <a:ext cx="256032" cy="256032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46888" y="42629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566928" y="4217213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Prep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2423160" y="4217213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· rollback strategy · production readiness review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6236208" y="4272077"/>
            <a:ext cx="749808" cy="237744"/>
          </a:xfrm>
          <a:prstGeom prst="rect">
            <a:avLst/>
          </a:prstGeom>
          <a:solidFill>
            <a:srgbClr val="1A6B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6236208" y="4272077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 wk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65810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827532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889254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950976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7040880" y="4272077"/>
            <a:ext cx="617220" cy="237744"/>
          </a:xfrm>
          <a:prstGeom prst="rect">
            <a:avLst/>
          </a:prstGeom>
          <a:solidFill>
            <a:srgbClr val="1A6B8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7040880" y="4272077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 wk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201168" y="4615891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201168" y="4615891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246888" y="4698187"/>
            <a:ext cx="256032" cy="25603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246888" y="4698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566928" y="4652467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&amp; Hypercare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2423160" y="4652467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&amp; Databricks side-by-side validation · user acceptance · bug fixes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6236208" y="4707331"/>
            <a:ext cx="749808" cy="237744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6236208" y="4707331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 wks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765810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827532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889254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950976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7040880" y="4707331"/>
            <a:ext cx="1234440" cy="237744"/>
          </a:xfrm>
          <a:prstGeom prst="rect">
            <a:avLst/>
          </a:prstGeom>
          <a:solidFill>
            <a:srgbClr val="06D6A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7040880" y="4707331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 wks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201168" y="5087722"/>
            <a:ext cx="8741664" cy="31089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201168" y="5087722"/>
            <a:ext cx="54864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320040" y="508772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TOTAL ESTIMATED EFFORT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2606040" y="508772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~17 Weeks  (including 0.5–1 week buffer for risk and ADLC sign-off)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6766560" y="5087722"/>
            <a:ext cx="2121408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8" name="Text 146"/>
          <p:cNvSpPr/>
          <p:nvPr/>
        </p:nvSpPr>
        <p:spPr>
          <a:xfrm>
            <a:off x="6766560" y="508772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~4 months end-to-end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Effort by Phase  —  Visual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~17 Weeks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914400" cy="91440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2880" y="1143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" y="14447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Discovery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731520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0482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1.5–2w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97280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207008" y="960120"/>
            <a:ext cx="1188720" cy="1188720"/>
          </a:xfrm>
          <a:prstGeom prst="ellipse">
            <a:avLst/>
          </a:prstGeom>
          <a:solidFill>
            <a:srgbClr val="0096B7">
              <a:alpha val="85000"/>
            </a:srgbClr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07008" y="1005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Environment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&amp; CI/CD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35608" y="2185416"/>
            <a:ext cx="731520" cy="201168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35608" y="2185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95728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05456" y="960120"/>
            <a:ext cx="1188720" cy="1188720"/>
          </a:xfrm>
          <a:prstGeom prst="ellipse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05456" y="1005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14016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Migration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34056" y="2185416"/>
            <a:ext cx="731520" cy="2011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34056" y="2185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94176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03904" y="845820"/>
            <a:ext cx="1417320" cy="141732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03904" y="8915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12464" y="144475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Backend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Migration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46804" y="2299716"/>
            <a:ext cx="731520" cy="2011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146804" y="22997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4w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21224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330952" y="1152144"/>
            <a:ext cx="804672" cy="804672"/>
          </a:xfrm>
          <a:prstGeom prst="ellipse">
            <a:avLst/>
          </a:prstGeom>
          <a:solidFill>
            <a:srgbClr val="9B5DE5">
              <a:alpha val="85000"/>
            </a:srgbClr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30952" y="119786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9512" y="144475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Frontend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Integration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67528" y="1993392"/>
            <a:ext cx="731520" cy="2011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67528" y="1993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3255264"/>
            <a:ext cx="804672" cy="804672"/>
          </a:xfrm>
          <a:prstGeom prst="ellipse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" y="33009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1480" y="35478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QA &amp; UAT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Deployment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9496" y="4096512"/>
            <a:ext cx="731520" cy="20116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9496" y="4096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07592" y="363016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655064" y="3314700"/>
            <a:ext cx="685800" cy="685800"/>
          </a:xfrm>
          <a:prstGeom prst="ellipse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655064" y="33604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63624" y="354787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Perf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Load Test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32204" y="4037076"/>
            <a:ext cx="731520" cy="2011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632204" y="40370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0.5w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340864" y="363016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688336" y="3255264"/>
            <a:ext cx="804672" cy="804672"/>
          </a:xfrm>
          <a:prstGeom prst="ellipse">
            <a:avLst/>
          </a:prstGeom>
          <a:solidFill>
            <a:srgbClr val="1A6B8A">
              <a:alpha val="85000"/>
            </a:srgbClr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688336" y="33009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596896" y="35478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Prod Prep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24912" y="4096512"/>
            <a:ext cx="731520" cy="201168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724912" y="4096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1w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93008" y="363016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3840480" y="3154680"/>
            <a:ext cx="1005840" cy="100584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84048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749040" y="35478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Parallel Run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&amp; Hypercare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977640" y="4197096"/>
            <a:ext cx="731520" cy="2011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977640" y="4197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2w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4809744"/>
            <a:ext cx="164592" cy="16459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57200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Critical Path (Backend 4w)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020824" y="4809744"/>
            <a:ext cx="164592" cy="164592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221992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Infrastructure (Env+CI/CD 3w)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785616" y="4809744"/>
            <a:ext cx="164592" cy="1645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986784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Data (Migration 3w)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550408" y="4809744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751576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Validation (QA+Parallel 3w)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315200" y="4809744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516368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Other phases (4w)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3027</Words>
  <Application>Microsoft Office PowerPoint</Application>
  <PresentationFormat>On-screen Show (16:9)</PresentationFormat>
  <Paragraphs>604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Platform Migration – Dataiku to Databricks</dc:title>
  <dc:subject>PptxGenJS Presentation</dc:subject>
  <dc:creator>PptxGenJS</dc:creator>
  <cp:lastModifiedBy>Pramod Naik</cp:lastModifiedBy>
  <cp:revision>2</cp:revision>
  <dcterms:created xsi:type="dcterms:W3CDTF">2026-06-02T20:27:30Z</dcterms:created>
  <dcterms:modified xsi:type="dcterms:W3CDTF">2026-06-08T18:54:38Z</dcterms:modified>
</cp:coreProperties>
</file>