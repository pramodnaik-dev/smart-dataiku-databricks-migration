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
<Relationships xmlns="http://schemas.openxmlformats.org/package/2006/relationships">
  
		
  <Relationship Id="rId1" Type="http://schemas.openxmlformats.org/officeDocument/2006/relationships/extended-properties" Target="docProps/app.xml"/>
  
		
  <Relationship Id="rId2" Type="http://schemas.openxmlformats.org/package/2006/relationships/metadata/core-properties" Target="docProps/core.xml"/>
  
		
  <Relationship Id="rId3" Type="http://schemas.openxmlformats.org/officeDocument/2006/relationships/officeDocument" Target="ppt/presentation.xml"/>
  
		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notesMaster" Target="notesMasters/notesMaster1.xml"/>
  <Relationship Id="rId11" Type="http://schemas.openxmlformats.org/officeDocument/2006/relationships/presProps" Target="presProps.xml"/>
  <Relationship Id="rId12" Type="http://schemas.openxmlformats.org/officeDocument/2006/relationships/viewProps" Target="viewProps.xml"/>
  <Relationship Id="rId13" Type="http://schemas.openxmlformats.org/officeDocument/2006/relationships/theme" Target="theme/theme1.xml"/>
  <Relationship Id="rId14" Type="http://schemas.openxmlformats.org/officeDocument/2006/relationships/tableStyles" Target="tableStyles.xml"/>
  <Relationship Id="rId15" Type="http://schemas.openxmlformats.org/officeDocument/2006/relationships/slide" Target="slides/slide9.xml"/>
  <Relationship Id="rId16" Type="http://schemas.openxmlformats.org/officeDocument/2006/relationships/slide" Target="slides/slide10.xml"/>
  <Relationship Id="rId17" Type="http://schemas.openxmlformats.org/officeDocument/2006/relationships/slide" Target="slides/slide11.xml"/>
  <Relationship Id="rId18" Type="http://schemas.openxmlformats.org/officeDocument/2006/relationships/slide" Target="slides/slide12.xml"/>
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</Relationships>

</file>

<file path=ppt/charts/_rels/chart1.xml.rels><?xml version="1.0" encoding="utf-8"?>
<Relationships xmlns="http://schemas.openxmlformats.org/package/2006/relationships">
  <Relationship Id="rId1" Type="http://schemas.openxmlformats.org/officeDocument/2006/relationships/package" Target="../embeddings/Microsoft_Excel_Worksheet1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Dataiku DSS (Current)</c:v>
                </c:pt>
              </c:strCache>
            </c:strRef>
          </c:tx>
          <c:spPr>
            <a:solidFill>
              <a:srgbClr val="EF47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Licensing</c:v>
                  </c:pt>
                  <c:pt idx="1">
                    <c:v>Compute</c:v>
                  </c:pt>
                  <c:pt idx="2">
                    <c:v>Storage</c:v>
                  </c:pt>
                  <c:pt idx="3">
                    <c:v>Support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30900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Databricks (Proposed — Conservative)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Licensing</c:v>
                  </c:pt>
                  <c:pt idx="1">
                    <c:v>Compute</c:v>
                  </c:pt>
                  <c:pt idx="2">
                    <c:v>Storage</c:v>
                  </c:pt>
                  <c:pt idx="3">
                    <c:v>Support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5516</c:v>
                </c:pt>
                <c:pt idx="2">
                  <c:v>336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4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43B5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
  
		
  <Relationship Id="rId1" Type="http://schemas.openxmlformats.org/officeDocument/2006/relationships/theme" Target="../theme/theme1.xml"/>
  
		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.xml"/>
  
		
</Relationships>

</file>

<file path=ppt/notesSlides/_rels/notesSlide2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2.xml"/>
  
		
</Relationships>

</file>

<file path=ppt/notesSlides/_rels/notesSlide3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3.xml"/>
  
		
</Relationships>

</file>

<file path=ppt/notesSlides/_rels/notesSlide4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4.xml"/>
  
		
</Relationships>

</file>

<file path=ppt/notesSlides/_rels/notesSlide5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5.xml"/>
  
		
</Relationships>

</file>

<file path=ppt/notesSlides/_rels/notesSlide6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6.xml"/>
  
		
</Relationships>

</file>

<file path=ppt/notesSlides/_rels/notesSlide7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7.xml"/>
  
		
</Relationships>

</file>

<file path=ppt/notesSlides/_rels/notesSlide8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8.xml"/>
  
		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chart" Target="/ppt/charts/chart1.xml"/>
  <Relationship Id="rId2" Type="http://schemas.openxmlformats.org/officeDocument/2006/relationships/slideLayout" Target="../slideLayouts/slideLayout1.xml"/>
  <Relationship Id="rId3" Type="http://schemas.openxmlformats.org/officeDocument/2006/relationships/notesSlide" Target="../notesSlides/notesSlide4.xml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
</file>

<file path=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
</file>

<file path=ppt/slides/_rels/slide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
</file>

<file path=ppt/slides/_rels/slide9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1.xml"/>
  </Relationships>
</file>

<file path=ppt/slides/_rels/slide10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1.xml"/>
  </Relationships>
</file>

<file path=ppt/slides/_rels/slide11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1.xml"/>
  </Relationships>
</file>

<file path=ppt/slides/_rels/slide12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1.xml"/>
  </Relationships>
</file>

<file path=ppt/slides/_rels/slide13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1.xml"/>
  </Relationships>
</file>

<file path=ppt/slides/_rels/slide14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1.xml"/>
  </Relationships>
</file>

<file path=ppt/slides/_rels/slide15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1.xml"/>
  </Relationships>
</file>

<file path=ppt/slides/_rels/slide16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1.xml"/>
  </Relationships>
</file>

<file path=ppt/slides/_rels/slide17.xml.rels><?xml version='1.0' encoding='UTF-8' standalone='yes'?>
<Relationships xmlns="http://schemas.openxmlformats.org/package/2006/relationships">
  <Relationship Id="rId1" Type="http://schemas.openxmlformats.org/officeDocument/2006/relationships/chart" Target="/ppt/charts/chart1.xml"/>
  <Relationship Id="rId2" Type="http://schemas.openxmlformats.org/officeDocument/2006/relationships/slideLayout" Target="../slideLayouts/slideLayout1.xml"/>
  </Relationships>
</file>

<file path=ppt/slides/_rels/slide18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1.xml"/>
  </Relationships>
</file>

<file path=ppt/slides/_rels/slide19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1.xml"/>
  </Relationships>
</file>

<file path=ppt/slides/_rels/slide20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1.xml"/>
  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5" name="Shape 3"/>
          <p:cNvSpPr/>
          <p:nvPr/>
        </p:nvSpPr>
        <p:spPr>
          <a:xfrm>
            <a:off x="6492240" y="457200"/>
            <a:ext cx="2377440" cy="237744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40880" y="1005840"/>
            <a:ext cx="1280160" cy="1280160"/>
          </a:xfrm>
          <a:prstGeom prst="ellipse">
            <a:avLst/>
          </a:prstGeom>
          <a:solidFill>
            <a:srgbClr val="00B4D8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731520"/>
            <a:ext cx="2560320" cy="31089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7315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PLATFORM MIGRATION PROPOSAL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Dataiku DSS + Snowflake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5760" y="24231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Databricks Apps + Delta Lake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1"/>
                </a:solidFill>
              </a:rPr>
              <a:t>May 2026  ·  v1.0  ·  Draft for Review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Business Owners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719072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6" name="Text 14"/>
          <p:cNvSpPr/>
          <p:nvPr/>
        </p:nvSpPr>
        <p:spPr>
          <a:xfrm>
            <a:off x="1719072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Dev Team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72384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8" name="Text 16"/>
          <p:cNvSpPr/>
          <p:nvPr/>
        </p:nvSpPr>
        <p:spPr>
          <a:xfrm>
            <a:off x="3072384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Management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425696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20" name="Text 18"/>
          <p:cNvSpPr/>
          <p:nvPr/>
        </p:nvSpPr>
        <p:spPr>
          <a:xfrm>
            <a:off x="4425696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Digital/Platform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28016" y="4846320"/>
            <a:ext cx="9015984" cy="29718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846320"/>
            <a:ext cx="8686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ATP GPD Expl Workspace  ·  Unity Catalog: gpdip_smart_us_east_1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Case for Change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24912" cy="16002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724912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78992"/>
            <a:ext cx="27249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" y="1847088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Cost Reduction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139696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$30,900 → ~$4,200/yr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4408" y="960120"/>
            <a:ext cx="2724912" cy="16002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960120"/>
            <a:ext cx="2724912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1078992"/>
            <a:ext cx="27249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$26.7K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64408" y="1847088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Annual Savings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2139696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Break-even within year 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08776" y="960120"/>
            <a:ext cx="2724912" cy="16002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8776" y="960120"/>
            <a:ext cx="2724912" cy="731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7" name="Text 15"/>
          <p:cNvSpPr/>
          <p:nvPr/>
        </p:nvSpPr>
        <p:spPr>
          <a:xfrm>
            <a:off x="6208776" y="1078992"/>
            <a:ext cx="27249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wks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208776" y="1847088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Migration Timeline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08776" y="2139696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Existing team, phased delivery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743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B4D8"/>
                </a:solidFill>
              </a:rPr>
              <a:t>WHY MIGRATE NOW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090672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090672"/>
            <a:ext cx="73152" cy="74980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" y="31455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High Fixed Cost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" y="34107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4444"/>
                </a:solidFill>
              </a:rPr>
              <a:t>3 DSS Designer licenses @ $10,300 each — fixed regardless of usage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968496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968496"/>
            <a:ext cx="73152" cy="74980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" y="40233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Platform Dependency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" y="42885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4444"/>
                </a:solidFill>
              </a:rPr>
              <a:t>Every deployment needs Platform Support team scheduling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090672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090672"/>
            <a:ext cx="73152" cy="74980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31" name="Text 29"/>
          <p:cNvSpPr/>
          <p:nvPr/>
        </p:nvSpPr>
        <p:spPr>
          <a:xfrm>
            <a:off x="4965192" y="31455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Limited AI Ecosystem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65192" y="34107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4444"/>
                </a:solidFill>
              </a:rPr>
              <a:t>No native LLMs, MLflow, model serving, or vector search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3968496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3968496"/>
            <a:ext cx="73152" cy="74980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35" name="Text 33"/>
          <p:cNvSpPr/>
          <p:nvPr/>
        </p:nvSpPr>
        <p:spPr>
          <a:xfrm>
            <a:off x="4965192" y="40233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Strategic Misalignment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65192" y="42885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4444"/>
                </a:solidFill>
              </a:rPr>
              <a:t>DSS + Snowflake outside GPDIP platform direction — growing technical debt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Current  →  Target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3931920" cy="36576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32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CURRENT  (Dataiku DSS + Snowflake)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389888"/>
            <a:ext cx="3931920" cy="512064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38988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1444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" y="16459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Dataiku DSS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956816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28600" y="1956816"/>
            <a:ext cx="393192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" y="2011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Framework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" y="22128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Python Flask / FastAPI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523744"/>
            <a:ext cx="3931920" cy="512064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" y="2523744"/>
            <a:ext cx="393192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" y="25786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Database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2608" y="27797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Snowflake  (14 tables, &lt;100 GB)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3090672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28600" y="3090672"/>
            <a:ext cx="393192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" y="31455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Deployment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2608" y="33467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Manual DSS Bundle — Platform Team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3657600"/>
            <a:ext cx="3931920" cy="512064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4" name="Shape 22"/>
          <p:cNvSpPr/>
          <p:nvPr/>
        </p:nvSpPr>
        <p:spPr>
          <a:xfrm>
            <a:off x="228600" y="3657600"/>
            <a:ext cx="393192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25" name="Text 23"/>
          <p:cNvSpPr/>
          <p:nvPr/>
        </p:nvSpPr>
        <p:spPr>
          <a:xfrm>
            <a:off x="292608" y="37124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Environments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2608" y="39136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3 physically isolated DSS instances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8600" y="4224528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" y="422452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29" name="Text 27"/>
          <p:cNvSpPr/>
          <p:nvPr/>
        </p:nvSpPr>
        <p:spPr>
          <a:xfrm>
            <a:off x="292608" y="42793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AI / ML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2608" y="44805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Not available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97680" y="2286000"/>
            <a:ext cx="54864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4251960" y="2103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→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4983480" y="932688"/>
            <a:ext cx="393192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932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TARGET  (Databricks Apps + Delta Lake)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83480" y="1389888"/>
            <a:ext cx="3931920" cy="512064"/>
          </a:xfrm>
          <a:prstGeom prst="rect">
            <a:avLst/>
          </a:prstGeom>
          <a:solidFill>
            <a:srgbClr val="F0FDF9"/>
          </a:solidFill>
          <a:ln/>
        </p:spPr>
      </p:sp>
      <p:sp>
        <p:nvSpPr>
          <p:cNvPr id="36" name="Shape 34"/>
          <p:cNvSpPr/>
          <p:nvPr/>
        </p:nvSpPr>
        <p:spPr>
          <a:xfrm>
            <a:off x="4983480" y="138988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37" name="Text 35"/>
          <p:cNvSpPr/>
          <p:nvPr/>
        </p:nvSpPr>
        <p:spPr>
          <a:xfrm>
            <a:off x="5047488" y="1444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Platform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47488" y="16459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Databricks Apps  (ATP GPD Expl)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983480" y="1956816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983480" y="1956816"/>
            <a:ext cx="393192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41" name="Text 39"/>
          <p:cNvSpPr/>
          <p:nvPr/>
        </p:nvSpPr>
        <p:spPr>
          <a:xfrm>
            <a:off x="5047488" y="2011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Framework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47488" y="22128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Python Flask / FastAPI  (unchanged)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983480" y="2523744"/>
            <a:ext cx="3931920" cy="512064"/>
          </a:xfrm>
          <a:prstGeom prst="rect">
            <a:avLst/>
          </a:prstGeom>
          <a:solidFill>
            <a:srgbClr val="F0FDF9"/>
          </a:solidFill>
          <a:ln/>
        </p:spPr>
      </p:sp>
      <p:sp>
        <p:nvSpPr>
          <p:cNvPr id="44" name="Shape 42"/>
          <p:cNvSpPr/>
          <p:nvPr/>
        </p:nvSpPr>
        <p:spPr>
          <a:xfrm>
            <a:off x="4983480" y="2523744"/>
            <a:ext cx="393192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45" name="Text 43"/>
          <p:cNvSpPr/>
          <p:nvPr/>
        </p:nvSpPr>
        <p:spPr>
          <a:xfrm>
            <a:off x="5047488" y="25786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Database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47488" y="27797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Delta Lake  (Unity Catalog, dedicated)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983480" y="3090672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4983480" y="3090672"/>
            <a:ext cx="393192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49" name="Text 47"/>
          <p:cNvSpPr/>
          <p:nvPr/>
        </p:nvSpPr>
        <p:spPr>
          <a:xfrm>
            <a:off x="5047488" y="31455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Deployment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47488" y="33467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CI/CD  (GitHub Actions + DAB, automated)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983480" y="3657600"/>
            <a:ext cx="3931920" cy="512064"/>
          </a:xfrm>
          <a:prstGeom prst="rect">
            <a:avLst/>
          </a:prstGeom>
          <a:solidFill>
            <a:srgbClr val="F0FDF9"/>
          </a:solidFill>
          <a:ln/>
        </p:spPr>
      </p:sp>
      <p:sp>
        <p:nvSpPr>
          <p:cNvPr id="52" name="Shape 50"/>
          <p:cNvSpPr/>
          <p:nvPr/>
        </p:nvSpPr>
        <p:spPr>
          <a:xfrm>
            <a:off x="4983480" y="3657600"/>
            <a:ext cx="393192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53" name="Text 51"/>
          <p:cNvSpPr/>
          <p:nvPr/>
        </p:nvSpPr>
        <p:spPr>
          <a:xfrm>
            <a:off x="5047488" y="37124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Environments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47488" y="39136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3 schemas in one catalog  (RBAC isolated)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983480" y="4224528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4983480" y="422452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57" name="Text 55"/>
          <p:cNvSpPr/>
          <p:nvPr/>
        </p:nvSpPr>
        <p:spPr>
          <a:xfrm>
            <a:off x="5047488" y="42793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AI / ML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047488" y="44805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D6A0"/>
                </a:solidFill>
              </a:rPr>
              <a:t>MLflow · Model Serving · Genie AI  ✓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Cost Analysis &amp; ROI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56032" y="868680"/>
          <a:ext cx="5120640" cy="352044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914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</a:rPr>
              <a:t>DATABRICKS BREAKDOWN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577840" y="117043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3B1"/>
                </a:solidFill>
              </a:rPr>
              <a:t>Conservative scenario · annual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577840" y="1389888"/>
            <a:ext cx="3291840" cy="420624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9" name="Shape 6"/>
          <p:cNvSpPr/>
          <p:nvPr/>
        </p:nvSpPr>
        <p:spPr>
          <a:xfrm>
            <a:off x="5577840" y="1389888"/>
            <a:ext cx="45720" cy="42062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0" y="14264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DE6"/>
                </a:solidFill>
              </a:rPr>
              <a:t>Prod App compute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669280" y="1609344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B1"/>
                </a:solidFill>
              </a:rPr>
              <a:t>24/7, $305/mo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498080" y="144475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~$3,660/yr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77840" y="1865376"/>
            <a:ext cx="3291840" cy="420624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4" name="Shape 11"/>
          <p:cNvSpPr/>
          <p:nvPr/>
        </p:nvSpPr>
        <p:spPr>
          <a:xfrm>
            <a:off x="5577840" y="1865376"/>
            <a:ext cx="45720" cy="42062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0" y="19019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DE6"/>
                </a:solidFill>
              </a:rPr>
              <a:t>Dev App compute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669280" y="208483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B1"/>
                </a:solidFill>
              </a:rPr>
              <a:t>10h/day, $110/mo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498080" y="19202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~$1,320/yr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577840" y="2340864"/>
            <a:ext cx="3291840" cy="420624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9" name="Shape 16"/>
          <p:cNvSpPr/>
          <p:nvPr/>
        </p:nvSpPr>
        <p:spPr>
          <a:xfrm>
            <a:off x="5577840" y="2340864"/>
            <a:ext cx="45720" cy="42062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0" y="2377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DE6"/>
                </a:solidFill>
              </a:rPr>
              <a:t>Stage App compute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669280" y="25603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B1"/>
                </a:solidFill>
              </a:rPr>
              <a:t>8h/day, $75/mo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498080" y="239572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~$900/yr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577840" y="2816352"/>
            <a:ext cx="3291840" cy="420624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24" name="Shape 21"/>
          <p:cNvSpPr/>
          <p:nvPr/>
        </p:nvSpPr>
        <p:spPr>
          <a:xfrm>
            <a:off x="5577840" y="2816352"/>
            <a:ext cx="45720" cy="42062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2"/>
          <p:cNvSpPr/>
          <p:nvPr/>
        </p:nvSpPr>
        <p:spPr>
          <a:xfrm>
            <a:off x="5669280" y="28529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DE6"/>
                </a:solidFill>
              </a:rPr>
              <a:t>SQL Warehouses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669280" y="303580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B1"/>
                </a:solidFill>
              </a:rPr>
              <a:t>All envs combined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498080" y="28712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~$2,880/yr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577840" y="3291840"/>
            <a:ext cx="3291840" cy="420624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29" name="Shape 26"/>
          <p:cNvSpPr/>
          <p:nvPr/>
        </p:nvSpPr>
        <p:spPr>
          <a:xfrm>
            <a:off x="5577840" y="3291840"/>
            <a:ext cx="45720" cy="42062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0" name="Text 27"/>
          <p:cNvSpPr/>
          <p:nvPr/>
        </p:nvSpPr>
        <p:spPr>
          <a:xfrm>
            <a:off x="5669280" y="33284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DE6"/>
                </a:solidFill>
              </a:rPr>
              <a:t>Delta Lake storage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669280" y="3511296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B1"/>
                </a:solidFill>
              </a:rPr>
              <a:t>~70GB avg, $14/mo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498080" y="334670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~$168/yr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577840" y="3767328"/>
            <a:ext cx="3291840" cy="420624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34" name="Shape 31"/>
          <p:cNvSpPr/>
          <p:nvPr/>
        </p:nvSpPr>
        <p:spPr>
          <a:xfrm>
            <a:off x="5577840" y="3767328"/>
            <a:ext cx="45720" cy="42062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5" name="Text 32"/>
          <p:cNvSpPr/>
          <p:nvPr/>
        </p:nvSpPr>
        <p:spPr>
          <a:xfrm>
            <a:off x="5669280" y="38039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DE6"/>
                </a:solidFill>
              </a:rPr>
              <a:t>Unity Catalog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669280" y="3986784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B1"/>
                </a:solidFill>
              </a:rPr>
              <a:t>Premium tier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498080" y="382219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Included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577840" y="4261104"/>
            <a:ext cx="3291840" cy="475488"/>
          </a:xfrm>
          <a:prstGeom prst="rect">
            <a:avLst/>
          </a:prstGeom>
          <a:solidFill>
            <a:srgbClr val="06D6A0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5577840" y="426110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TOTAL  ~$5,880 / year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256032" y="4828032"/>
            <a:ext cx="8631936" cy="228600"/>
          </a:xfrm>
          <a:prstGeom prst="rect">
            <a:avLst/>
          </a:prstGeom>
          <a:solidFill>
            <a:srgbClr val="243B5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💰  Annual Savings: ~$25,020  (81% reduction)  ·  Conservative scenario  ·  Optimised (off-hours + 1yr CUD): ~$4,200/yr  (86% saving)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Deployment Model &amp; ADLC Compliance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B4D8"/>
                </a:solidFill>
              </a:rPr>
              <a:t>CI/CD DEPLOYMENT WORKFLOW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754880" cy="8229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98448"/>
            <a:ext cx="91440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99616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9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3624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develop branch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645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CI/CD → smart-app-dev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618488"/>
            <a:ext cx="1737360" cy="274320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618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Dev self-testing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121408"/>
            <a:ext cx="54864" cy="201168"/>
          </a:xfrm>
          <a:prstGeom prst="rect">
            <a:avLst/>
          </a:prstGeom>
          <a:solidFill>
            <a:srgbClr val="8FA3B1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322576"/>
            <a:ext cx="4754880" cy="8229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22576"/>
            <a:ext cx="91440" cy="82296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2523744"/>
            <a:ext cx="420624" cy="42062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3865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stage branch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700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CI/CD → smart-app-stage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642616"/>
            <a:ext cx="1737360" cy="274320"/>
          </a:xfrm>
          <a:prstGeom prst="rect">
            <a:avLst/>
          </a:prstGeom>
          <a:solidFill>
            <a:srgbClr val="FFD166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26426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QA / UAT (qTest)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3145536"/>
            <a:ext cx="54864" cy="201168"/>
          </a:xfrm>
          <a:prstGeom prst="rect">
            <a:avLst/>
          </a:prstGeom>
          <a:solidFill>
            <a:srgbClr val="8FA3B1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3346704"/>
            <a:ext cx="4754880" cy="8229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346704"/>
            <a:ext cx="91440" cy="8229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3547872"/>
            <a:ext cx="420624" cy="42062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4107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main branch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369417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CI/CD → smart-app-prod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3666744"/>
            <a:ext cx="1737360" cy="274320"/>
          </a:xfrm>
          <a:prstGeom prst="rect">
            <a:avLst/>
          </a:prstGeom>
          <a:solidFill>
            <a:srgbClr val="06D6A0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0" y="36667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RFC gate required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03520" y="9326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B4D8"/>
                </a:solidFill>
              </a:rPr>
              <a:t>ADLC COMPLIANCE SATISFIED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03520" y="1298448"/>
            <a:ext cx="35661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5303520" y="1298448"/>
            <a:ext cx="356616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35" name="Shape 33"/>
          <p:cNvSpPr/>
          <p:nvPr/>
        </p:nvSpPr>
        <p:spPr>
          <a:xfrm>
            <a:off x="5376672" y="1453896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6" name="Text 34"/>
          <p:cNvSpPr/>
          <p:nvPr/>
        </p:nvSpPr>
        <p:spPr>
          <a:xfrm>
            <a:off x="5376672" y="14538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50992" y="133502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QA vs Prod separation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50992" y="157276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Schema isolation + UC RBAC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03520" y="1883664"/>
            <a:ext cx="3566160" cy="530352"/>
          </a:xfrm>
          <a:prstGeom prst="rect">
            <a:avLst/>
          </a:prstGeom>
          <a:solidFill>
            <a:srgbClr val="F0FDF9"/>
          </a:solidFill>
          <a:ln/>
        </p:spPr>
      </p:sp>
      <p:sp>
        <p:nvSpPr>
          <p:cNvPr id="40" name="Shape 38"/>
          <p:cNvSpPr/>
          <p:nvPr/>
        </p:nvSpPr>
        <p:spPr>
          <a:xfrm>
            <a:off x="5303520" y="1883664"/>
            <a:ext cx="356616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41" name="Shape 39"/>
          <p:cNvSpPr/>
          <p:nvPr/>
        </p:nvSpPr>
        <p:spPr>
          <a:xfrm>
            <a:off x="5376672" y="2039112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42" name="Text 40"/>
          <p:cNvSpPr/>
          <p:nvPr/>
        </p:nvSpPr>
        <p:spPr>
          <a:xfrm>
            <a:off x="5376672" y="2039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50992" y="192024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Validation before prod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50992" y="215798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ServiceNow RFC gates CI/CD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303520" y="2468880"/>
            <a:ext cx="35661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5303520" y="2468880"/>
            <a:ext cx="356616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47" name="Shape 45"/>
          <p:cNvSpPr/>
          <p:nvPr/>
        </p:nvSpPr>
        <p:spPr>
          <a:xfrm>
            <a:off x="5376672" y="2624328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48" name="Text 46"/>
          <p:cNvSpPr/>
          <p:nvPr/>
        </p:nvSpPr>
        <p:spPr>
          <a:xfrm>
            <a:off x="5376672" y="26243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650992" y="2505456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Test evidence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650992" y="274320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qTest (unchanged)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03520" y="3054096"/>
            <a:ext cx="3566160" cy="530352"/>
          </a:xfrm>
          <a:prstGeom prst="rect">
            <a:avLst/>
          </a:prstGeom>
          <a:solidFill>
            <a:srgbClr val="F0FDF9"/>
          </a:solidFill>
          <a:ln/>
        </p:spPr>
      </p:sp>
      <p:sp>
        <p:nvSpPr>
          <p:cNvPr id="52" name="Shape 50"/>
          <p:cNvSpPr/>
          <p:nvPr/>
        </p:nvSpPr>
        <p:spPr>
          <a:xfrm>
            <a:off x="5303520" y="3054096"/>
            <a:ext cx="356616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53" name="Shape 51"/>
          <p:cNvSpPr/>
          <p:nvPr/>
        </p:nvSpPr>
        <p:spPr>
          <a:xfrm>
            <a:off x="5376672" y="3209544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54" name="Text 52"/>
          <p:cNvSpPr/>
          <p:nvPr/>
        </p:nvSpPr>
        <p:spPr>
          <a:xfrm>
            <a:off x="5376672" y="32095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650992" y="3090672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Change tracking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650992" y="3328416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Jira + RFC + Git history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303520" y="3639312"/>
            <a:ext cx="35661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5303520" y="3639312"/>
            <a:ext cx="356616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59" name="Shape 57"/>
          <p:cNvSpPr/>
          <p:nvPr/>
        </p:nvSpPr>
        <p:spPr>
          <a:xfrm>
            <a:off x="5376672" y="3794760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60" name="Text 58"/>
          <p:cNvSpPr/>
          <p:nvPr/>
        </p:nvSpPr>
        <p:spPr>
          <a:xfrm>
            <a:off x="5376672" y="3794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650992" y="367588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Prod access control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650992" y="3913632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CI/CD service principal only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303520" y="4224528"/>
            <a:ext cx="3566160" cy="530352"/>
          </a:xfrm>
          <a:prstGeom prst="rect">
            <a:avLst/>
          </a:prstGeom>
          <a:solidFill>
            <a:srgbClr val="F0FDF9"/>
          </a:solidFill>
          <a:ln/>
        </p:spPr>
      </p:sp>
      <p:sp>
        <p:nvSpPr>
          <p:cNvPr id="64" name="Shape 62"/>
          <p:cNvSpPr/>
          <p:nvPr/>
        </p:nvSpPr>
        <p:spPr>
          <a:xfrm>
            <a:off x="5303520" y="4224528"/>
            <a:ext cx="3566160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65" name="Shape 63"/>
          <p:cNvSpPr/>
          <p:nvPr/>
        </p:nvSpPr>
        <p:spPr>
          <a:xfrm>
            <a:off x="5376672" y="4379976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66" name="Text 64"/>
          <p:cNvSpPr/>
          <p:nvPr/>
        </p:nvSpPr>
        <p:spPr>
          <a:xfrm>
            <a:off x="5376672" y="4379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650992" y="426110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Audit trail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650992" y="449884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UC audit log + CI/CD runs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303520" y="4809744"/>
            <a:ext cx="3566160" cy="21945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0" name="Text 68"/>
          <p:cNvSpPr/>
          <p:nvPr/>
        </p:nvSpPr>
        <p:spPr>
          <a:xfrm>
            <a:off x="5303520" y="48097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ServiceNow RFC process fully preserved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AI Integration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2743200" cy="4005072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27432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1261872" y="1097280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126187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7472" y="1938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— Post Migration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3192" y="254203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Shape 9"/>
          <p:cNvSpPr/>
          <p:nvPr/>
        </p:nvSpPr>
        <p:spPr>
          <a:xfrm>
            <a:off x="393192" y="254203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" y="258775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Flask/FastAPI unchanged on Databricks Apps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3192" y="309067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Shape 12"/>
          <p:cNvSpPr/>
          <p:nvPr/>
        </p:nvSpPr>
        <p:spPr>
          <a:xfrm>
            <a:off x="393192" y="309067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" y="31363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replaces Snowflake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3192" y="363931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Shape 15"/>
          <p:cNvSpPr/>
          <p:nvPr/>
        </p:nvSpPr>
        <p:spPr>
          <a:xfrm>
            <a:off x="393192" y="363931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" y="36850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user experience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3192" y="418795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Shape 18"/>
          <p:cNvSpPr/>
          <p:nvPr/>
        </p:nvSpPr>
        <p:spPr>
          <a:xfrm>
            <a:off x="393192" y="418795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" y="42336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all future AI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27832" y="960120"/>
            <a:ext cx="2743200" cy="4005072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27832" y="960120"/>
            <a:ext cx="2743200" cy="731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4" name="Shape 22"/>
          <p:cNvSpPr/>
          <p:nvPr/>
        </p:nvSpPr>
        <p:spPr>
          <a:xfrm>
            <a:off x="4233672" y="1097280"/>
            <a:ext cx="731520" cy="73152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5" name="Text 23"/>
          <p:cNvSpPr/>
          <p:nvPr/>
        </p:nvSpPr>
        <p:spPr>
          <a:xfrm>
            <a:off x="423367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319272" y="1938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— What-If Analysis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64992" y="254203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8" name="Shape 26"/>
          <p:cNvSpPr/>
          <p:nvPr/>
        </p:nvSpPr>
        <p:spPr>
          <a:xfrm>
            <a:off x="3364992" y="254203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9" name="Text 27"/>
          <p:cNvSpPr/>
          <p:nvPr/>
        </p:nvSpPr>
        <p:spPr>
          <a:xfrm>
            <a:off x="3465576" y="258775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MLflow: scenario comparison &amp; tracking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64992" y="309067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1" name="Shape 29"/>
          <p:cNvSpPr/>
          <p:nvPr/>
        </p:nvSpPr>
        <p:spPr>
          <a:xfrm>
            <a:off x="3364992" y="309067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2" name="Text 30"/>
          <p:cNvSpPr/>
          <p:nvPr/>
        </p:nvSpPr>
        <p:spPr>
          <a:xfrm>
            <a:off x="3465576" y="31363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Workflows: parallel runs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64992" y="363931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4" name="Shape 32"/>
          <p:cNvSpPr/>
          <p:nvPr/>
        </p:nvSpPr>
        <p:spPr>
          <a:xfrm>
            <a:off x="3364992" y="363931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5" name="Text 33"/>
          <p:cNvSpPr/>
          <p:nvPr/>
        </p:nvSpPr>
        <p:spPr>
          <a:xfrm>
            <a:off x="3465576" y="36850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AI: instant enrollment predictions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64992" y="418795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7" name="Shape 35"/>
          <p:cNvSpPr/>
          <p:nvPr/>
        </p:nvSpPr>
        <p:spPr>
          <a:xfrm>
            <a:off x="3364992" y="418795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8" name="Text 36"/>
          <p:cNvSpPr/>
          <p:nvPr/>
        </p:nvSpPr>
        <p:spPr>
          <a:xfrm>
            <a:off x="3465576" y="42336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Feature Store: shared features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99632" y="960120"/>
            <a:ext cx="2743200" cy="4005072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99632" y="960120"/>
            <a:ext cx="2743200" cy="7315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41" name="Shape 39"/>
          <p:cNvSpPr/>
          <p:nvPr/>
        </p:nvSpPr>
        <p:spPr>
          <a:xfrm>
            <a:off x="7205472" y="1097280"/>
            <a:ext cx="731520" cy="731520"/>
          </a:xfrm>
          <a:prstGeom prst="ellipse">
            <a:avLst/>
          </a:prstGeom>
          <a:solidFill>
            <a:srgbClr val="9B5DE5"/>
          </a:solidFill>
          <a:ln/>
        </p:spPr>
      </p:sp>
      <p:sp>
        <p:nvSpPr>
          <p:cNvPr id="42" name="Text 40"/>
          <p:cNvSpPr/>
          <p:nvPr/>
        </p:nvSpPr>
        <p:spPr>
          <a:xfrm>
            <a:off x="720547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3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291072" y="1938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— Future Enhancements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36792" y="254203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5" name="Shape 43"/>
          <p:cNvSpPr/>
          <p:nvPr/>
        </p:nvSpPr>
        <p:spPr>
          <a:xfrm>
            <a:off x="6336792" y="254203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46" name="Text 44"/>
          <p:cNvSpPr/>
          <p:nvPr/>
        </p:nvSpPr>
        <p:spPr>
          <a:xfrm>
            <a:off x="6437376" y="258775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AI: natural language data queries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36792" y="309067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8" name="Shape 46"/>
          <p:cNvSpPr/>
          <p:nvPr/>
        </p:nvSpPr>
        <p:spPr>
          <a:xfrm>
            <a:off x="6336792" y="309067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49" name="Text 47"/>
          <p:cNvSpPr/>
          <p:nvPr/>
        </p:nvSpPr>
        <p:spPr>
          <a:xfrm>
            <a:off x="6437376" y="31363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site activation ML model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36792" y="363931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1" name="Shape 49"/>
          <p:cNvSpPr/>
          <p:nvPr/>
        </p:nvSpPr>
        <p:spPr>
          <a:xfrm>
            <a:off x="6336792" y="363931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52" name="Text 50"/>
          <p:cNvSpPr/>
          <p:nvPr/>
        </p:nvSpPr>
        <p:spPr>
          <a:xfrm>
            <a:off x="6437376" y="36850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scenario generation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36792" y="418795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4" name="Shape 52"/>
          <p:cNvSpPr/>
          <p:nvPr/>
        </p:nvSpPr>
        <p:spPr>
          <a:xfrm>
            <a:off x="6336792" y="418795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55" name="Text 53"/>
          <p:cNvSpPr/>
          <p:nvPr/>
        </p:nvSpPr>
        <p:spPr>
          <a:xfrm>
            <a:off x="6437376" y="42336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on simulation inputs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56032" y="4828032"/>
            <a:ext cx="8631936" cy="228600"/>
          </a:xfrm>
          <a:prstGeom prst="rect">
            <a:avLst/>
          </a:prstGeom>
          <a:solidFill>
            <a:srgbClr val="1A2E4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6032" y="4828032"/>
            <a:ext cx="8631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E0EF"/>
                </a:solidFill>
              </a:rPr>
              <a:t>All AI capabilities available at no additional infrastructure cost on Databricks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Migration Plan  —  20 Weeks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60120"/>
            <a:ext cx="1627632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107899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Foundation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" y="2084832"/>
            <a:ext cx="1335024" cy="256032"/>
          </a:xfrm>
          <a:prstGeom prst="rect">
            <a:avLst/>
          </a:prstGeom>
          <a:solidFill>
            <a:srgbClr val="00B4D8">
              <a:alpha val="2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29184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Wks 1–4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2468880"/>
            <a:ext cx="54864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Unity Catalog + RBAC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3218688"/>
            <a:ext cx="54864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setup (DAB)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3968496"/>
            <a:ext cx="54864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ADLC compliance sign-off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56816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956816" y="960120"/>
            <a:ext cx="1627632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3" name="Shape 21"/>
          <p:cNvSpPr/>
          <p:nvPr/>
        </p:nvSpPr>
        <p:spPr>
          <a:xfrm>
            <a:off x="2542032" y="1078992"/>
            <a:ext cx="457200" cy="45720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4" name="Text 22"/>
          <p:cNvSpPr/>
          <p:nvPr/>
        </p:nvSpPr>
        <p:spPr>
          <a:xfrm>
            <a:off x="2542032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011680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166"/>
                </a:solidFill>
              </a:rPr>
              <a:t>Data Migration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103120" y="2084832"/>
            <a:ext cx="1335024" cy="256032"/>
          </a:xfrm>
          <a:prstGeom prst="rect">
            <a:avLst/>
          </a:prstGeom>
          <a:solidFill>
            <a:srgbClr val="FFD166">
              <a:alpha val="2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103120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Wks 5–8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48256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29" name="Shape 27"/>
          <p:cNvSpPr/>
          <p:nvPr/>
        </p:nvSpPr>
        <p:spPr>
          <a:xfrm>
            <a:off x="2048256" y="2468880"/>
            <a:ext cx="54864" cy="65836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0" name="Text 28"/>
          <p:cNvSpPr/>
          <p:nvPr/>
        </p:nvSpPr>
        <p:spPr>
          <a:xfrm>
            <a:off x="2139696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14 Snowflake tables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48256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32" name="Shape 30"/>
          <p:cNvSpPr/>
          <p:nvPr/>
        </p:nvSpPr>
        <p:spPr>
          <a:xfrm>
            <a:off x="2048256" y="3218688"/>
            <a:ext cx="54864" cy="65836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3" name="Text 31"/>
          <p:cNvSpPr/>
          <p:nvPr/>
        </p:nvSpPr>
        <p:spPr>
          <a:xfrm>
            <a:off x="2139696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schema validation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48256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35" name="Shape 33"/>
          <p:cNvSpPr/>
          <p:nvPr/>
        </p:nvSpPr>
        <p:spPr>
          <a:xfrm>
            <a:off x="2048256" y="3968496"/>
            <a:ext cx="54864" cy="65836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6" name="Text 34"/>
          <p:cNvSpPr/>
          <p:nvPr/>
        </p:nvSpPr>
        <p:spPr>
          <a:xfrm>
            <a:off x="2139696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connector update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30752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730752" y="960120"/>
            <a:ext cx="1627632" cy="6400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9" name="Shape 37"/>
          <p:cNvSpPr/>
          <p:nvPr/>
        </p:nvSpPr>
        <p:spPr>
          <a:xfrm>
            <a:off x="4315968" y="1078992"/>
            <a:ext cx="457200" cy="45720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40" name="Text 38"/>
          <p:cNvSpPr/>
          <p:nvPr/>
        </p:nvSpPr>
        <p:spPr>
          <a:xfrm>
            <a:off x="4315968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785616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</a:rPr>
              <a:t>App Migration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877056" y="2084832"/>
            <a:ext cx="1335024" cy="256032"/>
          </a:xfrm>
          <a:prstGeom prst="rect">
            <a:avLst/>
          </a:prstGeom>
          <a:solidFill>
            <a:srgbClr val="06D6A0">
              <a:alpha val="28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877056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Wks 5–12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822192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45" name="Shape 43"/>
          <p:cNvSpPr/>
          <p:nvPr/>
        </p:nvSpPr>
        <p:spPr>
          <a:xfrm>
            <a:off x="3822192" y="2468880"/>
            <a:ext cx="54864" cy="65836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6" name="Text 44"/>
          <p:cNvSpPr/>
          <p:nvPr/>
        </p:nvSpPr>
        <p:spPr>
          <a:xfrm>
            <a:off x="3913632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Flask app on Databricks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822192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48" name="Shape 46"/>
          <p:cNvSpPr/>
          <p:nvPr/>
        </p:nvSpPr>
        <p:spPr>
          <a:xfrm>
            <a:off x="3822192" y="3218688"/>
            <a:ext cx="54864" cy="65836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9" name="Text 47"/>
          <p:cNvSpPr/>
          <p:nvPr/>
        </p:nvSpPr>
        <p:spPr>
          <a:xfrm>
            <a:off x="3913632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Multi-env config adaptation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822192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51" name="Shape 49"/>
          <p:cNvSpPr/>
          <p:nvPr/>
        </p:nvSpPr>
        <p:spPr>
          <a:xfrm>
            <a:off x="3822192" y="3968496"/>
            <a:ext cx="54864" cy="65836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2" name="Text 50"/>
          <p:cNvSpPr/>
          <p:nvPr/>
        </p:nvSpPr>
        <p:spPr>
          <a:xfrm>
            <a:off x="3913632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testing iteration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04688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504688" y="960120"/>
            <a:ext cx="1627632" cy="6400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55" name="Shape 53"/>
          <p:cNvSpPr/>
          <p:nvPr/>
        </p:nvSpPr>
        <p:spPr>
          <a:xfrm>
            <a:off x="6089904" y="1078992"/>
            <a:ext cx="457200" cy="457200"/>
          </a:xfrm>
          <a:prstGeom prst="ellipse">
            <a:avLst/>
          </a:prstGeom>
          <a:solidFill>
            <a:srgbClr val="9B5DE5"/>
          </a:solidFill>
          <a:ln/>
        </p:spPr>
      </p:sp>
      <p:sp>
        <p:nvSpPr>
          <p:cNvPr id="56" name="Text 54"/>
          <p:cNvSpPr/>
          <p:nvPr/>
        </p:nvSpPr>
        <p:spPr>
          <a:xfrm>
            <a:off x="6089904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559552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5DE5"/>
                </a:solidFill>
              </a:rPr>
              <a:t>QA &amp; Validation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650992" y="2084832"/>
            <a:ext cx="1335024" cy="256032"/>
          </a:xfrm>
          <a:prstGeom prst="rect">
            <a:avLst/>
          </a:prstGeom>
          <a:solidFill>
            <a:srgbClr val="9B5DE5">
              <a:alpha val="2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5650992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Wks 13–16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96128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61" name="Shape 59"/>
          <p:cNvSpPr/>
          <p:nvPr/>
        </p:nvSpPr>
        <p:spPr>
          <a:xfrm>
            <a:off x="5596128" y="2468880"/>
            <a:ext cx="54864" cy="65836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62" name="Text 60"/>
          <p:cNvSpPr/>
          <p:nvPr/>
        </p:nvSpPr>
        <p:spPr>
          <a:xfrm>
            <a:off x="5687568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QA/UAT in stage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96128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64" name="Shape 62"/>
          <p:cNvSpPr/>
          <p:nvPr/>
        </p:nvSpPr>
        <p:spPr>
          <a:xfrm>
            <a:off x="5596128" y="3218688"/>
            <a:ext cx="54864" cy="65836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65" name="Text 63"/>
          <p:cNvSpPr/>
          <p:nvPr/>
        </p:nvSpPr>
        <p:spPr>
          <a:xfrm>
            <a:off x="5687568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qTest evidence capture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596128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67" name="Shape 65"/>
          <p:cNvSpPr/>
          <p:nvPr/>
        </p:nvSpPr>
        <p:spPr>
          <a:xfrm>
            <a:off x="5596128" y="3968496"/>
            <a:ext cx="54864" cy="65836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68" name="Text 66"/>
          <p:cNvSpPr/>
          <p:nvPr/>
        </p:nvSpPr>
        <p:spPr>
          <a:xfrm>
            <a:off x="5687568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RFC raised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278624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7278624" y="960120"/>
            <a:ext cx="1627632" cy="6400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71" name="Shape 69"/>
          <p:cNvSpPr/>
          <p:nvPr/>
        </p:nvSpPr>
        <p:spPr>
          <a:xfrm>
            <a:off x="7863840" y="1078992"/>
            <a:ext cx="457200" cy="45720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72" name="Text 70"/>
          <p:cNvSpPr/>
          <p:nvPr/>
        </p:nvSpPr>
        <p:spPr>
          <a:xfrm>
            <a:off x="786384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5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7333488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476F"/>
                </a:solidFill>
              </a:rPr>
              <a:t>Go-Live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424928" y="2084832"/>
            <a:ext cx="1335024" cy="256032"/>
          </a:xfrm>
          <a:prstGeom prst="rect">
            <a:avLst/>
          </a:prstGeom>
          <a:solidFill>
            <a:srgbClr val="EF476F">
              <a:alpha val="28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7424928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Wks 17–20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370064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77" name="Shape 75"/>
          <p:cNvSpPr/>
          <p:nvPr/>
        </p:nvSpPr>
        <p:spPr>
          <a:xfrm>
            <a:off x="7370064" y="2468880"/>
            <a:ext cx="54864" cy="65836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78" name="Text 76"/>
          <p:cNvSpPr/>
          <p:nvPr/>
        </p:nvSpPr>
        <p:spPr>
          <a:xfrm>
            <a:off x="7461504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approval → prod deploy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370064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80" name="Shape 78"/>
          <p:cNvSpPr/>
          <p:nvPr/>
        </p:nvSpPr>
        <p:spPr>
          <a:xfrm>
            <a:off x="7370064" y="3218688"/>
            <a:ext cx="54864" cy="65836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81" name="Text 79"/>
          <p:cNvSpPr/>
          <p:nvPr/>
        </p:nvSpPr>
        <p:spPr>
          <a:xfrm>
            <a:off x="7461504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parallel run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370064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83" name="Shape 81"/>
          <p:cNvSpPr/>
          <p:nvPr/>
        </p:nvSpPr>
        <p:spPr>
          <a:xfrm>
            <a:off x="7370064" y="3968496"/>
            <a:ext cx="54864" cy="65836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84" name="Text 82"/>
          <p:cNvSpPr/>
          <p:nvPr/>
        </p:nvSpPr>
        <p:spPr>
          <a:xfrm>
            <a:off x="7461504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decommission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0" y="54864"/>
            <a:ext cx="4754880" cy="5029200"/>
          </a:xfrm>
          <a:prstGeom prst="ellipse">
            <a:avLst/>
          </a:prstGeom>
          <a:solidFill>
            <a:srgbClr val="1A2E45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0" y="640080"/>
            <a:ext cx="3291840" cy="329184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11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Recommend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896112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with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86000"/>
            <a:ext cx="73152" cy="43891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28600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💰  86% cost saving — $26.7K/yr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16352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816352"/>
            <a:ext cx="73152" cy="43891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816352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🔗  Strategic platform alignment (GPDIP)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46704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346704"/>
            <a:ext cx="73152" cy="43891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346704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⚙  Operational independence via CI/CD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77056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877056"/>
            <a:ext cx="73152" cy="43891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877056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🤖  AI-ready without extra infrastructure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4622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</a:rPr>
              <a:t>IMMEDIATE NEXT STEPS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736592"/>
            <a:ext cx="274320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736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1.  Confirm workspace with Digital/Platform team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73552" y="4736592"/>
            <a:ext cx="274320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3273552" y="4736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2.  Identify migration lead &amp; confirm team availability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81344" y="4736592"/>
            <a:ext cx="274320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6181344" y="4736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3.  1-week PoC: deploy Flask app as Databricks App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365760"/>
            <a:ext cx="3017520" cy="3017520"/>
          </a:xfrm>
          <a:prstGeom prst="ellipse">
            <a:avLst/>
          </a:prstGeom>
          <a:solidFill>
            <a:srgbClr val="1A2E45"/>
          </a:solidFill>
          <a:ln/>
        </p:spPr>
      </p:sp>
      <p:sp>
        <p:nvSpPr>
          <p:cNvPr id="5" name="Shape 3"/>
          <p:cNvSpPr/>
          <p:nvPr/>
        </p:nvSpPr>
        <p:spPr>
          <a:xfrm>
            <a:off x="6492240" y="914400"/>
            <a:ext cx="1920240" cy="192024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0" y="36576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0" dirty="0"/>
          </a:p>
        </p:txBody>
      </p:sp>
      <p:sp>
        <p:nvSpPr>
          <p:cNvPr id="7" name="Shape 5"/>
          <p:cNvSpPr/>
          <p:nvPr/>
        </p:nvSpPr>
        <p:spPr>
          <a:xfrm>
            <a:off x="365760" y="640080"/>
            <a:ext cx="2743200" cy="31089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40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CLIENT QUESTIONS  — DAN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to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Dan's Queries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65760" y="26060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</a:rPr>
              <a:t>Feasibility check completed  ·  Migration app built with live UI, APIs &amp; Delta Lake tables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5120640" cy="347472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3246120"/>
            <a:ext cx="73152" cy="347472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" y="324612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Q1 — Risks &amp; Cons to consider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666744"/>
            <a:ext cx="5120640" cy="347472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3666744"/>
            <a:ext cx="73152" cy="34747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366674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Q2 — UI, UX &amp; performance impact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087368"/>
            <a:ext cx="5120640" cy="347472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4087368"/>
            <a:ext cx="73152" cy="34747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408736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Q3 — Feature work during migration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SMArT Platform Migration  ·  Response to Dan's Review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91440"/>
            <a:ext cx="566928" cy="566928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Risks &amp; Cons to Consider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38404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E0EF"/>
                </a:solidFill>
              </a:rPr>
              <a:t>We are transparent about trade-offs. These are manageable risks — none are blockers, and all have defined mitigations.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389888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389888"/>
            <a:ext cx="82296" cy="10058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1" name="Shape 9"/>
          <p:cNvSpPr/>
          <p:nvPr/>
        </p:nvSpPr>
        <p:spPr>
          <a:xfrm>
            <a:off x="3730752" y="1463040"/>
            <a:ext cx="658368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730752" y="14630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</a:rPr>
              <a:t>LOW RISK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20624" y="1453896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Short-term team upskilling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" y="1719072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needs to learn Databricks Apps, DAB &amp; CI/CD patterns. Mitigated by feasibility spike already completed — team is hands-on from day one.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389888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389888"/>
            <a:ext cx="82296" cy="10058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7" name="Shape 15"/>
          <p:cNvSpPr/>
          <p:nvPr/>
        </p:nvSpPr>
        <p:spPr>
          <a:xfrm>
            <a:off x="8138160" y="1463040"/>
            <a:ext cx="658368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14630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</a:rPr>
              <a:t>LOW RISK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28032" y="1453896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No physical environment isolation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1719072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schema separation replaces physical DSS instances. UC RBAC enforces access boundaries; reviewed and accepted by compliance approach.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2505456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505456"/>
            <a:ext cx="82296" cy="10058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Shape 21"/>
          <p:cNvSpPr/>
          <p:nvPr/>
        </p:nvSpPr>
        <p:spPr>
          <a:xfrm>
            <a:off x="3730752" y="2578608"/>
            <a:ext cx="658368" cy="201168"/>
          </a:xfrm>
          <a:prstGeom prst="rect">
            <a:avLst/>
          </a:prstGeom>
          <a:solidFill>
            <a:srgbClr val="FF6B35">
              <a:alpha val="7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730752" y="25786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</a:rPr>
              <a:t>MED RISK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20624" y="256946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Migration window carries delivery risk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0624" y="2834640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20-week project introduces schedule risk. Phased delivery with parallel-run period and rollback path (DSS stays live until RFC sign-off) contains impact.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505456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505456"/>
            <a:ext cx="82296" cy="10058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9" name="Shape 27"/>
          <p:cNvSpPr/>
          <p:nvPr/>
        </p:nvSpPr>
        <p:spPr>
          <a:xfrm>
            <a:off x="8138160" y="2578608"/>
            <a:ext cx="658368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138160" y="25786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</a:rPr>
              <a:t>LOW RISK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28032" y="256946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Usage-based cost variability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2834640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fixed DSS licenses, Databricks costs scale with usage. Auto-shutdown on dev/stage and cost dashboards keep this well within the $4.2K estimate.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3621024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" y="3621024"/>
            <a:ext cx="82296" cy="10058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5" name="Shape 33"/>
          <p:cNvSpPr/>
          <p:nvPr/>
        </p:nvSpPr>
        <p:spPr>
          <a:xfrm>
            <a:off x="3730752" y="3694176"/>
            <a:ext cx="658368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730752" y="36941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</a:rPr>
              <a:t>LOW RISK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20624" y="368503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Data migration validation effort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0624" y="3950208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Snowflake tables must be migrated and verified. Row-count and schema validation scripts are part of Phase 2; feasibility run confirms process works.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621024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621024"/>
            <a:ext cx="82296" cy="10058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1" name="Shape 39"/>
          <p:cNvSpPr/>
          <p:nvPr/>
        </p:nvSpPr>
        <p:spPr>
          <a:xfrm>
            <a:off x="8138160" y="3694176"/>
            <a:ext cx="658368" cy="201168"/>
          </a:xfrm>
          <a:prstGeom prst="rect">
            <a:avLst/>
          </a:prstGeom>
          <a:solidFill>
            <a:srgbClr val="FF6B35">
              <a:alpha val="7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138160" y="36941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</a:rPr>
              <a:t>MED RISK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828032" y="368503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Dependency on Digital/Platform team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28032" y="3950208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assignment (ATP GPD Expl) needs Digital team confirmation. Already flagged as first action item; planning can proceed in parallel under Option A.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" y="4736592"/>
            <a:ext cx="8631936" cy="32918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6" name="Shape 44"/>
          <p:cNvSpPr/>
          <p:nvPr/>
        </p:nvSpPr>
        <p:spPr>
          <a:xfrm>
            <a:off x="256032" y="4736592"/>
            <a:ext cx="82296" cy="32918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7" name="Text 45"/>
          <p:cNvSpPr/>
          <p:nvPr/>
        </p:nvSpPr>
        <p:spPr>
          <a:xfrm>
            <a:off x="402336" y="473659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D6A0"/>
                </a:solidFill>
              </a:rPr>
              <a:t>✓  Overall assessment: No identified cons are blockers. Risk profile is LOW–MEDIUM. Feasibility PoC de-risks the highest-uncertainty items.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91440"/>
            <a:ext cx="566928" cy="5669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Q2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UI, End-User Experience &amp; Performance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502920"/>
          </a:xfrm>
          <a:prstGeom prst="rect">
            <a:avLst/>
          </a:prstGeom>
          <a:solidFill>
            <a:srgbClr val="0A2A1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896112"/>
            <a:ext cx="82296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" y="89611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✅  Feasibility proven: Migration app built with exact UI, live backend APIs &amp; Delta Lake tables — user experience validated end-to-end.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517904"/>
            <a:ext cx="2816352" cy="40233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" y="1517904"/>
            <a:ext cx="2816352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" y="1554480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🖥  UI &amp; Frontend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" y="2011680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0665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Redesign needed?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286000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2860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" y="254203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Flask/FastAPI frontend deployed as Databricks App — same screens, same navigation, same URLs.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999232"/>
            <a:ext cx="28163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0540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Functionality loss?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3273552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327355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" y="352958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confirmed working in the PoC migration. No capability is removed or degraded.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3986784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40416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Look &amp; feel change?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4261104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426110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" y="451713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 is a thin hosting wrapper — users will not see any platform change.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27832" y="1517904"/>
            <a:ext cx="2816352" cy="40233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9" name="Shape 27"/>
          <p:cNvSpPr/>
          <p:nvPr/>
        </p:nvSpPr>
        <p:spPr>
          <a:xfrm>
            <a:off x="3227832" y="1517904"/>
            <a:ext cx="2816352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0" name="Text 28"/>
          <p:cNvSpPr/>
          <p:nvPr/>
        </p:nvSpPr>
        <p:spPr>
          <a:xfrm>
            <a:off x="3227832" y="1554480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Performance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27832" y="2011680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9272" y="20665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Calculation speed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19272" y="2286000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319272" y="22860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Same / Faster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19272" y="254203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Python simulation engine. Databricks serverless compute removes DSS scheduler overhead.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27832" y="2999232"/>
            <a:ext cx="28163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9272" y="30540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Page load times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19272" y="3273552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319272" y="327355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change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19272" y="352958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is unchanged. Delta Lake SQL connector benchmarks comparably to Snowflake at this data volume (&lt;100 GB).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27832" y="3986784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9272" y="40416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Peak load (50 users)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19272" y="4261104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319272" y="426110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Handled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319272" y="451713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instance (2 vCPU / 6 GB) sized for &lt;100 concurrent. Scale-up to Large available on demand.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99632" y="1517904"/>
            <a:ext cx="2816352" cy="40233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7" name="Shape 45"/>
          <p:cNvSpPr/>
          <p:nvPr/>
        </p:nvSpPr>
        <p:spPr>
          <a:xfrm>
            <a:off x="6199632" y="1517904"/>
            <a:ext cx="2816352" cy="6400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8" name="Text 46"/>
          <p:cNvSpPr/>
          <p:nvPr/>
        </p:nvSpPr>
        <p:spPr>
          <a:xfrm>
            <a:off x="6199632" y="1554480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User Impact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199632" y="2011680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91072" y="20665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Training required?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91072" y="2286000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291072" y="22860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291072" y="254203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interact with the same web application. No Databricks knowledge needed by users.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99632" y="2999232"/>
            <a:ext cx="28163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91072" y="30540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URL / access change?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91072" y="3273552"/>
            <a:ext cx="2633472" cy="219456"/>
          </a:xfrm>
          <a:prstGeom prst="rect">
            <a:avLst/>
          </a:prstGeom>
          <a:solidFill>
            <a:srgbClr val="FFD166">
              <a:alpha val="85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291072" y="327355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New URL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291072" y="352958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environment gets a dedicated Databricks App URL. A bookmark update is the only visible change for users.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199632" y="3986784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91072" y="40416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B1"/>
                </a:solidFill>
              </a:rPr>
              <a:t>Downtime at cutover?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91072" y="4261104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291072" y="426110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Zero planned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291072" y="451713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parallel run means DSS and Databricks run simultaneously. Cutover is a DNS/redirect flip.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91440"/>
            <a:ext cx="566928" cy="56692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Q3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Feature Work During the Migration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475488"/>
          </a:xfrm>
          <a:prstGeom prst="rect">
            <a:avLst/>
          </a:prstGeom>
          <a:solidFill>
            <a:srgbClr val="0A2A0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896112"/>
            <a:ext cx="82296" cy="47548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" y="8961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</a:rPr>
              <a:t>✅  Short answer: Feature work does NOT need to be paused. Migration and new features can run in parallel.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" y="14996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B4D8"/>
                </a:solidFill>
              </a:rPr>
              <a:t>HOW THIS WORKS IN PRACTICE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1847088"/>
            <a:ext cx="1417320" cy="47548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" y="184708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MIGRATION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TRACK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19072" y="1847088"/>
            <a:ext cx="118872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55648" y="1865376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Foundation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Wks 1–4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07792" y="1847088"/>
            <a:ext cx="914400" cy="475488"/>
          </a:xfrm>
          <a:prstGeom prst="rect">
            <a:avLst/>
          </a:prstGeom>
          <a:solidFill>
            <a:srgbClr val="0096B7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44368" y="1865376"/>
            <a:ext cx="841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Data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Wks 5–8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22192" y="1847088"/>
            <a:ext cx="1554480" cy="475488"/>
          </a:xfrm>
          <a:prstGeom prst="rect">
            <a:avLst/>
          </a:prstGeom>
          <a:solidFill>
            <a:srgbClr val="007A96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58768" y="1865376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App Migration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Wks 5–12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376672" y="1847088"/>
            <a:ext cx="1005840" cy="475488"/>
          </a:xfrm>
          <a:prstGeom prst="rect">
            <a:avLst/>
          </a:prstGeom>
          <a:solidFill>
            <a:srgbClr val="005F75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13248" y="1865376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QA / UAT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Wks 13–16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382512" y="1847088"/>
            <a:ext cx="868680" cy="475488"/>
          </a:xfrm>
          <a:prstGeom prst="rect">
            <a:avLst/>
          </a:prstGeom>
          <a:solidFill>
            <a:srgbClr val="00455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1865376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Go-Live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Wks 17–20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6032" y="2432304"/>
            <a:ext cx="1417320" cy="47548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24" name="Text 22"/>
          <p:cNvSpPr/>
          <p:nvPr/>
        </p:nvSpPr>
        <p:spPr>
          <a:xfrm>
            <a:off x="256032" y="2432304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FEATURE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TRACK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19072" y="2432304"/>
            <a:ext cx="1188720" cy="475488"/>
          </a:xfrm>
          <a:prstGeom prst="rect">
            <a:avLst/>
          </a:prstGeom>
          <a:solidFill>
            <a:srgbClr val="024A1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55648" y="2450592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Bug fixes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maintenance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907792" y="2432304"/>
            <a:ext cx="1828800" cy="475488"/>
          </a:xfrm>
          <a:prstGeom prst="rect">
            <a:avLst/>
          </a:prstGeom>
          <a:solidFill>
            <a:srgbClr val="03602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2450592"/>
            <a:ext cx="1755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New Feature 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(on DSS)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36592" y="2432304"/>
            <a:ext cx="1645920" cy="475488"/>
          </a:xfrm>
          <a:prstGeom prst="rect">
            <a:avLst/>
          </a:prstGeom>
          <a:solidFill>
            <a:srgbClr val="047A3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2450592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New Feature 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(on DSS)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82512" y="2432304"/>
            <a:ext cx="1828800" cy="475488"/>
          </a:xfrm>
          <a:prstGeom prst="rect">
            <a:avLst/>
          </a:prstGeom>
          <a:solidFill>
            <a:srgbClr val="06D6A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19088" y="2450592"/>
            <a:ext cx="1755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Feature C → DBX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(new home)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251192" y="1709928"/>
            <a:ext cx="36576" cy="129844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149961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</a:rPr>
              <a:t>Cutover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56032" y="30906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B4D8"/>
                </a:solidFill>
              </a:rPr>
              <a:t>THE GUARDRAILS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3429000"/>
            <a:ext cx="8631936" cy="457200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6032" y="3429000"/>
            <a:ext cx="82296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8" name="Shape 36"/>
          <p:cNvSpPr/>
          <p:nvPr/>
        </p:nvSpPr>
        <p:spPr>
          <a:xfrm>
            <a:off x="402336" y="3520440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9" name="Text 37"/>
          <p:cNvSpPr/>
          <p:nvPr/>
        </p:nvSpPr>
        <p:spPr>
          <a:xfrm>
            <a:off x="402336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" y="346557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New features built on DSS as normal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77240" y="366674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During migration, feature development continues on the current DSS platform. No change to today's dev/QA/release workflow for new features.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6032" y="3941064"/>
            <a:ext cx="8631936" cy="457200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56032" y="3941064"/>
            <a:ext cx="82296" cy="4572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4" name="Shape 42"/>
          <p:cNvSpPr/>
          <p:nvPr/>
        </p:nvSpPr>
        <p:spPr>
          <a:xfrm>
            <a:off x="402336" y="4032504"/>
            <a:ext cx="274320" cy="27432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5" name="Text 43"/>
          <p:cNvSpPr/>
          <p:nvPr/>
        </p:nvSpPr>
        <p:spPr>
          <a:xfrm>
            <a:off x="402336" y="4032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" y="39776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</a:rPr>
              <a:t>Migration team is a dedicated workstream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77240" y="417880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Migration is run as a parallel project track — it does not consume the full team. Feature sprints and migration sprints are planned independently.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6032" y="4453128"/>
            <a:ext cx="8631936" cy="457200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56032" y="4453128"/>
            <a:ext cx="82296" cy="4572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0" name="Shape 48"/>
          <p:cNvSpPr/>
          <p:nvPr/>
        </p:nvSpPr>
        <p:spPr>
          <a:xfrm>
            <a:off x="402336" y="4544568"/>
            <a:ext cx="274320" cy="2743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51" name="Text 49"/>
          <p:cNvSpPr/>
          <p:nvPr/>
        </p:nvSpPr>
        <p:spPr>
          <a:xfrm>
            <a:off x="402336" y="4544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77240" y="448970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D6A0"/>
                </a:solidFill>
              </a:rPr>
              <a:t>Features completed before cutover ship on DSS; after cutover on Databricks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77240" y="4690872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Any feature in flight at Go-Live week is evaluated: if complete → ship on DSS, if not → brief hold during 2-week parallel run, then deliver on Databricks.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91440"/>
            <a:ext cx="566928" cy="566928"/>
          </a:xfrm>
          <a:prstGeom prst="ellipse">
            <a:avLst/>
          </a:prstGeom>
          <a:solidFill>
            <a:srgbClr val="9B5DE5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0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Genie AI  —  Natural Language Querying for SMArT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38404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E0EF"/>
                </a:solidFill>
              </a:rPr>
              <a:t>Users ask plain-English questions against SMArT's Delta Lake tables — no SQL, no dashboards. Three implementation paths, increasing in capability.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389888"/>
            <a:ext cx="2816352" cy="3611880"/>
          </a:xfrm>
          <a:prstGeom prst="rect">
            <a:avLst/>
          </a:prstGeom>
          <a:solidFill>
            <a:srgbClr val="0A2A1A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389888"/>
            <a:ext cx="2816352" cy="6400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508760"/>
            <a:ext cx="402336" cy="40233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1536192"/>
            <a:ext cx="2139696" cy="320040"/>
          </a:xfrm>
          <a:prstGeom prst="rect">
            <a:avLst/>
          </a:prstGeom>
          <a:solidFill>
            <a:srgbClr val="06D6A0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153619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✅  READY NOW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196596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</a:rPr>
              <a:t>Genie Space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" y="226771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Standalone — zero code changes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2560320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Genie Space in Databricks pointing to smart_poc.smart.* Delta tables. Users ask questions directly in the Databricks workspace UI.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3236976"/>
            <a:ext cx="2633472" cy="182880"/>
          </a:xfrm>
          <a:prstGeom prst="rect">
            <a:avLst/>
          </a:prstGeom>
          <a:solidFill>
            <a:srgbClr val="06D6A0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32369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06D6A0"/>
                </a:solidFill>
              </a:rPr>
              <a:t>EXAMPLE QUESTIONS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47472" y="3456432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💬  "Which country has the highest P90 days?"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3785616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💬  "Show activation timelines for Argentina"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114800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💬  "Avg site activation rate across countries?"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4462272"/>
            <a:ext cx="2633472" cy="420624"/>
          </a:xfrm>
          <a:prstGeom prst="rect">
            <a:avLst/>
          </a:prstGeom>
          <a:solidFill>
            <a:srgbClr val="1A2E4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4622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Separate UI — users leave the SMArT app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27832" y="1389888"/>
            <a:ext cx="2816352" cy="3611880"/>
          </a:xfrm>
          <a:prstGeom prst="rect">
            <a:avLst/>
          </a:prstGeom>
          <a:solidFill>
            <a:srgbClr val="1A1500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27832" y="1389888"/>
            <a:ext cx="2816352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0" name="Shape 28"/>
          <p:cNvSpPr/>
          <p:nvPr/>
        </p:nvSpPr>
        <p:spPr>
          <a:xfrm>
            <a:off x="3337560" y="1508760"/>
            <a:ext cx="402336" cy="40233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1" name="Text 29"/>
          <p:cNvSpPr/>
          <p:nvPr/>
        </p:nvSpPr>
        <p:spPr>
          <a:xfrm>
            <a:off x="333756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813048" y="1536192"/>
            <a:ext cx="2139696" cy="320040"/>
          </a:xfrm>
          <a:prstGeom prst="rect">
            <a:avLst/>
          </a:prstGeom>
          <a:solidFill>
            <a:srgbClr val="FFD166">
              <a:alpha val="2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813048" y="153619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⚠  REQUIRES WORK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19272" y="196596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Embed Genie in App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319272" y="226771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Chat widget inside SMArT webapp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19272" y="2560320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chat widget in the React frontend. Flask backend proxies calls to the Genie Conversation API. Results rendered inline in the app.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19272" y="3236976"/>
            <a:ext cx="2633472" cy="182880"/>
          </a:xfrm>
          <a:prstGeom prst="rect">
            <a:avLst/>
          </a:prstGeom>
          <a:solidFill>
            <a:srgbClr val="FFD166">
              <a:alpha val="1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319272" y="32369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D166"/>
                </a:solidFill>
              </a:rPr>
              <a:t>EXAMPLE QUESTIONS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319272" y="3456432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40" name="Text 38"/>
          <p:cNvSpPr/>
          <p:nvPr/>
        </p:nvSpPr>
        <p:spPr>
          <a:xfrm>
            <a:off x="3355848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💬  Genie Conversation API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19272" y="3785616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42" name="Text 40"/>
          <p:cNvSpPr/>
          <p:nvPr/>
        </p:nvSpPr>
        <p:spPr>
          <a:xfrm>
            <a:off x="3355848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💬  Flask → Genie API proxy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319272" y="4114800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44" name="Text 42"/>
          <p:cNvSpPr/>
          <p:nvPr/>
        </p:nvSpPr>
        <p:spPr>
          <a:xfrm>
            <a:off x="3355848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💬  SQL results inline in app UI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319272" y="4462272"/>
            <a:ext cx="2633472" cy="420624"/>
          </a:xfrm>
          <a:prstGeom prst="rect">
            <a:avLst/>
          </a:prstGeom>
          <a:solidFill>
            <a:srgbClr val="1A2E45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55848" y="44622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Cannot answer questions about live in-memory API results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99632" y="1389888"/>
            <a:ext cx="2816352" cy="3611880"/>
          </a:xfrm>
          <a:prstGeom prst="rect">
            <a:avLst/>
          </a:prstGeom>
          <a:solidFill>
            <a:srgbClr val="001A2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99632" y="1389888"/>
            <a:ext cx="2816352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9" name="Shape 47"/>
          <p:cNvSpPr/>
          <p:nvPr/>
        </p:nvSpPr>
        <p:spPr>
          <a:xfrm>
            <a:off x="6309360" y="1508760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0" name="Text 48"/>
          <p:cNvSpPr/>
          <p:nvPr/>
        </p:nvSpPr>
        <p:spPr>
          <a:xfrm>
            <a:off x="630936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3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784848" y="1536192"/>
            <a:ext cx="2139696" cy="32004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784848" y="153619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🔄  BEST OF BOTH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91072" y="196596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Write Results → Genie Queries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291072" y="226771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Most powerful approach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291072" y="2560320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results are saved back to Delta tables (site_activation_details_results etc.). Genie queries saved results — combines live app + historical analysis.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291072" y="3236976"/>
            <a:ext cx="2633472" cy="18288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291072" y="32369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00B4D8"/>
                </a:solidFill>
              </a:rPr>
              <a:t>EXAMPLE QUESTIONS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291072" y="3456432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59" name="Text 57"/>
          <p:cNvSpPr/>
          <p:nvPr/>
        </p:nvSpPr>
        <p:spPr>
          <a:xfrm>
            <a:off x="6327648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💬  "Show all plans created this week"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291072" y="3785616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61" name="Text 59"/>
          <p:cNvSpPr/>
          <p:nvPr/>
        </p:nvSpPr>
        <p:spPr>
          <a:xfrm>
            <a:off x="6327648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💬  "Compare P90 dates across my last 3 runs"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91072" y="4114800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63" name="Text 61"/>
          <p:cNvSpPr/>
          <p:nvPr/>
        </p:nvSpPr>
        <p:spPr>
          <a:xfrm>
            <a:off x="6327648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💬  "Which analysis had the fastest activation?"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291072" y="4462272"/>
            <a:ext cx="2633472" cy="420624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27648" y="44622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Requires result-persistence logic in app layer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56032" y="4956048"/>
            <a:ext cx="8631936" cy="128016"/>
          </a:xfrm>
          <a:prstGeom prst="rect">
            <a:avLst/>
          </a:prstGeom>
          <a:solidFill>
            <a:srgbClr val="9B5DE5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91440"/>
            <a:ext cx="566928" cy="566928"/>
          </a:xfrm>
          <a:prstGeom prst="ellipse">
            <a:avLst/>
          </a:prstGeom>
          <a:solidFill>
            <a:srgbClr val="9B5DE5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0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Genie  —  Recommended Path &amp; Architecture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4069080" cy="34747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89611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★  RECOMMENDED FOR PoC DEMO  —  OPTION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335024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335024"/>
            <a:ext cx="73152" cy="5486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1" name="Shape 9"/>
          <p:cNvSpPr/>
          <p:nvPr/>
        </p:nvSpPr>
        <p:spPr>
          <a:xfrm>
            <a:off x="402336" y="1463040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" y="133502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Open ATP GPD Expl workspace → Genie (sidebar)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1956816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1956816"/>
            <a:ext cx="73152" cy="5486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6" name="Shape 14"/>
          <p:cNvSpPr/>
          <p:nvPr/>
        </p:nvSpPr>
        <p:spPr>
          <a:xfrm>
            <a:off x="402336" y="2084832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" y="2084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" y="195681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Create a Genie Space → connect to smart_poc.smart.*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2578608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578608"/>
            <a:ext cx="73152" cy="5486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1" name="Shape 19"/>
          <p:cNvSpPr/>
          <p:nvPr/>
        </p:nvSpPr>
        <p:spPr>
          <a:xfrm>
            <a:off x="402336" y="2706624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" y="257860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Point at smart_category_activation_timelines table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3200400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200400"/>
            <a:ext cx="73152" cy="5486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6" name="Shape 24"/>
          <p:cNvSpPr/>
          <p:nvPr/>
        </p:nvSpPr>
        <p:spPr>
          <a:xfrm>
            <a:off x="402336" y="3328416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6384" y="3200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Demo alongside app — zero code changes required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" y="3840480"/>
            <a:ext cx="1920240" cy="274320"/>
          </a:xfrm>
          <a:prstGeom prst="rect">
            <a:avLst/>
          </a:prstGeom>
          <a:solidFill>
            <a:srgbClr val="06D6A0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56032" y="3840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✓  CAN answer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4160520"/>
            <a:ext cx="1920240" cy="237744"/>
          </a:xfrm>
          <a:prstGeom prst="rect">
            <a:avLst/>
          </a:prstGeom>
          <a:solidFill>
            <a:srgbClr val="E8FFF5"/>
          </a:solidFill>
          <a:ln/>
        </p:spPr>
      </p:sp>
      <p:sp>
        <p:nvSpPr>
          <p:cNvPr id="32" name="Text 30"/>
          <p:cNvSpPr/>
          <p:nvPr/>
        </p:nvSpPr>
        <p:spPr>
          <a:xfrm>
            <a:off x="292608" y="4160520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</a:rPr>
              <a:t>✓  Questions about Delta Lake tables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4434840"/>
            <a:ext cx="1920240" cy="237744"/>
          </a:xfrm>
          <a:prstGeom prst="rect">
            <a:avLst/>
          </a:prstGeom>
          <a:solidFill>
            <a:srgbClr val="E8FFF5"/>
          </a:solidFill>
          <a:ln/>
        </p:spPr>
      </p:sp>
      <p:sp>
        <p:nvSpPr>
          <p:cNvPr id="34" name="Text 32"/>
          <p:cNvSpPr/>
          <p:nvPr/>
        </p:nvSpPr>
        <p:spPr>
          <a:xfrm>
            <a:off x="292608" y="4434840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</a:rPr>
              <a:t>✓  Raw data, saved plans, timelines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4709160"/>
            <a:ext cx="1920240" cy="237744"/>
          </a:xfrm>
          <a:prstGeom prst="rect">
            <a:avLst/>
          </a:prstGeom>
          <a:solidFill>
            <a:srgbClr val="E8FFF5"/>
          </a:solidFill>
          <a:ln/>
        </p:spPr>
      </p:sp>
      <p:sp>
        <p:nvSpPr>
          <p:cNvPr id="36" name="Text 34"/>
          <p:cNvSpPr/>
          <p:nvPr/>
        </p:nvSpPr>
        <p:spPr>
          <a:xfrm>
            <a:off x="292608" y="4709160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</a:rPr>
              <a:t>✓  Historical result comparisons (Opt 3)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304288" y="3840480"/>
            <a:ext cx="2011680" cy="274320"/>
          </a:xfrm>
          <a:prstGeom prst="rect">
            <a:avLst/>
          </a:prstGeom>
          <a:solidFill>
            <a:srgbClr val="EF476F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2304288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✗  CANNOT answer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04288" y="4160520"/>
            <a:ext cx="2011680" cy="237744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40" name="Text 38"/>
          <p:cNvSpPr/>
          <p:nvPr/>
        </p:nvSpPr>
        <p:spPr>
          <a:xfrm>
            <a:off x="2340864" y="416052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</a:rPr>
              <a:t>✗  Live API/in-memory computation results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304288" y="4434840"/>
            <a:ext cx="2011680" cy="237744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42" name="Text 40"/>
          <p:cNvSpPr/>
          <p:nvPr/>
        </p:nvSpPr>
        <p:spPr>
          <a:xfrm>
            <a:off x="2340864" y="443484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</a:rPr>
              <a:t>✗  Runtime simulation state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304288" y="4709160"/>
            <a:ext cx="2011680" cy="237744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44" name="Text 42"/>
          <p:cNvSpPr/>
          <p:nvPr/>
        </p:nvSpPr>
        <p:spPr>
          <a:xfrm>
            <a:off x="2340864" y="470916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</a:rPr>
              <a:t>✗  Unless Option 3 (write back) is implemented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0" y="896112"/>
            <a:ext cx="4315968" cy="34747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0" y="896112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OPTION 3  —  TARGET ARCHITECTURE  (Best of Both)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1335024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937760" y="13807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SMArT Web App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937760" y="16276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React + Flask/FastAPI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675120" y="1883664"/>
            <a:ext cx="54864" cy="2377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51" name="Shape 49"/>
          <p:cNvSpPr/>
          <p:nvPr/>
        </p:nvSpPr>
        <p:spPr>
          <a:xfrm>
            <a:off x="4846320" y="2029968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90E0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937760" y="20756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Flask Backend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937760" y="23225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Proxy → Genie Conversation API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675120" y="2578608"/>
            <a:ext cx="54864" cy="2377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55" name="Shape 53"/>
          <p:cNvSpPr/>
          <p:nvPr/>
        </p:nvSpPr>
        <p:spPr>
          <a:xfrm>
            <a:off x="4846320" y="2724912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9B5D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937760" y="27706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DE5"/>
                </a:solidFill>
              </a:rPr>
              <a:t>Delta Lake Tables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937760" y="3017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smart_poc.smart.*  +  results tables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675120" y="3273552"/>
            <a:ext cx="54864" cy="2377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59" name="Shape 57"/>
          <p:cNvSpPr/>
          <p:nvPr/>
        </p:nvSpPr>
        <p:spPr>
          <a:xfrm>
            <a:off x="4846320" y="3419856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9B5D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937760" y="346557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DE5"/>
                </a:solidFill>
              </a:rPr>
              <a:t>Genie Space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937760" y="371246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DDE6"/>
                </a:solidFill>
              </a:rPr>
              <a:t>Natural language → SQL → Delta Lake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846320" y="4114800"/>
            <a:ext cx="3749040" cy="566928"/>
          </a:xfrm>
          <a:prstGeom prst="rect">
            <a:avLst/>
          </a:prstGeom>
          <a:solidFill>
            <a:srgbClr val="001A2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46320" y="4114800"/>
            <a:ext cx="73152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4" name="Text 62"/>
          <p:cNvSpPr/>
          <p:nvPr/>
        </p:nvSpPr>
        <p:spPr>
          <a:xfrm>
            <a:off x="4992624" y="415137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Result write-back: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992624" y="43525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0DDE6"/>
                </a:solidFill>
              </a:rPr>
              <a:t>site_activation_details_results  ·  summary_results  →  queryable by Genie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182880"/>
            <a:ext cx="3840480" cy="3840480"/>
          </a:xfrm>
          <a:prstGeom prst="ellipse">
            <a:avLst/>
          </a:prstGeom>
          <a:solidFill>
            <a:srgbClr val="1A2E45"/>
          </a:solidFill>
          <a:ln/>
        </p:spPr>
      </p:sp>
      <p:sp>
        <p:nvSpPr>
          <p:cNvPr id="5" name="Shape 3"/>
          <p:cNvSpPr/>
          <p:nvPr/>
        </p:nvSpPr>
        <p:spPr>
          <a:xfrm>
            <a:off x="6309360" y="822960"/>
            <a:ext cx="2560320" cy="256032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669280" y="182880"/>
            <a:ext cx="3840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365760" y="640080"/>
            <a:ext cx="2926080" cy="31089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400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DETAILED COST ANALYSIS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78992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Pricing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Cost Strategies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5760" y="26334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</a:rPr>
              <a:t>AWS Premium Tier  ·  All 3 Environments  ·  Pay-as-you-go → Committed pricing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4937760" cy="329184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3154680"/>
            <a:ext cx="73152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" y="315468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Per-environment breakdown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557016"/>
            <a:ext cx="4937760" cy="329184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3557016"/>
            <a:ext cx="73152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355701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3 cost scenarios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959352"/>
            <a:ext cx="4937760" cy="329184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959352"/>
            <a:ext cx="73152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395935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Optimization strategies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361688"/>
            <a:ext cx="4937760" cy="329184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4361688"/>
            <a:ext cx="73152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" y="436168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Current stack comparison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SMArT Platform Migration  ·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DBU Rates &amp; Per-Environment Cost Breakdown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8631936" cy="8229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9144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B4D8"/>
                </a:solidFill>
              </a:rPr>
              <a:t>DBU RATES  — AWS Premium Tier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1188720"/>
            <a:ext cx="2011680" cy="438912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1978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Databricks App (Medium)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138988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$0.275/hr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188720"/>
            <a:ext cx="2011680" cy="438912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1978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SQL Serverless Warehouse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60320" y="138988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$1.10/hr active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36592" y="1188720"/>
            <a:ext cx="2011680" cy="438912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4" name="Text 12"/>
          <p:cNvSpPr/>
          <p:nvPr/>
        </p:nvSpPr>
        <p:spPr>
          <a:xfrm>
            <a:off x="4736592" y="11978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1-yr commit discount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36592" y="138988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25–45% saving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12864" y="1188720"/>
            <a:ext cx="2011680" cy="438912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7" name="Text 15"/>
          <p:cNvSpPr/>
          <p:nvPr/>
        </p:nvSpPr>
        <p:spPr>
          <a:xfrm>
            <a:off x="6912864" y="11978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3-yr commit discount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912864" y="138988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40–55% saving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1810512"/>
            <a:ext cx="2798064" cy="3200400"/>
          </a:xfrm>
          <a:prstGeom prst="rect">
            <a:avLst/>
          </a:prstGeom>
          <a:solidFill>
            <a:srgbClr val="EEF5FB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1810512"/>
            <a:ext cx="2798064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Shape 19"/>
          <p:cNvSpPr/>
          <p:nvPr/>
        </p:nvSpPr>
        <p:spPr>
          <a:xfrm>
            <a:off x="256032" y="1883664"/>
            <a:ext cx="2798064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1883664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🛠  DEV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01752" y="2395728"/>
            <a:ext cx="2706624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4323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App (10 hrs/day × 22 days)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94560" y="243230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$60–$80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01752" y="2871216"/>
            <a:ext cx="2706624" cy="438912"/>
          </a:xfrm>
          <a:prstGeom prst="rect">
            <a:avLst/>
          </a:prstGeom>
          <a:solidFill>
            <a:srgbClr val="EEF5FB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2907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SQL Warehouse (~2 hrs/day)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94560" y="29077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$48–$60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01752" y="3346704"/>
            <a:ext cx="2706624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Delta Lake Storage (~10 GB)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94560" y="3383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$2–$5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01752" y="3822192"/>
            <a:ext cx="2706624" cy="438912"/>
          </a:xfrm>
          <a:prstGeom prst="rect">
            <a:avLst/>
          </a:prstGeom>
          <a:solidFill>
            <a:srgbClr val="EEF5FB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858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Unity Catalog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194560" y="38587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Included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56032" y="4297680"/>
            <a:ext cx="2798064" cy="40233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256032" y="4297680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TOTAL  ~$110–$145/mo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27832" y="1810512"/>
            <a:ext cx="2798064" cy="3200400"/>
          </a:xfrm>
          <a:prstGeom prst="rect">
            <a:avLst/>
          </a:prstGeom>
          <a:solidFill>
            <a:srgbClr val="EEF5FB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27832" y="1810512"/>
            <a:ext cx="2798064" cy="731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9" name="Shape 37"/>
          <p:cNvSpPr/>
          <p:nvPr/>
        </p:nvSpPr>
        <p:spPr>
          <a:xfrm>
            <a:off x="3227832" y="1883664"/>
            <a:ext cx="2798064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0" name="Text 38"/>
          <p:cNvSpPr/>
          <p:nvPr/>
        </p:nvSpPr>
        <p:spPr>
          <a:xfrm>
            <a:off x="3319272" y="1883664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</a:rPr>
              <a:t>🧪  STAGE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3273552" y="2395728"/>
            <a:ext cx="2706624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3337560" y="24323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App (8 hrs/day × 22 days)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66360" y="243230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$48–$65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73552" y="2871216"/>
            <a:ext cx="2706624" cy="438912"/>
          </a:xfrm>
          <a:prstGeom prst="rect">
            <a:avLst/>
          </a:prstGeom>
          <a:solidFill>
            <a:srgbClr val="EEF5FB"/>
          </a:solidFill>
          <a:ln/>
        </p:spPr>
      </p:sp>
      <p:sp>
        <p:nvSpPr>
          <p:cNvPr id="45" name="Text 43"/>
          <p:cNvSpPr/>
          <p:nvPr/>
        </p:nvSpPr>
        <p:spPr>
          <a:xfrm>
            <a:off x="3337560" y="2907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SQL Warehouse (~1 hr/day)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66360" y="29077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$24–$30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73552" y="3346704"/>
            <a:ext cx="2706624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333756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Delta Lake Storage (~10 GB)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66360" y="3383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$2–$5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73552" y="3822192"/>
            <a:ext cx="2706624" cy="438912"/>
          </a:xfrm>
          <a:prstGeom prst="rect">
            <a:avLst/>
          </a:prstGeom>
          <a:solidFill>
            <a:srgbClr val="EEF5FB"/>
          </a:solidFill>
          <a:ln/>
        </p:spPr>
      </p:sp>
      <p:sp>
        <p:nvSpPr>
          <p:cNvPr id="51" name="Text 49"/>
          <p:cNvSpPr/>
          <p:nvPr/>
        </p:nvSpPr>
        <p:spPr>
          <a:xfrm>
            <a:off x="3337560" y="3858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Unity Catalog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66360" y="38587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Included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27832" y="4297680"/>
            <a:ext cx="2798064" cy="40233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4" name="Text 52"/>
          <p:cNvSpPr/>
          <p:nvPr/>
        </p:nvSpPr>
        <p:spPr>
          <a:xfrm>
            <a:off x="3227832" y="4297680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TOTAL  ~$75–$100/mo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199632" y="1810512"/>
            <a:ext cx="2798064" cy="3200400"/>
          </a:xfrm>
          <a:prstGeom prst="rect">
            <a:avLst/>
          </a:prstGeom>
          <a:solidFill>
            <a:srgbClr val="EEF5FB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199632" y="1810512"/>
            <a:ext cx="2798064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7" name="Shape 55"/>
          <p:cNvSpPr/>
          <p:nvPr/>
        </p:nvSpPr>
        <p:spPr>
          <a:xfrm>
            <a:off x="6199632" y="1883664"/>
            <a:ext cx="2798064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8" name="Text 56"/>
          <p:cNvSpPr/>
          <p:nvPr/>
        </p:nvSpPr>
        <p:spPr>
          <a:xfrm>
            <a:off x="6291072" y="1883664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D6A0"/>
                </a:solidFill>
              </a:rPr>
              <a:t>🚀  PROD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6245352" y="2395728"/>
            <a:ext cx="2706624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6309360" y="24323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App (24/7 always-on)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138160" y="243230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$200–$270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245352" y="2871216"/>
            <a:ext cx="2706624" cy="438912"/>
          </a:xfrm>
          <a:prstGeom prst="rect">
            <a:avLst/>
          </a:prstGeom>
          <a:solidFill>
            <a:srgbClr val="EEF5FB"/>
          </a:solidFill>
          <a:ln/>
        </p:spPr>
      </p:sp>
      <p:sp>
        <p:nvSpPr>
          <p:cNvPr id="63" name="Text 61"/>
          <p:cNvSpPr/>
          <p:nvPr/>
        </p:nvSpPr>
        <p:spPr>
          <a:xfrm>
            <a:off x="6309360" y="2907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SQL Warehouse (~4 hrs/day)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138160" y="29077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$96–$120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245352" y="3346704"/>
            <a:ext cx="2706624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630936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Delta Lake Storage (50–100 GB)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138160" y="3383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$10–$25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245352" y="3822192"/>
            <a:ext cx="2706624" cy="438912"/>
          </a:xfrm>
          <a:prstGeom prst="rect">
            <a:avLst/>
          </a:prstGeom>
          <a:solidFill>
            <a:srgbClr val="EEF5FB"/>
          </a:solidFill>
          <a:ln/>
        </p:spPr>
      </p:sp>
      <p:sp>
        <p:nvSpPr>
          <p:cNvPr id="69" name="Text 67"/>
          <p:cNvSpPr/>
          <p:nvPr/>
        </p:nvSpPr>
        <p:spPr>
          <a:xfrm>
            <a:off x="6309360" y="3858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Unity Catalog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138160" y="38587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Included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199632" y="4297680"/>
            <a:ext cx="2798064" cy="40233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2" name="Text 70"/>
          <p:cNvSpPr/>
          <p:nvPr/>
        </p:nvSpPr>
        <p:spPr>
          <a:xfrm>
            <a:off x="6199632" y="4297680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TOTAL  ~$305–$415/mo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256032" y="4773168"/>
            <a:ext cx="8631936" cy="274320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74" name="Text 72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3B1"/>
                </a:solidFill>
              </a:rPr>
              <a:t>ℹ  App size: Medium (0.5 DBU/hr)  ·  DBU rate: $0.55 pay-as-you-go  ·  Region: AWS us-east-1  ·  Unity Catalog included at Premium tier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Total Cost Scenarios — All 3 Environments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56032" y="868680"/>
          <a:ext cx="50292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914400"/>
            <a:ext cx="3401568" cy="1170432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0" y="914400"/>
            <a:ext cx="91440" cy="1170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5650992" y="969264"/>
            <a:ext cx="3163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Conservative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50992" y="122529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~$490/mo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223760" y="12618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~$5,880/yr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50992" y="1773936"/>
            <a:ext cx="3163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3B1"/>
                </a:solidFill>
              </a:rPr>
              <a:t>Dev $110 · Stage $75 · Prod $305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0" y="2212848"/>
            <a:ext cx="3401568" cy="1170432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0" y="2212848"/>
            <a:ext cx="91440" cy="117043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4" name="Text 11"/>
          <p:cNvSpPr/>
          <p:nvPr/>
        </p:nvSpPr>
        <p:spPr>
          <a:xfrm>
            <a:off x="5650992" y="2267712"/>
            <a:ext cx="3163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Moderate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50992" y="252374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~$580/mo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223760" y="25603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~$6,960/yr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650992" y="3072384"/>
            <a:ext cx="3163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3B1"/>
                </a:solidFill>
              </a:rPr>
              <a:t>Dev $130 · Stage $90 · Prod $360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0" y="3511296"/>
            <a:ext cx="3401568" cy="1170432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0" y="3511296"/>
            <a:ext cx="91440" cy="1170432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0" name="Text 17"/>
          <p:cNvSpPr/>
          <p:nvPr/>
        </p:nvSpPr>
        <p:spPr>
          <a:xfrm>
            <a:off x="5650992" y="3566160"/>
            <a:ext cx="3163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</a:rPr>
              <a:t>High Usage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650992" y="382219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~$660/mo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223760" y="385876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76F"/>
                </a:solidFill>
              </a:rPr>
              <a:t>~$7,920/yr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650992" y="4370832"/>
            <a:ext cx="3163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3B1"/>
                </a:solidFill>
              </a:rPr>
              <a:t>Dev $145 · Stage $100 · Prod $415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56032" y="4434840"/>
            <a:ext cx="8631936" cy="594360"/>
          </a:xfrm>
          <a:prstGeom prst="rect">
            <a:avLst/>
          </a:prstGeom>
          <a:solidFill>
            <a:srgbClr val="0A2A1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56032" y="4434840"/>
            <a:ext cx="91440" cy="5943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6" name="Text 23"/>
          <p:cNvSpPr/>
          <p:nvPr/>
        </p:nvSpPr>
        <p:spPr>
          <a:xfrm>
            <a:off x="420624" y="44348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 xml:space="preserve">vs Current (Dataiku DSS):  </a:t>
            </a:r>
            <a:pPr indent="0" marL="0">
              <a:buNone/>
            </a:pPr>
            <a:r>
              <a:rPr lang="en-US" sz="1600" b="1" dirty="0">
                <a:solidFill>
                  <a:srgbClr val="EF476F"/>
                </a:solidFill>
              </a:rPr>
              <a:t xml:space="preserve">$30,900/yr  </a:t>
            </a:r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 xml:space="preserve">→  Databricks Conservative: </a:t>
            </a:r>
            <a:pPr indent="0" marL="0">
              <a:buNone/>
            </a:pPr>
            <a:r>
              <a:rPr lang="en-US" sz="1600" b="1" dirty="0">
                <a:solidFill>
                  <a:srgbClr val="06D6A0"/>
                </a:solidFill>
              </a:rPr>
              <a:t xml:space="preserve">$5,880/yr  </a:t>
            </a:r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 xml:space="preserve">= </a:t>
            </a:r>
            <a:pPr indent="0" marL="0">
              <a:buNone/>
            </a:pPr>
            <a:r>
              <a:rPr lang="en-US" sz="1600" b="1" dirty="0">
                <a:solidFill>
                  <a:srgbClr val="06D6A0"/>
                </a:solidFill>
              </a:rPr>
              <a:t>~81% saving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Cost Optimization Strategies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4315968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91440" cy="1207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1005840"/>
            <a:ext cx="329184" cy="3291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005840"/>
            <a:ext cx="932688" cy="274320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00584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40–60% on Dev/Stage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9536" y="1005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Stop Dev/Stage outside business hours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" y="1353312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Auto-shutdown after 30-min idle. Dev/Stage only run ~10 hrs/day instead of 24/7. Biggest single lever for non-prod environments.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2249424"/>
            <a:ext cx="4315968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249424"/>
            <a:ext cx="91440" cy="1207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912" y="2340864"/>
            <a:ext cx="329184" cy="3291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2340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2340864"/>
            <a:ext cx="932688" cy="274320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234086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25–45% across all envs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9536" y="23408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Committed DBU pricing (1yr or 3yr)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" y="2688336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1-year commit: ~$0.40–0.50/DBU vs $0.55 pay-as-you-go. 3-year commit: ~$0.30–0.40/DBU. Significant reduction once usage is proven stable.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3584448"/>
            <a:ext cx="4315968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584448"/>
            <a:ext cx="91440" cy="120700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3" name="Shape 21"/>
          <p:cNvSpPr/>
          <p:nvPr/>
        </p:nvSpPr>
        <p:spPr>
          <a:xfrm>
            <a:off x="438912" y="3675888"/>
            <a:ext cx="329184" cy="3291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66160" y="3675888"/>
            <a:ext cx="932688" cy="274320"/>
          </a:xfrm>
          <a:prstGeom prst="rect">
            <a:avLst/>
          </a:prstGeom>
          <a:solidFill>
            <a:srgbClr val="06D6A0">
              <a:alpha val="7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367588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50% on App compute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9536" y="36758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Small app size instead of Medium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0624" y="4023360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Downsize from Medium (0.5 DBU/hr) to Small (0.25 DBU/hr) for Dev/Stage. Halves App compute cost if performance is sufficient for non-prod workloads.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28032" y="914400"/>
            <a:ext cx="4315968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28032" y="914400"/>
            <a:ext cx="91440" cy="120700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31" name="Shape 29"/>
          <p:cNvSpPr/>
          <p:nvPr/>
        </p:nvSpPr>
        <p:spPr>
          <a:xfrm>
            <a:off x="5010912" y="1005840"/>
            <a:ext cx="329184" cy="329184"/>
          </a:xfrm>
          <a:prstGeom prst="ellipse">
            <a:avLst/>
          </a:prstGeom>
          <a:solidFill>
            <a:srgbClr val="9B5DE5"/>
          </a:solidFill>
          <a:ln/>
        </p:spPr>
      </p:sp>
      <p:sp>
        <p:nvSpPr>
          <p:cNvPr id="32" name="Text 30"/>
          <p:cNvSpPr/>
          <p:nvPr/>
        </p:nvSpPr>
        <p:spPr>
          <a:xfrm>
            <a:off x="5010912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38160" y="1005840"/>
            <a:ext cx="932688" cy="274320"/>
          </a:xfrm>
          <a:prstGeom prst="rect">
            <a:avLst/>
          </a:prstGeom>
          <a:solidFill>
            <a:srgbClr val="9B5DE5">
              <a:alpha val="7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138160" y="100584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Pay only for queries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31536" y="1005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Serverless SQL auto-suspend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92624" y="1353312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Serverless Warehouse behaviour — billing stops immediately when idle. No minimum charge. Combine with query result caching to reduce active hours.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28032" y="2249424"/>
            <a:ext cx="4315968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28032" y="2249424"/>
            <a:ext cx="91440" cy="1207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9" name="Shape 37"/>
          <p:cNvSpPr/>
          <p:nvPr/>
        </p:nvSpPr>
        <p:spPr>
          <a:xfrm>
            <a:off x="5010912" y="2340864"/>
            <a:ext cx="329184" cy="3291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0" name="Text 38"/>
          <p:cNvSpPr/>
          <p:nvPr/>
        </p:nvSpPr>
        <p:spPr>
          <a:xfrm>
            <a:off x="5010912" y="2340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38160" y="2340864"/>
            <a:ext cx="932688" cy="274320"/>
          </a:xfrm>
          <a:prstGeom prst="rect">
            <a:avLst/>
          </a:prstGeom>
          <a:solidFill>
            <a:srgbClr val="FF6B35">
              <a:alpha val="7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138160" y="234086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Reduce workspace overhead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31536" y="23408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Dev/Stage share a single workspace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92624" y="2688336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Schema-based isolation within one workspace eliminates duplicate workspace overhead. Unity Catalog RBAC enforces access control between schemas.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" y="4663440"/>
            <a:ext cx="8631936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6" name="Shape 44"/>
          <p:cNvSpPr/>
          <p:nvPr/>
        </p:nvSpPr>
        <p:spPr>
          <a:xfrm>
            <a:off x="256032" y="4663440"/>
            <a:ext cx="91440" cy="38404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7" name="Text 45"/>
          <p:cNvSpPr/>
          <p:nvPr/>
        </p:nvSpPr>
        <p:spPr>
          <a:xfrm>
            <a:off x="420624" y="466344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 xml:space="preserve">Optimised (off-hours + 1yr commit): </a:t>
            </a:r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</a:rPr>
              <a:t xml:space="preserve">~$350/mo  (~$4,200/yr)  </a:t>
            </a:r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 xml:space="preserve">   |   Off-hours + 3yr commit: 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~$280/mo  (~$3,360/yr)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Stack Comparison: Current vs Databricks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0" y="896112"/>
            <a:ext cx="3017520" cy="347472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0" y="8961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CURRENT  — Dataiku + Snowflake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23560" y="896112"/>
            <a:ext cx="3264408" cy="34747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Text 6"/>
          <p:cNvSpPr/>
          <p:nvPr/>
        </p:nvSpPr>
        <p:spPr>
          <a:xfrm>
            <a:off x="5623560" y="896112"/>
            <a:ext cx="3264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PROPOSED  — Databricks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335024"/>
            <a:ext cx="8631936" cy="420624"/>
          </a:xfrm>
          <a:prstGeom prst="rect">
            <a:avLst/>
          </a:prstGeom>
          <a:solidFill>
            <a:srgbClr val="EEF5FB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" y="13350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3350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Platform License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3350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Dataiku license (significant fixed cost)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68112" y="13350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87568" y="13350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</a:rPr>
              <a:t>Included in DBU consumption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1792224"/>
            <a:ext cx="8631936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56032" y="17922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17922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Compute Model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14600" y="17922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Dataiku infrastructure (fixed)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68112" y="17922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87568" y="17922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</a:rPr>
              <a:t>Serverless — pay-per-use only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2249424"/>
            <a:ext cx="8631936" cy="420624"/>
          </a:xfrm>
          <a:prstGeom prst="rect">
            <a:avLst/>
          </a:prstGeom>
          <a:solidFill>
            <a:srgbClr val="EEF5FB"/>
          </a:solidFill>
          <a:ln/>
        </p:spPr>
      </p:sp>
      <p:sp>
        <p:nvSpPr>
          <p:cNvPr id="22" name="Shape 20"/>
          <p:cNvSpPr/>
          <p:nvPr/>
        </p:nvSpPr>
        <p:spPr>
          <a:xfrm>
            <a:off x="256032" y="22494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2494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Database Cost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14600" y="22494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Snowflake — separate license + compute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68112" y="22494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87568" y="22494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</a:rPr>
              <a:t>Delta Lake — S3 storage at $0.023/GB/mo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" y="2706624"/>
            <a:ext cx="8631936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56032" y="27066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27066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App Hosting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14600" y="27066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Dataiku webapp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68112" y="27066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87568" y="27066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Databricks Apps (0.5 DBU/hr)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3163824"/>
            <a:ext cx="8631936" cy="420624"/>
          </a:xfrm>
          <a:prstGeom prst="rect">
            <a:avLst/>
          </a:prstGeom>
          <a:solidFill>
            <a:srgbClr val="EEF5FB"/>
          </a:solidFill>
          <a:ln/>
        </p:spPr>
      </p:sp>
      <p:sp>
        <p:nvSpPr>
          <p:cNvPr id="34" name="Shape 32"/>
          <p:cNvSpPr/>
          <p:nvPr/>
        </p:nvSpPr>
        <p:spPr>
          <a:xfrm>
            <a:off x="256032" y="31638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31638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Data Governance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14600" y="31638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Manual / limited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68112" y="31638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87568" y="31638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</a:rPr>
              <a:t>Unity Catalog — included with Premium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6032" y="3621024"/>
            <a:ext cx="8631936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256032" y="36210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" y="36210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CI/CD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14600" y="36210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Custom setup required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468112" y="36210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687568" y="36210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</a:rPr>
              <a:t>Databricks Asset Bundles (DABs) native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" y="4078224"/>
            <a:ext cx="8631936" cy="420624"/>
          </a:xfrm>
          <a:prstGeom prst="rect">
            <a:avLst/>
          </a:prstGeom>
          <a:solidFill>
            <a:srgbClr val="EEF5FB"/>
          </a:solidFill>
          <a:ln/>
        </p:spPr>
      </p:sp>
      <p:sp>
        <p:nvSpPr>
          <p:cNvPr id="46" name="Shape 44"/>
          <p:cNvSpPr/>
          <p:nvPr/>
        </p:nvSpPr>
        <p:spPr>
          <a:xfrm>
            <a:off x="256032" y="40782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47" name="Text 45"/>
          <p:cNvSpPr/>
          <p:nvPr/>
        </p:nvSpPr>
        <p:spPr>
          <a:xfrm>
            <a:off x="320040" y="40782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Dev/Stage Cost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514600" y="40782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Fixed (same as prod license cost)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468112" y="40782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687568" y="40782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</a:rPr>
              <a:t>Usage-based — auto-shutdown saves 40–60%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56032" y="4535424"/>
            <a:ext cx="8631936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256032" y="45354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53" name="Text 51"/>
          <p:cNvSpPr/>
          <p:nvPr/>
        </p:nvSpPr>
        <p:spPr>
          <a:xfrm>
            <a:off x="320040" y="45354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Annual Total (est.)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514600" y="45354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</a:rPr>
              <a:t>$30,900/yr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68112" y="45354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687568" y="45354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$4,200–$5,880/yr (optimised–conservative)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56032" y="5010912"/>
            <a:ext cx="8631936" cy="54864"/>
          </a:xfrm>
          <a:prstGeom prst="rect">
            <a:avLst/>
          </a:prstGeom>
          <a:solidFill>
            <a:srgbClr val="06D6A0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Recommended Cost Strategy &amp; Savings Roadmap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2084832" cy="4023360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960120"/>
            <a:ext cx="2084832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1078992"/>
            <a:ext cx="1901952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078992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Day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Go-Live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160020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Pay-as-you-go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+ Auto-shutdown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103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~$350/mo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" y="2487168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~$4,200/yr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" y="2798064"/>
            <a:ext cx="1444752" cy="237744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279806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86% vs DSS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127248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3127248"/>
            <a:ext cx="54864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12724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DE6"/>
                </a:solidFill>
              </a:rPr>
              <a:t>Medium app (0.5 DBU/hr) all envs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3547872"/>
            <a:ext cx="54864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54787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DE6"/>
                </a:solidFill>
              </a:rPr>
              <a:t>Dev/Stage off-hours auto-shutdown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968496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968496"/>
            <a:ext cx="54864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96849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DE6"/>
                </a:solidFill>
              </a:rPr>
              <a:t>Serverless SQL, no idle cost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4389120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4389120"/>
            <a:ext cx="54864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3891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DE6"/>
                </a:solidFill>
              </a:rPr>
              <a:t>Unity Catalog included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0" y="2231136"/>
            <a:ext cx="146304" cy="54864"/>
          </a:xfrm>
          <a:prstGeom prst="rect">
            <a:avLst/>
          </a:prstGeom>
          <a:solidFill>
            <a:srgbClr val="8FA3B1"/>
          </a:solidFill>
          <a:ln/>
        </p:spPr>
      </p:sp>
      <p:sp>
        <p:nvSpPr>
          <p:cNvPr id="27" name="Shape 25"/>
          <p:cNvSpPr/>
          <p:nvPr/>
        </p:nvSpPr>
        <p:spPr>
          <a:xfrm>
            <a:off x="2432304" y="960120"/>
            <a:ext cx="2084832" cy="4023360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432304" y="960120"/>
            <a:ext cx="2084832" cy="731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9" name="Shape 27"/>
          <p:cNvSpPr/>
          <p:nvPr/>
        </p:nvSpPr>
        <p:spPr>
          <a:xfrm>
            <a:off x="2523744" y="1078992"/>
            <a:ext cx="1901952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Text 28"/>
          <p:cNvSpPr/>
          <p:nvPr/>
        </p:nvSpPr>
        <p:spPr>
          <a:xfrm>
            <a:off x="2523744" y="1078992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Year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Review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23744" y="160020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1-Year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Commit (CUD)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05456" y="2103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~$230/mo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505456" y="2487168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~$2,760/yr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52344" y="2798064"/>
            <a:ext cx="1444752" cy="237744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2752344" y="279806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91% vs DSS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05456" y="3127248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7" name="Shape 35"/>
          <p:cNvSpPr/>
          <p:nvPr/>
        </p:nvSpPr>
        <p:spPr>
          <a:xfrm>
            <a:off x="2505456" y="3127248"/>
            <a:ext cx="54864" cy="36576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8" name="Text 36"/>
          <p:cNvSpPr/>
          <p:nvPr/>
        </p:nvSpPr>
        <p:spPr>
          <a:xfrm>
            <a:off x="2596896" y="312724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DE6"/>
                </a:solidFill>
              </a:rPr>
              <a:t>Apply 1yr commit after usage proven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505456" y="3547872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0" name="Shape 38"/>
          <p:cNvSpPr/>
          <p:nvPr/>
        </p:nvSpPr>
        <p:spPr>
          <a:xfrm>
            <a:off x="2505456" y="3547872"/>
            <a:ext cx="54864" cy="36576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1" name="Text 39"/>
          <p:cNvSpPr/>
          <p:nvPr/>
        </p:nvSpPr>
        <p:spPr>
          <a:xfrm>
            <a:off x="2596896" y="354787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DE6"/>
                </a:solidFill>
              </a:rPr>
              <a:t>Rate drops to ~$0.40–0.50/DBU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05456" y="3968496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3" name="Shape 41"/>
          <p:cNvSpPr/>
          <p:nvPr/>
        </p:nvSpPr>
        <p:spPr>
          <a:xfrm>
            <a:off x="2505456" y="3968496"/>
            <a:ext cx="54864" cy="36576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4" name="Text 42"/>
          <p:cNvSpPr/>
          <p:nvPr/>
        </p:nvSpPr>
        <p:spPr>
          <a:xfrm>
            <a:off x="2596896" y="396849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DE6"/>
                </a:solidFill>
              </a:rPr>
              <a:t>Review app sizing (Small vs Medium)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505456" y="4389120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6" name="Shape 44"/>
          <p:cNvSpPr/>
          <p:nvPr/>
        </p:nvSpPr>
        <p:spPr>
          <a:xfrm>
            <a:off x="2505456" y="4389120"/>
            <a:ext cx="54864" cy="36576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7" name="Text 45"/>
          <p:cNvSpPr/>
          <p:nvPr/>
        </p:nvSpPr>
        <p:spPr>
          <a:xfrm>
            <a:off x="2596896" y="43891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DE6"/>
                </a:solidFill>
              </a:rPr>
              <a:t>~25–45% further reduction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517136" y="2231136"/>
            <a:ext cx="146304" cy="54864"/>
          </a:xfrm>
          <a:prstGeom prst="rect">
            <a:avLst/>
          </a:prstGeom>
          <a:solidFill>
            <a:srgbClr val="8FA3B1"/>
          </a:solidFill>
          <a:ln/>
        </p:spPr>
      </p:sp>
      <p:sp>
        <p:nvSpPr>
          <p:cNvPr id="49" name="Shape 47"/>
          <p:cNvSpPr/>
          <p:nvPr/>
        </p:nvSpPr>
        <p:spPr>
          <a:xfrm>
            <a:off x="4663440" y="960120"/>
            <a:ext cx="2084832" cy="4023360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0" y="960120"/>
            <a:ext cx="2084832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1" name="Shape 49"/>
          <p:cNvSpPr/>
          <p:nvPr/>
        </p:nvSpPr>
        <p:spPr>
          <a:xfrm>
            <a:off x="4754880" y="1078992"/>
            <a:ext cx="1901952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2" name="Text 50"/>
          <p:cNvSpPr/>
          <p:nvPr/>
        </p:nvSpPr>
        <p:spPr>
          <a:xfrm>
            <a:off x="4754880" y="1078992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Year 2+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Optimised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754880" y="160020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Small App Size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+ 1yr CUD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736592" y="2103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~$180/mo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4736592" y="2487168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~$2,160/yr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983480" y="2798064"/>
            <a:ext cx="1444752" cy="237744"/>
          </a:xfrm>
          <a:prstGeom prst="rect">
            <a:avLst/>
          </a:prstGeom>
          <a:solidFill>
            <a:srgbClr val="06D6A0">
              <a:alpha val="75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983480" y="279806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93% vs DSS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36592" y="3127248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9" name="Shape 57"/>
          <p:cNvSpPr/>
          <p:nvPr/>
        </p:nvSpPr>
        <p:spPr>
          <a:xfrm>
            <a:off x="4736592" y="3127248"/>
            <a:ext cx="54864" cy="3657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60" name="Text 58"/>
          <p:cNvSpPr/>
          <p:nvPr/>
        </p:nvSpPr>
        <p:spPr>
          <a:xfrm>
            <a:off x="4828032" y="312724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DE6"/>
                </a:solidFill>
              </a:rPr>
              <a:t>Downsize Dev/Stage to Small (0.25 DBU)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736592" y="3547872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2" name="Shape 60"/>
          <p:cNvSpPr/>
          <p:nvPr/>
        </p:nvSpPr>
        <p:spPr>
          <a:xfrm>
            <a:off x="4736592" y="3547872"/>
            <a:ext cx="54864" cy="3657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63" name="Text 61"/>
          <p:cNvSpPr/>
          <p:nvPr/>
        </p:nvSpPr>
        <p:spPr>
          <a:xfrm>
            <a:off x="4828032" y="354787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DE6"/>
                </a:solidFill>
              </a:rPr>
              <a:t>Prod stays Medium if load requires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736592" y="3968496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5" name="Shape 63"/>
          <p:cNvSpPr/>
          <p:nvPr/>
        </p:nvSpPr>
        <p:spPr>
          <a:xfrm>
            <a:off x="4736592" y="3968496"/>
            <a:ext cx="54864" cy="3657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66" name="Text 64"/>
          <p:cNvSpPr/>
          <p:nvPr/>
        </p:nvSpPr>
        <p:spPr>
          <a:xfrm>
            <a:off x="4828032" y="396849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DE6"/>
                </a:solidFill>
              </a:rPr>
              <a:t>Further 50% App compute reduction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736592" y="4389120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8" name="Shape 66"/>
          <p:cNvSpPr/>
          <p:nvPr/>
        </p:nvSpPr>
        <p:spPr>
          <a:xfrm>
            <a:off x="4736592" y="4389120"/>
            <a:ext cx="54864" cy="3657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69" name="Text 67"/>
          <p:cNvSpPr/>
          <p:nvPr/>
        </p:nvSpPr>
        <p:spPr>
          <a:xfrm>
            <a:off x="4828032" y="43891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DE6"/>
                </a:solidFill>
              </a:rPr>
              <a:t>Dev/Stage share single workspace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748272" y="2231136"/>
            <a:ext cx="146304" cy="54864"/>
          </a:xfrm>
          <a:prstGeom prst="rect">
            <a:avLst/>
          </a:prstGeom>
          <a:solidFill>
            <a:srgbClr val="8FA3B1"/>
          </a:solidFill>
          <a:ln/>
        </p:spPr>
      </p:sp>
      <p:sp>
        <p:nvSpPr>
          <p:cNvPr id="71" name="Shape 69"/>
          <p:cNvSpPr/>
          <p:nvPr/>
        </p:nvSpPr>
        <p:spPr>
          <a:xfrm>
            <a:off x="6894576" y="960120"/>
            <a:ext cx="2084832" cy="4023360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894576" y="960120"/>
            <a:ext cx="2084832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3" name="Shape 71"/>
          <p:cNvSpPr/>
          <p:nvPr/>
        </p:nvSpPr>
        <p:spPr>
          <a:xfrm>
            <a:off x="6986016" y="1078992"/>
            <a:ext cx="1901952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4" name="Text 72"/>
          <p:cNvSpPr/>
          <p:nvPr/>
        </p:nvSpPr>
        <p:spPr>
          <a:xfrm>
            <a:off x="6986016" y="1078992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Year 3+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Full Optimised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986016" y="160020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3-Year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Commit (CUD)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967728" y="2103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~$140/mo</a:t>
            </a:r>
            <a:endParaRPr lang="en-US" sz="2000" dirty="0"/>
          </a:p>
        </p:txBody>
      </p:sp>
      <p:sp>
        <p:nvSpPr>
          <p:cNvPr id="77" name="Text 75"/>
          <p:cNvSpPr/>
          <p:nvPr/>
        </p:nvSpPr>
        <p:spPr>
          <a:xfrm>
            <a:off x="6967728" y="2487168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~$1,680/yr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214616" y="2798064"/>
            <a:ext cx="1444752" cy="237744"/>
          </a:xfrm>
          <a:prstGeom prst="rect">
            <a:avLst/>
          </a:prstGeom>
          <a:solidFill>
            <a:srgbClr val="06D6A0">
              <a:alpha val="75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7214616" y="279806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95% vs DSS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967728" y="3127248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1" name="Shape 79"/>
          <p:cNvSpPr/>
          <p:nvPr/>
        </p:nvSpPr>
        <p:spPr>
          <a:xfrm>
            <a:off x="6967728" y="3127248"/>
            <a:ext cx="54864" cy="3657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2" name="Text 80"/>
          <p:cNvSpPr/>
          <p:nvPr/>
        </p:nvSpPr>
        <p:spPr>
          <a:xfrm>
            <a:off x="7059168" y="312724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DE6"/>
                </a:solidFill>
              </a:rPr>
              <a:t>3yr commit: ~$0.30–0.40/DBU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6967728" y="3547872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4" name="Shape 82"/>
          <p:cNvSpPr/>
          <p:nvPr/>
        </p:nvSpPr>
        <p:spPr>
          <a:xfrm>
            <a:off x="6967728" y="3547872"/>
            <a:ext cx="54864" cy="3657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5" name="Text 83"/>
          <p:cNvSpPr/>
          <p:nvPr/>
        </p:nvSpPr>
        <p:spPr>
          <a:xfrm>
            <a:off x="7059168" y="354787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DE6"/>
                </a:solidFill>
              </a:rPr>
              <a:t>Lowest possible unit cost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967728" y="3968496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7" name="Shape 85"/>
          <p:cNvSpPr/>
          <p:nvPr/>
        </p:nvSpPr>
        <p:spPr>
          <a:xfrm>
            <a:off x="6967728" y="3968496"/>
            <a:ext cx="54864" cy="3657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8" name="Text 86"/>
          <p:cNvSpPr/>
          <p:nvPr/>
        </p:nvSpPr>
        <p:spPr>
          <a:xfrm>
            <a:off x="7059168" y="396849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DE6"/>
                </a:solidFill>
              </a:rPr>
              <a:t>Full AI stack (Genie, MLflow) included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967728" y="4389120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0" name="Shape 88"/>
          <p:cNvSpPr/>
          <p:nvPr/>
        </p:nvSpPr>
        <p:spPr>
          <a:xfrm>
            <a:off x="6967728" y="4389120"/>
            <a:ext cx="54864" cy="3657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91" name="Text 89"/>
          <p:cNvSpPr/>
          <p:nvPr/>
        </p:nvSpPr>
        <p:spPr>
          <a:xfrm>
            <a:off x="7059168" y="43891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DE6"/>
                </a:solidFill>
              </a:rPr>
              <a:t>Cost well below any alternative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201168" y="5074920"/>
            <a:ext cx="8741664" cy="59436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Platform Migration – Dataiku to Databricks</dc:title>
  <dc:subject>PptxGenJS Presentation</dc:subject>
  <dc:creator>PptxGenJS</dc:creator>
  <cp:lastModifiedBy>PptxGenJS</cp:lastModifiedBy>
  <cp:revision>1</cp:revision>
  <dcterms:created xsi:type="dcterms:W3CDTF">2026-06-02T20:27:30Z</dcterms:created>
  <dcterms:modified xsi:type="dcterms:W3CDTF">2026-06-02T20:27:30Z</dcterms:modified>
</cp:coreProperties>
</file>